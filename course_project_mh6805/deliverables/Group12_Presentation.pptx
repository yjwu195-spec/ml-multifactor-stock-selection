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c421588b1774444" /><Relationship Type="http://schemas.openxmlformats.org/officeDocument/2006/relationships/extended-properties" Target="/docProps/app.xml" Id="Rc96f14a030c64db2" /><Relationship Type="http://schemas.openxmlformats.org/officeDocument/2006/relationships/officeDocument" Target="/ppt/presentation.xml" Id="R995b000fd0b24f7f" /></Relationships>
</file>

<file path=ppt/presentation.xml><?xml version="1.0" encoding="utf-8"?>
<p:presentation xmlns:p="http://schemas.openxmlformats.org/presentationml/2006/main">
  <p:sldMasterIdLst>
    <p:sldMasterId xmlns:r="http://schemas.openxmlformats.org/officeDocument/2006/relationships" id="2147483648" r:id="Rd55d8c40898b4508"/>
  </p:sldMasterIdLst>
  <p:notesMasterIdLst>
    <p:notesMasterId xmlns:r="http://schemas.openxmlformats.org/officeDocument/2006/relationships" r:id="R9974d406c6d44d21"/>
  </p:notesMasterIdLst>
  <p:sldIdLst>
    <p:sldId xmlns:r="http://schemas.openxmlformats.org/officeDocument/2006/relationships" id="256" r:id="Rdd363f71a362496a"/>
    <p:sldId xmlns:r="http://schemas.openxmlformats.org/officeDocument/2006/relationships" id="257" r:id="R314060a551754bc0"/>
    <p:sldId xmlns:r="http://schemas.openxmlformats.org/officeDocument/2006/relationships" id="258" r:id="R1eb7a0b91fe64fcb"/>
    <p:sldId xmlns:r="http://schemas.openxmlformats.org/officeDocument/2006/relationships" id="259" r:id="Rc4614eb5b2bb4c25"/>
    <p:sldId xmlns:r="http://schemas.openxmlformats.org/officeDocument/2006/relationships" id="260" r:id="Rbe5331a4152c4b57"/>
    <p:sldId xmlns:r="http://schemas.openxmlformats.org/officeDocument/2006/relationships" id="261" r:id="Re3061ff4773044d3"/>
    <p:sldId xmlns:r="http://schemas.openxmlformats.org/officeDocument/2006/relationships" id="262" r:id="R6fffce55b2a44286"/>
    <p:sldId xmlns:r="http://schemas.openxmlformats.org/officeDocument/2006/relationships" id="263" r:id="R581dfd3e3ae84844"/>
    <p:sldId xmlns:r="http://schemas.openxmlformats.org/officeDocument/2006/relationships" id="264" r:id="R70e41bf249df4a61"/>
    <p:sldId xmlns:r="http://schemas.openxmlformats.org/officeDocument/2006/relationships" id="265" r:id="R50201002aaa34ba2"/>
    <p:sldId xmlns:r="http://schemas.openxmlformats.org/officeDocument/2006/relationships" id="266" r:id="R4ca6a2736afd4900"/>
    <p:sldId xmlns:r="http://schemas.openxmlformats.org/officeDocument/2006/relationships" id="267" r:id="R3dfebee832284097"/>
    <p:sldId xmlns:r="http://schemas.openxmlformats.org/officeDocument/2006/relationships" id="268" r:id="R632d6b5b0b3a4d02"/>
    <p:sldId xmlns:r="http://schemas.openxmlformats.org/officeDocument/2006/relationships" id="269" r:id="R9699b584694f44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ce138312344776" /><Relationship Type="http://schemas.openxmlformats.org/officeDocument/2006/relationships/slideMaster" Target="/ppt/slideMasters/slideMaster1.xml" Id="Rd55d8c40898b4508" /><Relationship Type="http://schemas.openxmlformats.org/officeDocument/2006/relationships/notesMaster" Target="/ppt/notesMasters/notesMaster1.xml" Id="R9974d406c6d44d21" /><Relationship Type="http://schemas.openxmlformats.org/officeDocument/2006/relationships/presProps" Target="/ppt/presProps.xml" Id="R192137827dc247ca" /><Relationship Type="http://schemas.openxmlformats.org/officeDocument/2006/relationships/tableStyles" Target="/ppt/tableStyles.xml" Id="R1d8c917180574e4a" /><Relationship Type="http://schemas.openxmlformats.org/officeDocument/2006/relationships/slide" Target="/ppt/slides/slide1.xml" Id="Rdd363f71a362496a" /><Relationship Type="http://schemas.openxmlformats.org/officeDocument/2006/relationships/slide" Target="/ppt/slides/slide2.xml" Id="R314060a551754bc0" /><Relationship Type="http://schemas.openxmlformats.org/officeDocument/2006/relationships/slide" Target="/ppt/slides/slide3.xml" Id="R1eb7a0b91fe64fcb" /><Relationship Type="http://schemas.openxmlformats.org/officeDocument/2006/relationships/slide" Target="/ppt/slides/slide4.xml" Id="Rc4614eb5b2bb4c25" /><Relationship Type="http://schemas.openxmlformats.org/officeDocument/2006/relationships/slide" Target="/ppt/slides/slide5.xml" Id="Rbe5331a4152c4b57" /><Relationship Type="http://schemas.openxmlformats.org/officeDocument/2006/relationships/slide" Target="/ppt/slides/slide6.xml" Id="Re3061ff4773044d3" /><Relationship Type="http://schemas.openxmlformats.org/officeDocument/2006/relationships/slide" Target="/ppt/slides/slide7.xml" Id="R6fffce55b2a44286" /><Relationship Type="http://schemas.openxmlformats.org/officeDocument/2006/relationships/slide" Target="/ppt/slides/slide8.xml" Id="R581dfd3e3ae84844" /><Relationship Type="http://schemas.openxmlformats.org/officeDocument/2006/relationships/slide" Target="/ppt/slides/slide9.xml" Id="R70e41bf249df4a61" /><Relationship Type="http://schemas.openxmlformats.org/officeDocument/2006/relationships/slide" Target="/ppt/slides/slide10.xml" Id="R50201002aaa34ba2" /><Relationship Type="http://schemas.openxmlformats.org/officeDocument/2006/relationships/slide" Target="/ppt/slides/slide11.xml" Id="R4ca6a2736afd4900" /><Relationship Type="http://schemas.openxmlformats.org/officeDocument/2006/relationships/slide" Target="/ppt/slides/slide12.xml" Id="R3dfebee832284097" /><Relationship Type="http://schemas.openxmlformats.org/officeDocument/2006/relationships/slide" Target="/ppt/slides/slide13.xml" Id="R632d6b5b0b3a4d02" /><Relationship Type="http://schemas.openxmlformats.org/officeDocument/2006/relationships/slide" Target="/ppt/slides/slide14.xml" Id="R9699b584694f44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943ba0a3ee46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d1ebb20e88444b" /><Relationship Type="http://schemas.openxmlformats.org/officeDocument/2006/relationships/notesMaster" Target="/ppt/notesMasters/notesMaster1.xml" Id="Ra2b9a4816f3d44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8e0e977c84472b" /><Relationship Type="http://schemas.openxmlformats.org/officeDocument/2006/relationships/notesMaster" Target="/ppt/notesMasters/notesMaster1.xml" Id="R5a25ab0cf73240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e16a31270c4130" /><Relationship Type="http://schemas.openxmlformats.org/officeDocument/2006/relationships/notesMaster" Target="/ppt/notesMasters/notesMaster1.xml" Id="R9bc4768118564d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cb22fa8cab4c81" /><Relationship Type="http://schemas.openxmlformats.org/officeDocument/2006/relationships/notesMaster" Target="/ppt/notesMasters/notesMaster1.xml" Id="Re7a0459829e748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b1fa088cf34bcb" /><Relationship Type="http://schemas.openxmlformats.org/officeDocument/2006/relationships/notesMaster" Target="/ppt/notesMasters/notesMaster1.xml" Id="Rdb859929d66d4a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0cd4995d2b4219" /><Relationship Type="http://schemas.openxmlformats.org/officeDocument/2006/relationships/notesMaster" Target="/ppt/notesMasters/notesMaster1.xml" Id="R2b8e9503cda945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6a294c792f4075" /><Relationship Type="http://schemas.openxmlformats.org/officeDocument/2006/relationships/notesMaster" Target="/ppt/notesMasters/notesMaster1.xml" Id="Raebe87bcee2b4d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16424a516d439c" /><Relationship Type="http://schemas.openxmlformats.org/officeDocument/2006/relationships/notesMaster" Target="/ppt/notesMasters/notesMaster1.xml" Id="R1aba1dc384874e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c9a0671f9f4e96" /><Relationship Type="http://schemas.openxmlformats.org/officeDocument/2006/relationships/notesMaster" Target="/ppt/notesMasters/notesMaster1.xml" Id="R4eb03e6ba4ec42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2a6c67f720471a" /><Relationship Type="http://schemas.openxmlformats.org/officeDocument/2006/relationships/notesMaster" Target="/ppt/notesMasters/notesMaster1.xml" Id="R35130c4d46fb42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22b13b597946b4" /><Relationship Type="http://schemas.openxmlformats.org/officeDocument/2006/relationships/notesMaster" Target="/ppt/notesMasters/notesMaster1.xml" Id="Rb060b91b3ed544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68baef23ee411a" /><Relationship Type="http://schemas.openxmlformats.org/officeDocument/2006/relationships/notesMaster" Target="/ppt/notesMasters/notesMaster1.xml" Id="R6728ea9d09084e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9637c101134ca6" /><Relationship Type="http://schemas.openxmlformats.org/officeDocument/2006/relationships/notesMaster" Target="/ppt/notesMasters/notesMaster1.xml" Id="R456a85e9c1aa47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9f28c6aba745b9" /><Relationship Type="http://schemas.openxmlformats.org/officeDocument/2006/relationships/notesMaster" Target="/ppt/notesMasters/notesMaster1.xml" Id="R0662c4e097014e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test of nonlinear ranking rather than a promise of investment profit. Wu Yangjie, Zhao Jingjie and Wang Zhaobo contributed equally. Data source: Tushare Pro, https://tushare.pro/document/2.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we compare linear versus nonlinear prediction, complementary information families, and economic performance after costs. Methods references: Breiman 2001; Chen and Guestrin 2016 https://arxiv.org/abs/1603.02754; Ke et al. 2017 https://papers.nips.cc/paper/6907-lightgbm-a-highly-efficient-gradient-boosting-decision-tree.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sample: 2010-01-04 to 2025-04-30. Sources: daily https://tushare.pro/document/2?doc_id=27; daily_basic doc_id=32; fina_indicator doc_id=79; balancesheet doc_id=78; trade_cal doc_id=26; index_weight doc_id=96. The actual announcement date, not period end, governs availability. Financial vintage limitations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dates 2010-05-05 through 2017-09-26, validation 2017-10-31 through 2019-03-25, test 2019-04-23 through 2020-09-11 and later backtest 2020-10-19 through 2025-04-01 signal dates. Execution dates are one exchange session later. Purge training labels that are not known before the next evaluation signal. All preprocessing is fitted within each training fold.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candidate settings per model and three chronological CV folds; minimum mean log loss selects parameters with independent validation loss as tie-break. Saved selected_parameters.json gives exact settings. We activate LightGBM subsample_freq=1. A finite search is not a global optimum.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apply to top/bottom 30% return labels, not all stocks. Test Rank IC uses the full eligible cross-section with observable forward returns. Classification scores are not calibrated unconditional probabilities of beating CSI 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 1 contains the lowest scores, group 10 the highest. Every model uses the same stock-date universe. All decile ledgers pay 10 bps one-way turnover costs. Smooth ranking, not perfect monotonicity, is the relevant diagnostic. Source: results/decile_metrics.csv.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long-only portfolios trade the Top 10 at the next session open. Daily open marks include transaction costs and actual weight drift. For readability this slide plots monthly sampled points from the daily curve; all daily observations are supplied in CSV and in the report figure. The benchmark uses the same dates. Suspension valuation uses the last observed opening quote. Source: results/daily_nav.csv.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common portfolio window runs from 2020-10-20 to 2025-04-30 using daily opening marks. Main portfolio: equal-value Top 10, 10 bps per absolute traded notional, no substitute purchase when an opening order is unavailable. Sharpe uses zero risk-free rate. These results are newly computed, not the earlier biased archived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cost levels were fixed before evaluating portfolios: zero, five, ten and twenty basis points per one-way traded notional. The curves are descriptive robustness checks, not parameter selection criteria. Source: results/cost_sensitivity.csv.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model is refit with the selected full-factor hyperparameters, using identical training samples and test dates. The test set is used for interpretation, not choosing a replacement factor set. Full outputs include seven leave-one-family-out runs plus the two information-family-only comparisons. Source: results/factor_ablations.csv.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Permutation importance is the increase in test log loss after shuffling a feature, using 1,500 fixed-seed test observations and three repeats. Negative or near-zero values indicate weak marginal evidence; correlated substitutes can mask each other. These are predictive associations, not causal effects. SHAP was not computed because explicit importance satisfies the requested explanation alternative. Full four-model values: results/permutation_importance.csv.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and last calendar slices are partial years. These subperiods are fixed calendar boundaries, not dates selected to maximize returns. Different market regimes and concentrated portfolio tails explain why classification and investment rankings can disagree. Source: results/annual_performance.csv.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modest nonlinear prediction gains, different model rankings for portfolios, and meaningful turnover/time sensitivity. Remaining limits: financial vintage revisions, index publication timing, auction execution, market impact, lot sizes, price limits and shorting feasibility. Hedged results are normalized diagnostic overlays, not executable futures trades. Wu Yangjie, Zhao Jingjie and Wang Zhaobo contributed equally. Do not present historical performance as a future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76bd93e24942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12b9b028e242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b958a8d7544c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bbf6df9f5a40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9b20f01e624b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5fd4ca36e841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444904-8A65-4F96-B7A7-A55C010C53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CF00D8-EBD6-42B0-A2F9-FB73247FBD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5156C7-C2BA-4F44-9C9D-2562BFCDDB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6E0E62-606E-497E-8736-B713B5364D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41CCA6-2AFA-459E-A91E-D0F863A15E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5B09E6-6024-43FB-90F9-83765B948D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CE956D-E838-454D-ADCE-5CCF9BE280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867D1F-8214-4702-AED9-D8FE256C1E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9B96C0-4EDC-4D37-9F99-0D02AA99E2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49AE53-C3DC-4E02-9855-2FC1219D8E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a894514b1345d8" /><Relationship Type="http://schemas.openxmlformats.org/officeDocument/2006/relationships/slideLayout" Target="/ppt/slideLayouts/slideLayout1.xml" Id="Rf14abf8f92b4470a" /><Relationship Type="http://schemas.openxmlformats.org/officeDocument/2006/relationships/slideLayout" Target="/ppt/slideLayouts/slideLayout2.xml" Id="R8efcbaae34bf4c55" /><Relationship Type="http://schemas.openxmlformats.org/officeDocument/2006/relationships/slideLayout" Target="/ppt/slideLayouts/slideLayout3.xml" Id="R578a0082dc6642af" /><Relationship Type="http://schemas.openxmlformats.org/officeDocument/2006/relationships/slideLayout" Target="/ppt/slideLayouts/slideLayout4.xml" Id="R1fa8439ab2864141" /><Relationship Type="http://schemas.openxmlformats.org/officeDocument/2006/relationships/slideLayout" Target="/ppt/slideLayouts/slideLayout5.xml" Id="Rd13df6527d5144ab" /><Relationship Type="http://schemas.openxmlformats.org/officeDocument/2006/relationships/slideLayout" Target="/ppt/slideLayouts/slideLayout6.xml" Id="R15df0319196449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4abf8f92b4470a"/>
    <p:sldLayoutId xmlns:r="http://schemas.openxmlformats.org/officeDocument/2006/relationships" id="2147483650" r:id="R8efcbaae34bf4c55"/>
    <p:sldLayoutId xmlns:r="http://schemas.openxmlformats.org/officeDocument/2006/relationships" id="2147483651" r:id="R578a0082dc6642af"/>
    <p:sldLayoutId xmlns:r="http://schemas.openxmlformats.org/officeDocument/2006/relationships" id="2147483652" r:id="R1fa8439ab2864141"/>
    <p:sldLayoutId xmlns:r="http://schemas.openxmlformats.org/officeDocument/2006/relationships" id="2147483653" r:id="Rd13df6527d5144ab"/>
    <p:sldLayoutId xmlns:r="http://schemas.openxmlformats.org/officeDocument/2006/relationships" id="2147483654" r:id="R15df0319196449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7c9037621d45f6" /><Relationship Type="http://schemas.openxmlformats.org/officeDocument/2006/relationships/notesSlide" Target="/ppt/notesSlides/notesSlide1.xml" Id="Re8e009727fee4b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fd418d90ac4269" /><Relationship Type="http://schemas.openxmlformats.org/officeDocument/2006/relationships/notesSlide" Target="/ppt/notesSlides/notesSlide2.xml" Id="R19acb6f11d5349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44c208b83b4c97" /><Relationship Type="http://schemas.openxmlformats.org/officeDocument/2006/relationships/notesSlide" Target="/ppt/notesSlides/notesSlide3.xml" Id="R0fabbe698b2943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b440cc66d44d51" /><Relationship Type="http://schemas.openxmlformats.org/officeDocument/2006/relationships/notesSlide" Target="/ppt/notesSlides/notesSlide4.xml" Id="R110a66baa1f845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fb7df4a7034e1f" /><Relationship Type="http://schemas.openxmlformats.org/officeDocument/2006/relationships/notesSlide" Target="/ppt/notesSlides/notesSlide5.xml" Id="Re253789c544d4f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fa457cb4494a29" /><Relationship Type="http://schemas.openxmlformats.org/officeDocument/2006/relationships/notesSlide" Target="/ppt/notesSlides/notesSlide6.xml" Id="R8332fef84c7545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6b795d3bea4e72" /><Relationship Type="http://schemas.openxmlformats.org/officeDocument/2006/relationships/chart" Target="/ppt/slides/charts/chart1.xml" Id="R0fc83036b5d34602" /><Relationship Type="http://schemas.openxmlformats.org/officeDocument/2006/relationships/notesSlide" Target="/ppt/notesSlides/notesSlide7.xml" Id="R094b60cbdb094c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992ce86d974eb8" /><Relationship Type="http://schemas.openxmlformats.org/officeDocument/2006/relationships/chart" Target="/ppt/slides/charts/chart2.xml" Id="Re14f1c24e4bc47c6" /><Relationship Type="http://schemas.openxmlformats.org/officeDocument/2006/relationships/chart" Target="/ppt/slides/charts/chart3.xml" Id="Rc8e3038296304354" /><Relationship Type="http://schemas.openxmlformats.org/officeDocument/2006/relationships/notesSlide" Target="/ppt/notesSlides/notesSlide8.xml" Id="Rf72953dca12e49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21fc980545458d" /><Relationship Type="http://schemas.openxmlformats.org/officeDocument/2006/relationships/notesSlide" Target="/ppt/notesSlides/notesSlide9.xml" Id="Raafb117a354644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bd66c7421e4721" /><Relationship Type="http://schemas.openxmlformats.org/officeDocument/2006/relationships/chart" Target="/ppt/slides/charts/chart4.xml" Id="R7089ee1c1f53477d" /><Relationship Type="http://schemas.openxmlformats.org/officeDocument/2006/relationships/notesSlide" Target="/ppt/notesSlides/notesSlide10.xml" Id="R6e459f46976f40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203676844e8469e" /><Relationship Type="http://schemas.openxmlformats.org/officeDocument/2006/relationships/chart" Target="/ppt/slides/charts/chart5.xml" Id="R90a44d89a2574979" /><Relationship Type="http://schemas.openxmlformats.org/officeDocument/2006/relationships/notesSlide" Target="/ppt/notesSlides/notesSlide11.xml" Id="Rd6f90bee15cf4b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774e55637741b1" /><Relationship Type="http://schemas.openxmlformats.org/officeDocument/2006/relationships/chart" Target="/ppt/slides/charts/chart6.xml" Id="R4d7ce68ae3a94a35" /><Relationship Type="http://schemas.openxmlformats.org/officeDocument/2006/relationships/notesSlide" Target="/ppt/notesSlides/notesSlide12.xml" Id="R5068e2ff4c2441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06f33a433ae4306" /><Relationship Type="http://schemas.openxmlformats.org/officeDocument/2006/relationships/chart" Target="/ppt/slides/charts/chart7.xml" Id="R6ca6d251da6845e2" /><Relationship Type="http://schemas.openxmlformats.org/officeDocument/2006/relationships/notesSlide" Target="/ppt/notesSlides/notesSlide13.xml" Id="R752d3b89e1504f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76a6c8dcc4f4b84" /><Relationship Type="http://schemas.openxmlformats.org/officeDocument/2006/relationships/notesSlide" Target="/ppt/notesSlides/notesSlide14.xml" Id="Rafa20f61794c4e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LR</c:v>
          </c:tx>
          <c:spPr>
            <a:solidFill xmlns:a="http://schemas.openxmlformats.org/drawingml/2006/main">
              <a:srgbClr val="7A8087"/>
            </a:solidFill>
            <a:ln xmlns:a="http://schemas.openxmlformats.org/drawingml/2006/main" w="19050">
              <a:solidFill>
                <a:srgbClr val="7A8087"/>
              </a:solidFill>
              <a:prstDash val="solid"/>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General</c:formatCode>
                <c:ptCount val="10"/>
                <c:pt idx="0">
                  <c:v>-8.40023007116</c:v>
                </c:pt>
                <c:pt idx="1">
                  <c:v>-2.21882992515</c:v>
                </c:pt>
                <c:pt idx="2">
                  <c:v>0.618150697133</c:v>
                </c:pt>
                <c:pt idx="3">
                  <c:v>-0.287405280278</c:v>
                </c:pt>
                <c:pt idx="4">
                  <c:v>-0.219872389719</c:v>
                </c:pt>
                <c:pt idx="5">
                  <c:v>0.291444732434</c:v>
                </c:pt>
                <c:pt idx="6">
                  <c:v>2.06793032283</c:v>
                </c:pt>
                <c:pt idx="7">
                  <c:v>1.35344733756</c:v>
                </c:pt>
                <c:pt idx="8">
                  <c:v>8.81845119645</c:v>
                </c:pt>
                <c:pt idx="9">
                  <c:v>5.24642252739</c:v>
                </c:pt>
              </c:numCache>
            </c:numRef>
          </c:val>
          <c:smooth val="0"/>
        </c:ser>
        <c:ser>
          <c:idx val="1"/>
          <c:order val="1"/>
          <c:tx>
            <c:v>RF</c:v>
          </c:tx>
          <c:spPr>
            <a:solidFill xmlns:a="http://schemas.openxmlformats.org/drawingml/2006/main">
              <a:srgbClr val="1C5588"/>
            </a:solidFill>
            <a:ln xmlns:a="http://schemas.openxmlformats.org/drawingml/2006/main" w="19050">
              <a:solidFill>
                <a:srgbClr val="1C5588"/>
              </a:solidFill>
              <a:prstDash val="solid"/>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General</c:formatCode>
                <c:ptCount val="10"/>
                <c:pt idx="0">
                  <c:v>-8.93645558367</c:v>
                </c:pt>
                <c:pt idx="1">
                  <c:v>-0.22963939548</c:v>
                </c:pt>
                <c:pt idx="2">
                  <c:v>-4.38867637783</c:v>
                </c:pt>
                <c:pt idx="3">
                  <c:v>-0.472383982607</c:v>
                </c:pt>
                <c:pt idx="4">
                  <c:v>0.697054763785</c:v>
                </c:pt>
                <c:pt idx="5">
                  <c:v>-0.123191359786</c:v>
                </c:pt>
                <c:pt idx="6">
                  <c:v>0.848911437765</c:v>
                </c:pt>
                <c:pt idx="7">
                  <c:v>2.44758251438</c:v>
                </c:pt>
                <c:pt idx="8">
                  <c:v>6.80647919337</c:v>
                </c:pt>
                <c:pt idx="9">
                  <c:v>9.42001240528</c:v>
                </c:pt>
              </c:numCache>
            </c:numRef>
          </c:val>
          <c:smooth val="0"/>
        </c:ser>
        <c:ser>
          <c:idx val="2"/>
          <c:order val="2"/>
          <c:tx>
            <c:v>XGB</c:v>
          </c:tx>
          <c:spPr>
            <a:solidFill xmlns:a="http://schemas.openxmlformats.org/drawingml/2006/main">
              <a:srgbClr val="BD7730"/>
            </a:solidFill>
            <a:ln xmlns:a="http://schemas.openxmlformats.org/drawingml/2006/main" w="19050">
              <a:solidFill>
                <a:srgbClr val="BD7730"/>
              </a:solidFill>
              <a:prstDash val="solid"/>
            </a:ln>
          </c:spPr>
          <c:marker>
            <c:symbol val="none"/>
          </c:marker>
          <c:cat>
            <c:numRef>
              <c:f>'Chart Data'!$E$2:$E$11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Data'!$F$2:$F$11</c:f>
              <c:numCache>
                <c:formatCode>General</c:formatCode>
                <c:ptCount val="10"/>
                <c:pt idx="0">
                  <c:v>-6.53172437328</c:v>
                </c:pt>
                <c:pt idx="1">
                  <c:v>-2.90200104856</c:v>
                </c:pt>
                <c:pt idx="2">
                  <c:v>-2.77888575157</c:v>
                </c:pt>
                <c:pt idx="3">
                  <c:v>-2.64435555394</c:v>
                </c:pt>
                <c:pt idx="4">
                  <c:v>1.19181729746</c:v>
                </c:pt>
                <c:pt idx="5">
                  <c:v>-0.115088741087</c:v>
                </c:pt>
                <c:pt idx="6">
                  <c:v>-0.533414538669</c:v>
                </c:pt>
                <c:pt idx="7">
                  <c:v>8.10339857431</c:v>
                </c:pt>
                <c:pt idx="8">
                  <c:v>3.21021574305</c:v>
                </c:pt>
                <c:pt idx="9">
                  <c:v>8.84747067822</c:v>
                </c:pt>
              </c:numCache>
            </c:numRef>
          </c:val>
          <c:smooth val="0"/>
        </c:ser>
        <c:ser>
          <c:idx val="3"/>
          <c:order val="3"/>
          <c:tx>
            <c:v>LGBM</c:v>
          </c:tx>
          <c:spPr>
            <a:solidFill xmlns:a="http://schemas.openxmlformats.org/drawingml/2006/main">
              <a:srgbClr val="28776B"/>
            </a:solidFill>
            <a:ln xmlns:a="http://schemas.openxmlformats.org/drawingml/2006/main" w="19050">
              <a:solidFill>
                <a:srgbClr val="28776B"/>
              </a:solidFill>
              <a:prstDash val="solid"/>
            </a:ln>
          </c:spPr>
          <c:marker>
            <c:symbol val="none"/>
          </c:marker>
          <c:cat>
            <c:numRef>
              <c:f>'Chart Data'!$G$2:$G$11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Data'!$H$2:$H$11</c:f>
              <c:numCache>
                <c:formatCode>General</c:formatCode>
                <c:ptCount val="10"/>
                <c:pt idx="0">
                  <c:v>-5.50857226017</c:v>
                </c:pt>
                <c:pt idx="1">
                  <c:v>-2.0827195</c:v>
                </c:pt>
                <c:pt idx="2">
                  <c:v>-7.44393716849</c:v>
                </c:pt>
                <c:pt idx="3">
                  <c:v>2.09691490931</c:v>
                </c:pt>
                <c:pt idx="4">
                  <c:v>0.721245050859</c:v>
                </c:pt>
                <c:pt idx="5">
                  <c:v>-2.29186926017</c:v>
                </c:pt>
                <c:pt idx="6">
                  <c:v>1.7588879936</c:v>
                </c:pt>
                <c:pt idx="7">
                  <c:v>3.87444110806</c:v>
                </c:pt>
                <c:pt idx="8">
                  <c:v>5.9316383517</c:v>
                </c:pt>
                <c:pt idx="9">
                  <c:v>9.47464088126</c:v>
                </c:pt>
              </c:numCache>
            </c:numRef>
          </c:val>
          <c:smooth val="0"/>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Times New Roman"/>
                <a:ea typeface="Times New Roman"/>
                <a:cs typeface="Times New Roman"/>
              </a:defRPr>
            </a:pPr>
          </a:p>
        </c:txPr>
        <c:crossAx val="48672768"/>
      </c:catAx>
      <c:valAx>
        <c:axId val="48672768"/>
        <c:scaling>
          <c:orientation val="minMax"/>
        </c:scaling>
        <c:delete val="0"/>
        <c:axPos val="l"/>
        <c:majorGridlines>
          <c:spPr>
            <a:ln xmlns:a="http://schemas.openxmlformats.org/drawingml/2006/main" w="4763">
              <a:solidFill>
                <a:srgbClr val="DCE1E2"/>
              </a:solidFill>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Net annual return (%)</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LR</c:v>
          </c:tx>
          <c:spPr>
            <a:solidFill xmlns:a="http://schemas.openxmlformats.org/drawingml/2006/main">
              <a:srgbClr val="7A8087"/>
            </a:solidFill>
            <a:ln xmlns:a="http://schemas.openxmlformats.org/drawingml/2006/main" w="19050">
              <a:solidFill>
                <a:srgbClr val="7A8087"/>
              </a:solidFill>
              <a:prstDash val="solid"/>
            </a:ln>
          </c:spPr>
          <c:marker>
            <c:symbol val="none"/>
          </c:marker>
          <c:cat>
            <c:strRef>
              <c:f>'Chart Data'!$A$2:$A$57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Data'!$B$2:$B$57</c:f>
              <c:numCache>
                <c:formatCode>0.0</c:formatCode>
                <c:ptCount val="56"/>
                <c:pt idx="0">
                  <c:v>0.999000999001</c:v>
                </c:pt>
                <c:pt idx="1">
                  <c:v>0.956123880422</c:v>
                </c:pt>
                <c:pt idx="2">
                  <c:v>1.01018762558</c:v>
                </c:pt>
                <c:pt idx="3">
                  <c:v>0.954075495331</c:v>
                </c:pt>
                <c:pt idx="4">
                  <c:v>0.898331409581</c:v>
                </c:pt>
                <c:pt idx="5">
                  <c:v>0.942551741221</c:v>
                </c:pt>
                <c:pt idx="6">
                  <c:v>0.986894409294</c:v>
                </c:pt>
                <c:pt idx="7">
                  <c:v>0.975539329315</c:v>
                </c:pt>
                <c:pt idx="8">
                  <c:v>0.986543973421</c:v>
                </c:pt>
                <c:pt idx="9">
                  <c:v>0.957225951953</c:v>
                </c:pt>
                <c:pt idx="10">
                  <c:v>0.955541593122</c:v>
                </c:pt>
                <c:pt idx="11">
                  <c:v>0.95664726074</c:v>
                </c:pt>
                <c:pt idx="12">
                  <c:v>0.957823278139</c:v>
                </c:pt>
                <c:pt idx="13">
                  <c:v>0.894102706409</c:v>
                </c:pt>
                <c:pt idx="14">
                  <c:v>0.84469567994</c:v>
                </c:pt>
                <c:pt idx="15">
                  <c:v>0.885022928932</c:v>
                </c:pt>
                <c:pt idx="16">
                  <c:v>0.845488030368</c:v>
                </c:pt>
                <c:pt idx="17">
                  <c:v>0.890611464556</c:v>
                </c:pt>
                <c:pt idx="18">
                  <c:v>0.821658155176</c:v>
                </c:pt>
                <c:pt idx="19">
                  <c:v>0.70822076671</c:v>
                </c:pt>
                <c:pt idx="20">
                  <c:v>0.748640221521</c:v>
                </c:pt>
                <c:pt idx="21">
                  <c:v>0.785809741711</c:v>
                </c:pt>
                <c:pt idx="22">
                  <c:v>0.751568580484</c:v>
                </c:pt>
                <c:pt idx="23">
                  <c:v>0.748244206092</c:v>
                </c:pt>
                <c:pt idx="24">
                  <c:v>0.701535626304</c:v>
                </c:pt>
                <c:pt idx="25">
                  <c:v>0.73199999309</c:v>
                </c:pt>
                <c:pt idx="26">
                  <c:v>0.828342477675</c:v>
                </c:pt>
                <c:pt idx="27">
                  <c:v>0.788977832735</c:v>
                </c:pt>
                <c:pt idx="28">
                  <c:v>0.875221462033</c:v>
                </c:pt>
                <c:pt idx="29">
                  <c:v>0.904653067967</c:v>
                </c:pt>
                <c:pt idx="30">
                  <c:v>0.878985473538</c:v>
                </c:pt>
                <c:pt idx="31">
                  <c:v>0.827526270694</c:v>
                </c:pt>
                <c:pt idx="32">
                  <c:v>0.810013437233</c:v>
                </c:pt>
                <c:pt idx="33">
                  <c:v>0.799503422807</c:v>
                </c:pt>
                <c:pt idx="34">
                  <c:v>0.8885707035</c:v>
                </c:pt>
                <c:pt idx="35">
                  <c:v>0.861204709283</c:v>
                </c:pt>
                <c:pt idx="36">
                  <c:v>0.842663017538</c:v>
                </c:pt>
                <c:pt idx="37">
                  <c:v>0.801004991989</c:v>
                </c:pt>
                <c:pt idx="38">
                  <c:v>0.809932965953</c:v>
                </c:pt>
                <c:pt idx="39">
                  <c:v>0.786886533739</c:v>
                </c:pt>
                <c:pt idx="40">
                  <c:v>0.70264959329</c:v>
                </c:pt>
                <c:pt idx="41">
                  <c:v>0.791164897685</c:v>
                </c:pt>
                <c:pt idx="42">
                  <c:v>0.782071940796</c:v>
                </c:pt>
                <c:pt idx="43">
                  <c:v>0.809129174713</c:v>
                </c:pt>
                <c:pt idx="44">
                  <c:v>0.774464458875</c:v>
                </c:pt>
                <c:pt idx="45">
                  <c:v>0.694400961811</c:v>
                </c:pt>
                <c:pt idx="46">
                  <c:v>0.734932033998</c:v>
                </c:pt>
                <c:pt idx="47">
                  <c:v>0.714355197898</c:v>
                </c:pt>
                <c:pt idx="48">
                  <c:v>1.03331313086</c:v>
                </c:pt>
                <c:pt idx="49">
                  <c:v>0.954262821069</c:v>
                </c:pt>
                <c:pt idx="50">
                  <c:v>0.963045165736</c:v>
                </c:pt>
                <c:pt idx="51">
                  <c:v>0.951239110311</c:v>
                </c:pt>
                <c:pt idx="52">
                  <c:v>0.943025985773</c:v>
                </c:pt>
                <c:pt idx="53">
                  <c:v>0.957735726387</c:v>
                </c:pt>
                <c:pt idx="54">
                  <c:v>0.967240862861</c:v>
                </c:pt>
                <c:pt idx="55">
                  <c:v>0.985012088355</c:v>
                </c:pt>
              </c:numCache>
            </c:numRef>
          </c:val>
          <c:smooth val="0"/>
        </c:ser>
        <c:ser>
          <c:idx val="1"/>
          <c:order val="1"/>
          <c:tx>
            <c:v>RF</c:v>
          </c:tx>
          <c:spPr>
            <a:solidFill xmlns:a="http://schemas.openxmlformats.org/drawingml/2006/main">
              <a:srgbClr val="1C5588"/>
            </a:solidFill>
            <a:ln xmlns:a="http://schemas.openxmlformats.org/drawingml/2006/main" w="19050">
              <a:solidFill>
                <a:srgbClr val="1C5588"/>
              </a:solidFill>
              <a:prstDash val="solid"/>
            </a:ln>
          </c:spPr>
          <c:marker>
            <c:symbol val="none"/>
          </c:marker>
          <c:cat>
            <c:strRef>
              <c:f>'Chart Data'!$C$2:$C$57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Data'!$D$2:$D$57</c:f>
              <c:numCache>
                <c:formatCode>0.0</c:formatCode>
                <c:ptCount val="56"/>
                <c:pt idx="0">
                  <c:v>0.999000999001</c:v>
                </c:pt>
                <c:pt idx="1">
                  <c:v>0.965055482382</c:v>
                </c:pt>
                <c:pt idx="2">
                  <c:v>1.01127256058</c:v>
                </c:pt>
                <c:pt idx="3">
                  <c:v>0.930308361638</c:v>
                </c:pt>
                <c:pt idx="4">
                  <c:v>0.871081660703</c:v>
                </c:pt>
                <c:pt idx="5">
                  <c:v>0.894304876546</c:v>
                </c:pt>
                <c:pt idx="6">
                  <c:v>1.00522959825</c:v>
                </c:pt>
                <c:pt idx="7">
                  <c:v>0.966825159215</c:v>
                </c:pt>
                <c:pt idx="8">
                  <c:v>0.981410043682</c:v>
                </c:pt>
                <c:pt idx="9">
                  <c:v>0.985574797225</c:v>
                </c:pt>
                <c:pt idx="10">
                  <c:v>0.934884583755</c:v>
                </c:pt>
                <c:pt idx="11">
                  <c:v>1.00258089648</c:v>
                </c:pt>
                <c:pt idx="12">
                  <c:v>1.10013140192</c:v>
                </c:pt>
                <c:pt idx="13">
                  <c:v>1.05916785374</c:v>
                </c:pt>
                <c:pt idx="14">
                  <c:v>1.05904321882</c:v>
                </c:pt>
                <c:pt idx="15">
                  <c:v>1.14172439036</c:v>
                </c:pt>
                <c:pt idx="16">
                  <c:v>1.11071286362</c:v>
                </c:pt>
                <c:pt idx="17">
                  <c:v>1.13782101442</c:v>
                </c:pt>
                <c:pt idx="18">
                  <c:v>1.15480297006</c:v>
                </c:pt>
                <c:pt idx="19">
                  <c:v>1.12252935271</c:v>
                </c:pt>
                <c:pt idx="20">
                  <c:v>1.15815993506</c:v>
                </c:pt>
                <c:pt idx="21">
                  <c:v>1.17778158455</c:v>
                </c:pt>
                <c:pt idx="22">
                  <c:v>1.15740362633</c:v>
                </c:pt>
                <c:pt idx="23">
                  <c:v>1.20265188434</c:v>
                </c:pt>
                <c:pt idx="24">
                  <c:v>1.16135290586</c:v>
                </c:pt>
                <c:pt idx="25">
                  <c:v>1.12518220798</c:v>
                </c:pt>
                <c:pt idx="26">
                  <c:v>1.20376017921</c:v>
                </c:pt>
                <c:pt idx="27">
                  <c:v>1.1851320407</c:v>
                </c:pt>
                <c:pt idx="28">
                  <c:v>1.20810625507</c:v>
                </c:pt>
                <c:pt idx="29">
                  <c:v>1.23398191311</c:v>
                </c:pt>
                <c:pt idx="30">
                  <c:v>1.25826353237</c:v>
                </c:pt>
                <c:pt idx="31">
                  <c:v>1.3256219451</c:v>
                </c:pt>
                <c:pt idx="32">
                  <c:v>1.30205403801</c:v>
                </c:pt>
                <c:pt idx="33">
                  <c:v>1.30563345675</c:v>
                </c:pt>
                <c:pt idx="34">
                  <c:v>1.39519266984</c:v>
                </c:pt>
                <c:pt idx="35">
                  <c:v>1.34739862533</c:v>
                </c:pt>
                <c:pt idx="36">
                  <c:v>1.38400722009</c:v>
                </c:pt>
                <c:pt idx="37">
                  <c:v>1.34149627603</c:v>
                </c:pt>
                <c:pt idx="38">
                  <c:v>1.3335763495</c:v>
                </c:pt>
                <c:pt idx="39">
                  <c:v>1.33174589779</c:v>
                </c:pt>
                <c:pt idx="40">
                  <c:v>1.3481415219</c:v>
                </c:pt>
                <c:pt idx="41">
                  <c:v>1.4680944944</c:v>
                </c:pt>
                <c:pt idx="42">
                  <c:v>1.51708506098</c:v>
                </c:pt>
                <c:pt idx="43">
                  <c:v>1.58197450496</c:v>
                </c:pt>
                <c:pt idx="44">
                  <c:v>1.59401788588</c:v>
                </c:pt>
                <c:pt idx="45">
                  <c:v>1.56230797079</c:v>
                </c:pt>
                <c:pt idx="46">
                  <c:v>1.53112409052</c:v>
                </c:pt>
                <c:pt idx="47">
                  <c:v>1.41879531052</c:v>
                </c:pt>
                <c:pt idx="48">
                  <c:v>1.8281408293</c:v>
                </c:pt>
                <c:pt idx="49">
                  <c:v>1.62765317601</c:v>
                </c:pt>
                <c:pt idx="50">
                  <c:v>1.61900487667</c:v>
                </c:pt>
                <c:pt idx="51">
                  <c:v>1.64982615302</c:v>
                </c:pt>
                <c:pt idx="52">
                  <c:v>1.60592917433</c:v>
                </c:pt>
                <c:pt idx="53">
                  <c:v>1.5428658912</c:v>
                </c:pt>
                <c:pt idx="54">
                  <c:v>1.57531335283</c:v>
                </c:pt>
                <c:pt idx="55">
                  <c:v>1.60036577429</c:v>
                </c:pt>
              </c:numCache>
            </c:numRef>
          </c:val>
          <c:smooth val="0"/>
        </c:ser>
        <c:ser>
          <c:idx val="2"/>
          <c:order val="2"/>
          <c:tx>
            <c:v>XGB</c:v>
          </c:tx>
          <c:spPr>
            <a:solidFill xmlns:a="http://schemas.openxmlformats.org/drawingml/2006/main">
              <a:srgbClr val="BD7730"/>
            </a:solidFill>
            <a:ln xmlns:a="http://schemas.openxmlformats.org/drawingml/2006/main" w="19050">
              <a:solidFill>
                <a:srgbClr val="BD7730"/>
              </a:solidFill>
              <a:prstDash val="solid"/>
            </a:ln>
          </c:spPr>
          <c:marker>
            <c:symbol val="none"/>
          </c:marker>
          <c:cat>
            <c:strRef>
              <c:f>'Chart Data'!$E$2:$E$57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Data'!$F$2:$F$57</c:f>
              <c:numCache>
                <c:formatCode>0.0</c:formatCode>
                <c:ptCount val="56"/>
                <c:pt idx="0">
                  <c:v>0.999000999001</c:v>
                </c:pt>
                <c:pt idx="1">
                  <c:v>0.951562918508</c:v>
                </c:pt>
                <c:pt idx="2">
                  <c:v>0.997026998555</c:v>
                </c:pt>
                <c:pt idx="3">
                  <c:v>0.963637514814</c:v>
                </c:pt>
                <c:pt idx="4">
                  <c:v>0.903877406507</c:v>
                </c:pt>
                <c:pt idx="5">
                  <c:v>0.942453131507</c:v>
                </c:pt>
                <c:pt idx="6">
                  <c:v>1.06350827814</c:v>
                </c:pt>
                <c:pt idx="7">
                  <c:v>0.996802762898</c:v>
                </c:pt>
                <c:pt idx="8">
                  <c:v>1.0293509577</c:v>
                </c:pt>
                <c:pt idx="9">
                  <c:v>1.01307227833</c:v>
                </c:pt>
                <c:pt idx="10">
                  <c:v>0.949601578694</c:v>
                </c:pt>
                <c:pt idx="11">
                  <c:v>1.02211351606</c:v>
                </c:pt>
                <c:pt idx="12">
                  <c:v>1.09702463721</c:v>
                </c:pt>
                <c:pt idx="13">
                  <c:v>1.04423606553</c:v>
                </c:pt>
                <c:pt idx="14">
                  <c:v>1.04805797651</c:v>
                </c:pt>
                <c:pt idx="15">
                  <c:v>1.13065599074</c:v>
                </c:pt>
                <c:pt idx="16">
                  <c:v>1.08515609309</c:v>
                </c:pt>
                <c:pt idx="17">
                  <c:v>1.11078379135</c:v>
                </c:pt>
                <c:pt idx="18">
                  <c:v>1.07468168536</c:v>
                </c:pt>
                <c:pt idx="19">
                  <c:v>0.977823450889</c:v>
                </c:pt>
                <c:pt idx="20">
                  <c:v>1.0127416974</c:v>
                </c:pt>
                <c:pt idx="21">
                  <c:v>1.01702251292</c:v>
                </c:pt>
                <c:pt idx="22">
                  <c:v>1.01458426312</c:v>
                </c:pt>
                <c:pt idx="23">
                  <c:v>1.01856454234</c:v>
                </c:pt>
                <c:pt idx="24">
                  <c:v>0.982179257405</c:v>
                </c:pt>
                <c:pt idx="25">
                  <c:v>0.952737591349</c:v>
                </c:pt>
                <c:pt idx="26">
                  <c:v>1.0196694914</c:v>
                </c:pt>
                <c:pt idx="27">
                  <c:v>0.992606793186</c:v>
                </c:pt>
                <c:pt idx="28">
                  <c:v>1.03428355644</c:v>
                </c:pt>
                <c:pt idx="29">
                  <c:v>1.03819191045</c:v>
                </c:pt>
                <c:pt idx="30">
                  <c:v>1.05425550566</c:v>
                </c:pt>
                <c:pt idx="31">
                  <c:v>1.09529238971</c:v>
                </c:pt>
                <c:pt idx="32">
                  <c:v>1.08639655106</c:v>
                </c:pt>
                <c:pt idx="33">
                  <c:v>1.06839807533</c:v>
                </c:pt>
                <c:pt idx="34">
                  <c:v>1.14115825627</c:v>
                </c:pt>
                <c:pt idx="35">
                  <c:v>1.11039154429</c:v>
                </c:pt>
                <c:pt idx="36">
                  <c:v>1.13922850697</c:v>
                </c:pt>
                <c:pt idx="37">
                  <c:v>1.10557185219</c:v>
                </c:pt>
                <c:pt idx="38">
                  <c:v>1.11548202711</c:v>
                </c:pt>
                <c:pt idx="39">
                  <c:v>1.10924759981</c:v>
                </c:pt>
                <c:pt idx="40">
                  <c:v>1.14357852817</c:v>
                </c:pt>
                <c:pt idx="41">
                  <c:v>1.2409645625</c:v>
                </c:pt>
                <c:pt idx="42">
                  <c:v>1.27364265678</c:v>
                </c:pt>
                <c:pt idx="43">
                  <c:v>1.32212317158</c:v>
                </c:pt>
                <c:pt idx="44">
                  <c:v>1.30888791534</c:v>
                </c:pt>
                <c:pt idx="45">
                  <c:v>1.28403645806</c:v>
                </c:pt>
                <c:pt idx="46">
                  <c:v>1.27630142779</c:v>
                </c:pt>
                <c:pt idx="47">
                  <c:v>1.21084153603</c:v>
                </c:pt>
                <c:pt idx="48">
                  <c:v>1.51264510717</c:v>
                </c:pt>
                <c:pt idx="49">
                  <c:v>1.61227660243</c:v>
                </c:pt>
                <c:pt idx="50">
                  <c:v>1.56858861464</c:v>
                </c:pt>
                <c:pt idx="51">
                  <c:v>1.59798979372</c:v>
                </c:pt>
                <c:pt idx="52">
                  <c:v>1.56221876099</c:v>
                </c:pt>
                <c:pt idx="53">
                  <c:v>1.51009029875</c:v>
                </c:pt>
                <c:pt idx="54">
                  <c:v>1.57432376692</c:v>
                </c:pt>
                <c:pt idx="55">
                  <c:v>1.58467175023</c:v>
                </c:pt>
              </c:numCache>
            </c:numRef>
          </c:val>
          <c:smooth val="0"/>
        </c:ser>
        <c:ser>
          <c:idx val="3"/>
          <c:order val="3"/>
          <c:tx>
            <c:v>LGBM</c:v>
          </c:tx>
          <c:spPr>
            <a:solidFill xmlns:a="http://schemas.openxmlformats.org/drawingml/2006/main">
              <a:srgbClr val="28776B"/>
            </a:solidFill>
            <a:ln xmlns:a="http://schemas.openxmlformats.org/drawingml/2006/main" w="19050">
              <a:solidFill>
                <a:srgbClr val="28776B"/>
              </a:solidFill>
              <a:prstDash val="solid"/>
            </a:ln>
          </c:spPr>
          <c:marker>
            <c:symbol val="none"/>
          </c:marker>
          <c:cat>
            <c:strRef>
              <c:f>'Chart Data'!$G$2:$G$57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Data'!$H$2:$H$57</c:f>
              <c:numCache>
                <c:formatCode>0.0</c:formatCode>
                <c:ptCount val="56"/>
                <c:pt idx="0">
                  <c:v>0.999000999001</c:v>
                </c:pt>
                <c:pt idx="1">
                  <c:v>0.963017666641</c:v>
                </c:pt>
                <c:pt idx="2">
                  <c:v>1.02171388824</c:v>
                </c:pt>
                <c:pt idx="3">
                  <c:v>0.992156301097</c:v>
                </c:pt>
                <c:pt idx="4">
                  <c:v>0.93697057218</c:v>
                </c:pt>
                <c:pt idx="5">
                  <c:v>0.966340624004</c:v>
                </c:pt>
                <c:pt idx="6">
                  <c:v>1.07033493296</c:v>
                </c:pt>
                <c:pt idx="7">
                  <c:v>1.02517551347</c:v>
                </c:pt>
                <c:pt idx="8">
                  <c:v>1.04066501211</c:v>
                </c:pt>
                <c:pt idx="9">
                  <c:v>1.03166597216</c:v>
                </c:pt>
                <c:pt idx="10">
                  <c:v>0.971991877096</c:v>
                </c:pt>
                <c:pt idx="11">
                  <c:v>1.03385231737</c:v>
                </c:pt>
                <c:pt idx="12">
                  <c:v>1.08099961785</c:v>
                </c:pt>
                <c:pt idx="13">
                  <c:v>1.02604650048</c:v>
                </c:pt>
                <c:pt idx="14">
                  <c:v>1.04054957258</c:v>
                </c:pt>
                <c:pt idx="15">
                  <c:v>1.11302706993</c:v>
                </c:pt>
                <c:pt idx="16">
                  <c:v>1.10194384858</c:v>
                </c:pt>
                <c:pt idx="17">
                  <c:v>1.13747570392</c:v>
                </c:pt>
                <c:pt idx="18">
                  <c:v>1.08292166052</c:v>
                </c:pt>
                <c:pt idx="19">
                  <c:v>1.03090926056</c:v>
                </c:pt>
                <c:pt idx="20">
                  <c:v>1.06012346973</c:v>
                </c:pt>
                <c:pt idx="21">
                  <c:v>1.0722063913</c:v>
                </c:pt>
                <c:pt idx="22">
                  <c:v>1.05939897453</c:v>
                </c:pt>
                <c:pt idx="23">
                  <c:v>1.09164550596</c:v>
                </c:pt>
                <c:pt idx="24">
                  <c:v>1.06377262015</c:v>
                </c:pt>
                <c:pt idx="25">
                  <c:v>1.05240275649</c:v>
                </c:pt>
                <c:pt idx="26">
                  <c:v>1.1306805413</c:v>
                </c:pt>
                <c:pt idx="27">
                  <c:v>1.09150244876</c:v>
                </c:pt>
                <c:pt idx="28">
                  <c:v>1.1379938711</c:v>
                </c:pt>
                <c:pt idx="29">
                  <c:v>1.18119132892</c:v>
                </c:pt>
                <c:pt idx="30">
                  <c:v>1.21094991961</c:v>
                </c:pt>
                <c:pt idx="31">
                  <c:v>1.30080381259</c:v>
                </c:pt>
                <c:pt idx="32">
                  <c:v>1.29997068522</c:v>
                </c:pt>
                <c:pt idx="33">
                  <c:v>1.28634396526</c:v>
                </c:pt>
                <c:pt idx="34">
                  <c:v>1.36075109389</c:v>
                </c:pt>
                <c:pt idx="35">
                  <c:v>1.32816824089</c:v>
                </c:pt>
                <c:pt idx="36">
                  <c:v>1.34394424526</c:v>
                </c:pt>
                <c:pt idx="37">
                  <c:v>1.30458935921</c:v>
                </c:pt>
                <c:pt idx="38">
                  <c:v>1.31706213594</c:v>
                </c:pt>
                <c:pt idx="39">
                  <c:v>1.29491604827</c:v>
                </c:pt>
                <c:pt idx="40">
                  <c:v>1.31445977874</c:v>
                </c:pt>
                <c:pt idx="41">
                  <c:v>1.43733417032</c:v>
                </c:pt>
                <c:pt idx="42">
                  <c:v>1.47474264375</c:v>
                </c:pt>
                <c:pt idx="43">
                  <c:v>1.51464205778</c:v>
                </c:pt>
                <c:pt idx="44">
                  <c:v>1.4818816911</c:v>
                </c:pt>
                <c:pt idx="45">
                  <c:v>1.39052825545</c:v>
                </c:pt>
                <c:pt idx="46">
                  <c:v>1.38605015621</c:v>
                </c:pt>
                <c:pt idx="47">
                  <c:v>1.31036843762</c:v>
                </c:pt>
                <c:pt idx="48">
                  <c:v>1.63075021371</c:v>
                </c:pt>
                <c:pt idx="49">
                  <c:v>1.74646250765</c:v>
                </c:pt>
                <c:pt idx="50">
                  <c:v>1.71301168382</c:v>
                </c:pt>
                <c:pt idx="51">
                  <c:v>1.76034456938</c:v>
                </c:pt>
                <c:pt idx="52">
                  <c:v>1.72610771848</c:v>
                </c:pt>
                <c:pt idx="53">
                  <c:v>1.71110632919</c:v>
                </c:pt>
                <c:pt idx="54">
                  <c:v>1.77659511994</c:v>
                </c:pt>
                <c:pt idx="55">
                  <c:v>1.8021338099</c:v>
                </c:pt>
              </c:numCache>
            </c:numRef>
          </c:val>
          <c:smooth val="0"/>
        </c:ser>
        <c:ser>
          <c:idx val="4"/>
          <c:order val="4"/>
          <c:tx>
            <c:v>CSI 500</c:v>
          </c:tx>
          <c:spPr>
            <a:solidFill xmlns:a="http://schemas.openxmlformats.org/drawingml/2006/main">
              <a:srgbClr val="222222"/>
            </a:solidFill>
            <a:ln xmlns:a="http://schemas.openxmlformats.org/drawingml/2006/main" w="19050">
              <a:solidFill>
                <a:srgbClr val="222222"/>
              </a:solidFill>
              <a:prstDash val="solid"/>
            </a:ln>
          </c:spPr>
          <c:marker>
            <c:symbol val="none"/>
          </c:marker>
          <c:cat>
            <c:strRef>
              <c:f>'Chart Data'!$I$2:$I$57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Data'!$J$2:$J$57</c:f>
              <c:numCache>
                <c:formatCode>0.0</c:formatCode>
                <c:ptCount val="56"/>
                <c:pt idx="0">
                  <c:v>1</c:v>
                </c:pt>
                <c:pt idx="1">
                  <c:v>0.963747209942</c:v>
                </c:pt>
                <c:pt idx="2">
                  <c:v>0.993418638592</c:v>
                </c:pt>
                <c:pt idx="3">
                  <c:v>1.00723947707</c:v>
                </c:pt>
                <c:pt idx="4">
                  <c:v>0.998267745322</c:v>
                </c:pt>
                <c:pt idx="5">
                  <c:v>1.00905885475</c:v>
                </c:pt>
                <c:pt idx="6">
                  <c:v>0.985789722343</c:v>
                </c:pt>
                <c:pt idx="7">
                  <c:v>1.02424658883</c:v>
                </c:pt>
                <c:pt idx="8">
                  <c:v>1.05811343399</c:v>
                </c:pt>
                <c:pt idx="9">
                  <c:v>1.07528817719</c:v>
                </c:pt>
                <c:pt idx="10">
                  <c:v>1.06412477916</c:v>
                </c:pt>
                <c:pt idx="11">
                  <c:v>1.14510894525</c:v>
                </c:pt>
                <c:pt idx="12">
                  <c:v>1.13253998803</c:v>
                </c:pt>
                <c:pt idx="13">
                  <c:v>1.10322242176</c:v>
                </c:pt>
                <c:pt idx="14">
                  <c:v>1.14008408062</c:v>
                </c:pt>
                <c:pt idx="15">
                  <c:v>1.16349922122</c:v>
                </c:pt>
                <c:pt idx="16">
                  <c:v>1.04959719236</c:v>
                </c:pt>
                <c:pt idx="17">
                  <c:v>1.08173342073</c:v>
                </c:pt>
                <c:pt idx="18">
                  <c:v>0.990510695899</c:v>
                </c:pt>
                <c:pt idx="19">
                  <c:v>0.883907297035</c:v>
                </c:pt>
                <c:pt idx="20">
                  <c:v>0.946313239592</c:v>
                </c:pt>
                <c:pt idx="21">
                  <c:v>1.01592320842</c:v>
                </c:pt>
                <c:pt idx="22">
                  <c:v>0.991139565831</c:v>
                </c:pt>
                <c:pt idx="23">
                  <c:v>0.969075949884</c:v>
                </c:pt>
                <c:pt idx="24">
                  <c:v>0.902374222982</c:v>
                </c:pt>
                <c:pt idx="25">
                  <c:v>0.915675756736</c:v>
                </c:pt>
                <c:pt idx="26">
                  <c:v>0.978210966389</c:v>
                </c:pt>
                <c:pt idx="27">
                  <c:v>0.923130600226</c:v>
                </c:pt>
                <c:pt idx="28">
                  <c:v>0.992260353128</c:v>
                </c:pt>
                <c:pt idx="29">
                  <c:v>1.00108034408</c:v>
                </c:pt>
                <c:pt idx="30">
                  <c:v>0.999535218015</c:v>
                </c:pt>
                <c:pt idx="31">
                  <c:v>0.980090599414</c:v>
                </c:pt>
                <c:pt idx="32">
                  <c:v>0.949471101819</c:v>
                </c:pt>
                <c:pt idx="33">
                  <c:v>0.946394787474</c:v>
                </c:pt>
                <c:pt idx="34">
                  <c:v>0.958620434088</c:v>
                </c:pt>
                <c:pt idx="35">
                  <c:v>0.904997677271</c:v>
                </c:pt>
                <c:pt idx="36">
                  <c:v>0.894481874629</c:v>
                </c:pt>
                <c:pt idx="37">
                  <c:v>0.871684863199</c:v>
                </c:pt>
                <c:pt idx="38">
                  <c:v>0.872682982196</c:v>
                </c:pt>
                <c:pt idx="39">
                  <c:v>0.85539892577</c:v>
                </c:pt>
                <c:pt idx="40">
                  <c:v>0.73514559565</c:v>
                </c:pt>
                <c:pt idx="41">
                  <c:v>0.842701866878</c:v>
                </c:pt>
                <c:pt idx="42">
                  <c:v>0.836241016169</c:v>
                </c:pt>
                <c:pt idx="43">
                  <c:v>0.865945312806</c:v>
                </c:pt>
                <c:pt idx="44">
                  <c:v>0.834816432298</c:v>
                </c:pt>
                <c:pt idx="45">
                  <c:v>0.778592773639</c:v>
                </c:pt>
                <c:pt idx="46">
                  <c:v>0.770731576639</c:v>
                </c:pt>
                <c:pt idx="47">
                  <c:v>0.729474049071</c:v>
                </c:pt>
                <c:pt idx="48">
                  <c:v>1.01073611422</c:v>
                </c:pt>
                <c:pt idx="49">
                  <c:v>0.928133841589</c:v>
                </c:pt>
                <c:pt idx="50">
                  <c:v>0.921895082082</c:v>
                </c:pt>
                <c:pt idx="51">
                  <c:v>0.900509693166</c:v>
                </c:pt>
                <c:pt idx="52">
                  <c:v>0.888738796478</c:v>
                </c:pt>
                <c:pt idx="53">
                  <c:v>0.925398727491</c:v>
                </c:pt>
                <c:pt idx="54">
                  <c:v>0.924609738339</c:v>
                </c:pt>
                <c:pt idx="55">
                  <c:v>0.926806727754</c:v>
                </c:pt>
              </c:numCache>
            </c:numRef>
          </c:val>
          <c:smooth val="0"/>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Times New Roman"/>
                <a:ea typeface="Times New Roman"/>
                <a:cs typeface="Times New Roman"/>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NAV</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LR</c:v>
          </c:tx>
          <c:spPr>
            <a:solidFill xmlns:a="http://schemas.openxmlformats.org/drawingml/2006/main">
              <a:srgbClr val="7A8087"/>
            </a:solidFill>
            <a:ln xmlns:a="http://schemas.openxmlformats.org/drawingml/2006/main" w="19050">
              <a:solidFill>
                <a:srgbClr val="7A8087"/>
              </a:solidFill>
              <a:prstDash val="solid"/>
            </a:ln>
          </c:spPr>
          <c:marker>
            <c:symbol val="none"/>
          </c:marker>
          <c:cat>
            <c:strRef>
              <c:f>'Chart Data'!$A$2:$A$57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Data'!$B$2:$B$57</c:f>
              <c:numCache>
                <c:formatCode>General</c:formatCode>
                <c:ptCount val="56"/>
                <c:pt idx="0">
                  <c:v>-0.0999000999001</c:v>
                </c:pt>
                <c:pt idx="1">
                  <c:v>-4.63462174898</c:v>
                </c:pt>
                <c:pt idx="2">
                  <c:v>-1.26421610195</c:v>
                </c:pt>
                <c:pt idx="3">
                  <c:v>-6.74861823239</c:v>
                </c:pt>
                <c:pt idx="4">
                  <c:v>-12.1970476775</c:v>
                </c:pt>
                <c:pt idx="5">
                  <c:v>-7.87495047669</c:v>
                </c:pt>
                <c:pt idx="6">
                  <c:v>-3.54089610752</c:v>
                </c:pt>
                <c:pt idx="7">
                  <c:v>-4.65074213473</c:v>
                </c:pt>
                <c:pt idx="8">
                  <c:v>-3.57514772546</c:v>
                </c:pt>
                <c:pt idx="9">
                  <c:v>-6.44069246068</c:v>
                </c:pt>
                <c:pt idx="10">
                  <c:v>-6.60532176841</c:v>
                </c:pt>
                <c:pt idx="11">
                  <c:v>-6.49725376577</c:v>
                </c:pt>
                <c:pt idx="12">
                  <c:v>-6.38230977243</c:v>
                </c:pt>
                <c:pt idx="13">
                  <c:v>-12.6103613154</c:v>
                </c:pt>
                <c:pt idx="14">
                  <c:v>-17.4394063017</c:v>
                </c:pt>
                <c:pt idx="15">
                  <c:v>-13.4978191738</c:v>
                </c:pt>
                <c:pt idx="16">
                  <c:v>-17.3619619353</c:v>
                </c:pt>
                <c:pt idx="17">
                  <c:v>-12.951595451</c:v>
                </c:pt>
                <c:pt idx="18">
                  <c:v>-19.6910950069</c:v>
                </c:pt>
                <c:pt idx="19">
                  <c:v>-30.7784704508</c:v>
                </c:pt>
                <c:pt idx="20">
                  <c:v>-26.827871122</c:v>
                </c:pt>
                <c:pt idx="21">
                  <c:v>-23.1949205491</c:v>
                </c:pt>
                <c:pt idx="22">
                  <c:v>-26.5416531855</c:v>
                </c:pt>
                <c:pt idx="23">
                  <c:v>-26.8665776879</c:v>
                </c:pt>
                <c:pt idx="24">
                  <c:v>-31.4318763744</c:v>
                </c:pt>
                <c:pt idx="25">
                  <c:v>-28.4542877964</c:v>
                </c:pt>
                <c:pt idx="26">
                  <c:v>-19.0377690256</c:v>
                </c:pt>
                <c:pt idx="27">
                  <c:v>-22.8852711901</c:v>
                </c:pt>
                <c:pt idx="28">
                  <c:v>-14.4558149888</c:v>
                </c:pt>
                <c:pt idx="29">
                  <c:v>-11.5791685028</c:v>
                </c:pt>
                <c:pt idx="30">
                  <c:v>-14.0879203352</c:v>
                </c:pt>
                <c:pt idx="31">
                  <c:v>-19.1175451326</c:v>
                </c:pt>
                <c:pt idx="32">
                  <c:v>-20.8292502617</c:v>
                </c:pt>
                <c:pt idx="33">
                  <c:v>-21.8564995438</c:v>
                </c:pt>
                <c:pt idx="34">
                  <c:v>-13.1510595282</c:v>
                </c:pt>
                <c:pt idx="35">
                  <c:v>-15.8258130322</c:v>
                </c:pt>
                <c:pt idx="36">
                  <c:v>-17.6380788161</c:v>
                </c:pt>
                <c:pt idx="37">
                  <c:v>-21.7097361044</c:v>
                </c:pt>
                <c:pt idx="38">
                  <c:v>-20.8371155282</c:v>
                </c:pt>
                <c:pt idx="39">
                  <c:v>-23.089674848</c:v>
                </c:pt>
                <c:pt idx="40">
                  <c:v>-31.3229971911</c:v>
                </c:pt>
                <c:pt idx="41">
                  <c:v>-22.6715073637</c:v>
                </c:pt>
                <c:pt idx="42">
                  <c:v>-23.5602533785</c:v>
                </c:pt>
                <c:pt idx="43">
                  <c:v>-20.9156781201</c:v>
                </c:pt>
                <c:pt idx="44">
                  <c:v>-24.3038090031</c:v>
                </c:pt>
                <c:pt idx="45">
                  <c:v>-32.1292188023</c:v>
                </c:pt>
                <c:pt idx="46">
                  <c:v>-28.1677099863</c:v>
                </c:pt>
                <c:pt idx="47">
                  <c:v>-30.1788908709</c:v>
                </c:pt>
                <c:pt idx="48">
                  <c:v>0</c:v>
                </c:pt>
                <c:pt idx="49">
                  <c:v>-7.65017954715</c:v>
                </c:pt>
                <c:pt idx="50">
                  <c:v>-6.80025860796</c:v>
                </c:pt>
                <c:pt idx="51">
                  <c:v>-7.94280243826</c:v>
                </c:pt>
                <c:pt idx="52">
                  <c:v>-8.73763648158</c:v>
                </c:pt>
                <c:pt idx="53">
                  <c:v>-7.31408536489</c:v>
                </c:pt>
                <c:pt idx="54">
                  <c:v>-6.39421546385</c:v>
                </c:pt>
                <c:pt idx="55">
                  <c:v>-4.67438582426</c:v>
                </c:pt>
              </c:numCache>
            </c:numRef>
          </c:val>
          <c:smooth val="0"/>
        </c:ser>
        <c:ser>
          <c:idx val="1"/>
          <c:order val="1"/>
          <c:tx>
            <c:v>RF</c:v>
          </c:tx>
          <c:spPr>
            <a:solidFill xmlns:a="http://schemas.openxmlformats.org/drawingml/2006/main">
              <a:srgbClr val="1C5588"/>
            </a:solidFill>
            <a:ln xmlns:a="http://schemas.openxmlformats.org/drawingml/2006/main" w="19050">
              <a:solidFill>
                <a:srgbClr val="1C5588"/>
              </a:solidFill>
              <a:prstDash val="solid"/>
            </a:ln>
          </c:spPr>
          <c:marker>
            <c:symbol val="none"/>
          </c:marker>
          <c:cat>
            <c:strRef>
              <c:f>'Chart Data'!$C$2:$C$57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Data'!$D$2:$D$57</c:f>
              <c:numCache>
                <c:formatCode>General</c:formatCode>
                <c:ptCount val="56"/>
                <c:pt idx="0">
                  <c:v>-0.0999000999001</c:v>
                </c:pt>
                <c:pt idx="1">
                  <c:v>-3.49445176184</c:v>
                </c:pt>
                <c:pt idx="2">
                  <c:v>-0.88384640276</c:v>
                </c:pt>
                <c:pt idx="3">
                  <c:v>-9.04882042879</c:v>
                </c:pt>
                <c:pt idx="4">
                  <c:v>-14.8390922723</c:v>
                </c:pt>
                <c:pt idx="5">
                  <c:v>-12.568684995</c:v>
                </c:pt>
                <c:pt idx="6">
                  <c:v>-1.72417934645</c:v>
                </c:pt>
                <c:pt idx="7">
                  <c:v>-5.47877209773</c:v>
                </c:pt>
                <c:pt idx="8">
                  <c:v>-4.05288741169</c:v>
                </c:pt>
                <c:pt idx="9">
                  <c:v>-3.64572215022</c:v>
                </c:pt>
                <c:pt idx="10">
                  <c:v>-8.60142812672</c:v>
                </c:pt>
                <c:pt idx="11">
                  <c:v>-1.98312848671</c:v>
                </c:pt>
                <c:pt idx="12">
                  <c:v>-5.63213911469</c:v>
                </c:pt>
                <c:pt idx="13">
                  <c:v>-9.14593974749</c:v>
                </c:pt>
                <c:pt idx="14">
                  <c:v>-9.1566307711</c:v>
                </c:pt>
                <c:pt idx="15">
                  <c:v>-2.06434590374</c:v>
                </c:pt>
                <c:pt idx="16">
                  <c:v>-4.72447490002</c:v>
                </c:pt>
                <c:pt idx="17">
                  <c:v>-3.84521350582</c:v>
                </c:pt>
                <c:pt idx="18">
                  <c:v>-2.75462351116</c:v>
                </c:pt>
                <c:pt idx="19">
                  <c:v>-5.47236857328</c:v>
                </c:pt>
                <c:pt idx="20">
                  <c:v>-2.47193517906</c:v>
                </c:pt>
                <c:pt idx="21">
                  <c:v>-1.13412946908</c:v>
                </c:pt>
                <c:pt idx="22">
                  <c:v>-2.84470518626</c:v>
                </c:pt>
                <c:pt idx="23">
                  <c:v>-0.363907185674</c:v>
                </c:pt>
                <c:pt idx="24">
                  <c:v>-5.96664588148</c:v>
                </c:pt>
                <c:pt idx="25">
                  <c:v>-8.89534397524</c:v>
                </c:pt>
                <c:pt idx="26">
                  <c:v>-2.53297973861</c:v>
                </c:pt>
                <c:pt idx="27">
                  <c:v>-4.10949870535</c:v>
                </c:pt>
                <c:pt idx="28">
                  <c:v>-2.2506265652</c:v>
                </c:pt>
                <c:pt idx="29">
                  <c:v>-1.24333132634</c:v>
                </c:pt>
                <c:pt idx="30">
                  <c:v>-1.58076041238</c:v>
                </c:pt>
                <c:pt idx="31">
                  <c:v>0</c:v>
                </c:pt>
                <c:pt idx="32">
                  <c:v>-8.19404823118</c:v>
                </c:pt>
                <c:pt idx="33">
                  <c:v>-7.94166857935</c:v>
                </c:pt>
                <c:pt idx="34">
                  <c:v>-1.62697766991</c:v>
                </c:pt>
                <c:pt idx="35">
                  <c:v>-5.4602760874</c:v>
                </c:pt>
                <c:pt idx="36">
                  <c:v>-2.89164763785</c:v>
                </c:pt>
                <c:pt idx="37">
                  <c:v>-5.87441223259</c:v>
                </c:pt>
                <c:pt idx="38">
                  <c:v>-6.43011093526</c:v>
                </c:pt>
                <c:pt idx="39">
                  <c:v>-6.5585438993</c:v>
                </c:pt>
                <c:pt idx="40">
                  <c:v>-5.40815102573</c:v>
                </c:pt>
                <c:pt idx="41">
                  <c:v>0</c:v>
                </c:pt>
                <c:pt idx="42">
                  <c:v>0</c:v>
                </c:pt>
                <c:pt idx="43">
                  <c:v>-0.269149698518</c:v>
                </c:pt>
                <c:pt idx="44">
                  <c:v>-1.80988122623</c:v>
                </c:pt>
                <c:pt idx="45">
                  <c:v>-3.76318448349</c:v>
                </c:pt>
                <c:pt idx="46">
                  <c:v>-5.68408445274</c:v>
                </c:pt>
                <c:pt idx="47">
                  <c:v>-12.6034398423</c:v>
                </c:pt>
                <c:pt idx="48">
                  <c:v>0</c:v>
                </c:pt>
                <c:pt idx="49">
                  <c:v>-10.9667510337</c:v>
                </c:pt>
                <c:pt idx="50">
                  <c:v>-11.439816303</c:v>
                </c:pt>
                <c:pt idx="51">
                  <c:v>-9.75388074159</c:v>
                </c:pt>
                <c:pt idx="52">
                  <c:v>-12.1550622038</c:v>
                </c:pt>
                <c:pt idx="53">
                  <c:v>-15.6046478219</c:v>
                </c:pt>
                <c:pt idx="54">
                  <c:v>-13.8297593063</c:v>
                </c:pt>
                <c:pt idx="55">
                  <c:v>-12.4593823059</c:v>
                </c:pt>
              </c:numCache>
            </c:numRef>
          </c:val>
          <c:smooth val="0"/>
        </c:ser>
        <c:ser>
          <c:idx val="2"/>
          <c:order val="2"/>
          <c:tx>
            <c:v>XGB</c:v>
          </c:tx>
          <c:spPr>
            <a:solidFill xmlns:a="http://schemas.openxmlformats.org/drawingml/2006/main">
              <a:srgbClr val="BD7730"/>
            </a:solidFill>
            <a:ln xmlns:a="http://schemas.openxmlformats.org/drawingml/2006/main" w="19050">
              <a:solidFill>
                <a:srgbClr val="BD7730"/>
              </a:solidFill>
              <a:prstDash val="solid"/>
            </a:ln>
          </c:spPr>
          <c:marker>
            <c:symbol val="none"/>
          </c:marker>
          <c:cat>
            <c:strRef>
              <c:f>'Chart Data'!$E$2:$E$57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Data'!$F$2:$F$57</c:f>
              <c:numCache>
                <c:formatCode>General</c:formatCode>
                <c:ptCount val="56"/>
                <c:pt idx="0">
                  <c:v>-0.0999000999001</c:v>
                </c:pt>
                <c:pt idx="1">
                  <c:v>-4.84370814924</c:v>
                </c:pt>
                <c:pt idx="2">
                  <c:v>-1.69255009391</c:v>
                </c:pt>
                <c:pt idx="3">
                  <c:v>-4.98477287721</c:v>
                </c:pt>
                <c:pt idx="4">
                  <c:v>-10.877154791</c:v>
                </c:pt>
                <c:pt idx="5">
                  <c:v>-7.07356556166</c:v>
                </c:pt>
                <c:pt idx="6">
                  <c:v>0</c:v>
                </c:pt>
                <c:pt idx="7">
                  <c:v>-6.27221401206</c:v>
                </c:pt>
                <c:pt idx="8">
                  <c:v>-3.21175877435</c:v>
                </c:pt>
                <c:pt idx="9">
                  <c:v>-4.74241722834</c:v>
                </c:pt>
                <c:pt idx="10">
                  <c:v>-10.7104666496</c:v>
                </c:pt>
                <c:pt idx="11">
                  <c:v>-3.89228395629</c:v>
                </c:pt>
                <c:pt idx="12">
                  <c:v>-5.81881170474</c:v>
                </c:pt>
                <c:pt idx="13">
                  <c:v>-10.3507886905</c:v>
                </c:pt>
                <c:pt idx="14">
                  <c:v>-10.0226719784</c:v>
                </c:pt>
                <c:pt idx="15">
                  <c:v>-2.93151024198</c:v>
                </c:pt>
                <c:pt idx="16">
                  <c:v>-6.83774377809</c:v>
                </c:pt>
                <c:pt idx="17">
                  <c:v>-4.6375679627</c:v>
                </c:pt>
                <c:pt idx="18">
                  <c:v>-7.73698718024</c:v>
                </c:pt>
                <c:pt idx="19">
                  <c:v>-16.0524099239</c:v>
                </c:pt>
                <c:pt idx="20">
                  <c:v>-13.0546267944</c:v>
                </c:pt>
                <c:pt idx="21">
                  <c:v>-12.6871124483</c:v>
                </c:pt>
                <c:pt idx="22">
                  <c:v>-12.8964398011</c:v>
                </c:pt>
                <c:pt idx="23">
                  <c:v>-12.5547269412</c:v>
                </c:pt>
                <c:pt idx="24">
                  <c:v>-15.6784574895</c:v>
                </c:pt>
                <c:pt idx="25">
                  <c:v>-18.2060680832</c:v>
                </c:pt>
                <c:pt idx="26">
                  <c:v>-12.4598654297</c:v>
                </c:pt>
                <c:pt idx="27">
                  <c:v>-14.7832381138</c:v>
                </c:pt>
                <c:pt idx="28">
                  <c:v>-11.2052263218</c:v>
                </c:pt>
                <c:pt idx="29">
                  <c:v>-10.8696883479</c:v>
                </c:pt>
                <c:pt idx="30">
                  <c:v>-9.49060493044</c:v>
                </c:pt>
                <c:pt idx="31">
                  <c:v>-5.96752771523</c:v>
                </c:pt>
                <c:pt idx="32">
                  <c:v>-7.50474885793</c:v>
                </c:pt>
                <c:pt idx="33">
                  <c:v>-9.0371299494</c:v>
                </c:pt>
                <c:pt idx="34">
                  <c:v>-2.84236506129</c:v>
                </c:pt>
                <c:pt idx="35">
                  <c:v>-7.27699418537</c:v>
                </c:pt>
                <c:pt idx="36">
                  <c:v>-4.86896985175</c:v>
                </c:pt>
                <c:pt idx="37">
                  <c:v>-7.67946153212</c:v>
                </c:pt>
                <c:pt idx="38">
                  <c:v>-6.85191451783</c:v>
                </c:pt>
                <c:pt idx="39">
                  <c:v>-7.37251902187</c:v>
                </c:pt>
                <c:pt idx="40">
                  <c:v>-4.5057222726</c:v>
                </c:pt>
                <c:pt idx="41">
                  <c:v>0</c:v>
                </c:pt>
                <c:pt idx="42">
                  <c:v>0</c:v>
                </c:pt>
                <c:pt idx="43">
                  <c:v>-0.983723407831</c:v>
                </c:pt>
                <c:pt idx="44">
                  <c:v>-2.37273209931</c:v>
                </c:pt>
                <c:pt idx="45">
                  <c:v>-4.2263513815</c:v>
                </c:pt>
                <c:pt idx="46">
                  <c:v>-4.80329144172</c:v>
                </c:pt>
                <c:pt idx="47">
                  <c:v>-9.68581065094</c:v>
                </c:pt>
                <c:pt idx="48">
                  <c:v>0</c:v>
                </c:pt>
                <c:pt idx="49">
                  <c:v>0</c:v>
                </c:pt>
                <c:pt idx="50">
                  <c:v>-4.98247723541</c:v>
                </c:pt>
                <c:pt idx="51">
                  <c:v>-3.20149579979</c:v>
                </c:pt>
                <c:pt idx="52">
                  <c:v>-5.36833220651</c:v>
                </c:pt>
                <c:pt idx="53">
                  <c:v>-8.52602269419</c:v>
                </c:pt>
                <c:pt idx="54">
                  <c:v>-4.63506940846</c:v>
                </c:pt>
                <c:pt idx="55">
                  <c:v>-4.00823855529</c:v>
                </c:pt>
              </c:numCache>
            </c:numRef>
          </c:val>
          <c:smooth val="0"/>
        </c:ser>
        <c:ser>
          <c:idx val="3"/>
          <c:order val="3"/>
          <c:tx>
            <c:v>LGBM</c:v>
          </c:tx>
          <c:spPr>
            <a:solidFill xmlns:a="http://schemas.openxmlformats.org/drawingml/2006/main">
              <a:srgbClr val="28776B"/>
            </a:solidFill>
            <a:ln xmlns:a="http://schemas.openxmlformats.org/drawingml/2006/main" w="19050">
              <a:solidFill>
                <a:srgbClr val="28776B"/>
              </a:solidFill>
              <a:prstDash val="solid"/>
            </a:ln>
          </c:spPr>
          <c:marker>
            <c:symbol val="none"/>
          </c:marker>
          <c:cat>
            <c:strRef>
              <c:f>'Chart Data'!$G$2:$G$57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Data'!$H$2:$H$57</c:f>
              <c:numCache>
                <c:formatCode>General</c:formatCode>
                <c:ptCount val="56"/>
                <c:pt idx="0">
                  <c:v>-0.0999000999001</c:v>
                </c:pt>
                <c:pt idx="1">
                  <c:v>-3.79726971948</c:v>
                </c:pt>
                <c:pt idx="2">
                  <c:v>-1.38434126346</c:v>
                </c:pt>
                <c:pt idx="3">
                  <c:v>-4.23836926821</c:v>
                </c:pt>
                <c:pt idx="4">
                  <c:v>-9.56482376778</c:v>
                </c:pt>
                <c:pt idx="5">
                  <c:v>-6.73006471394</c:v>
                </c:pt>
                <c:pt idx="6">
                  <c:v>0</c:v>
                </c:pt>
                <c:pt idx="7">
                  <c:v>-4.21918579884</c:v>
                </c:pt>
                <c:pt idx="8">
                  <c:v>-2.7720220971</c:v>
                </c:pt>
                <c:pt idx="9">
                  <c:v>-3.61279068937</c:v>
                </c:pt>
                <c:pt idx="10">
                  <c:v>-9.18806373963</c:v>
                </c:pt>
                <c:pt idx="11">
                  <c:v>-3.40852330155</c:v>
                </c:pt>
                <c:pt idx="12">
                  <c:v>-5.83969633462</c:v>
                </c:pt>
                <c:pt idx="13">
                  <c:v>-10.6263790805</c:v>
                </c:pt>
                <c:pt idx="14">
                  <c:v>-9.36309123924</c:v>
                </c:pt>
                <c:pt idx="15">
                  <c:v>-3.04995009968</c:v>
                </c:pt>
                <c:pt idx="16">
                  <c:v>-4.26301296337</c:v>
                </c:pt>
                <c:pt idx="17">
                  <c:v>-3.28643125765</c:v>
                </c:pt>
                <c:pt idx="18">
                  <c:v>-8.90524399398</c:v>
                </c:pt>
                <c:pt idx="19">
                  <c:v>-13.2804975845</c:v>
                </c:pt>
                <c:pt idx="20">
                  <c:v>-10.8230148755</c:v>
                </c:pt>
                <c:pt idx="21">
                  <c:v>-9.80660636505</c:v>
                </c:pt>
                <c:pt idx="22">
                  <c:v>-10.883959001</c:v>
                </c:pt>
                <c:pt idx="23">
                  <c:v>-8.1713990623</c:v>
                </c:pt>
                <c:pt idx="24">
                  <c:v>-10.5160504116</c:v>
                </c:pt>
                <c:pt idx="25">
                  <c:v>-11.4724768951</c:v>
                </c:pt>
                <c:pt idx="26">
                  <c:v>-4.88779402447</c:v>
                </c:pt>
                <c:pt idx="27">
                  <c:v>-8.18343295274</c:v>
                </c:pt>
                <c:pt idx="28">
                  <c:v>-4.27260086866</c:v>
                </c:pt>
                <c:pt idx="29">
                  <c:v>-1.36218805528</c:v>
                </c:pt>
                <c:pt idx="30">
                  <c:v>-0.174470063549</c:v>
                </c:pt>
                <c:pt idx="31">
                  <c:v>0</c:v>
                </c:pt>
                <c:pt idx="32">
                  <c:v>-6.1887703256</c:v>
                </c:pt>
                <c:pt idx="33">
                  <c:v>-7.17213046644</c:v>
                </c:pt>
                <c:pt idx="34">
                  <c:v>-1.80260612803</c:v>
                </c:pt>
                <c:pt idx="35">
                  <c:v>-6.31042973248</c:v>
                </c:pt>
                <c:pt idx="36">
                  <c:v>-5.19758346434</c:v>
                </c:pt>
                <c:pt idx="37">
                  <c:v>-7.9736943881</c:v>
                </c:pt>
                <c:pt idx="38">
                  <c:v>-7.09385924691</c:v>
                </c:pt>
                <c:pt idx="39">
                  <c:v>-8.65605398443</c:v>
                </c:pt>
                <c:pt idx="40">
                  <c:v>-7.27743066543</c:v>
                </c:pt>
                <c:pt idx="41">
                  <c:v>0</c:v>
                </c:pt>
                <c:pt idx="42">
                  <c:v>-0.578564923892</c:v>
                </c:pt>
                <c:pt idx="43">
                  <c:v>0</c:v>
                </c:pt>
                <c:pt idx="44">
                  <c:v>-3.44171866587</c:v>
                </c:pt>
                <c:pt idx="45">
                  <c:v>-9.3942388934</c:v>
                </c:pt>
                <c:pt idx="46">
                  <c:v>-9.68602842594</c:v>
                </c:pt>
                <c:pt idx="47">
                  <c:v>-14.617391516</c:v>
                </c:pt>
                <c:pt idx="48">
                  <c:v>0</c:v>
                </c:pt>
                <c:pt idx="49">
                  <c:v>0</c:v>
                </c:pt>
                <c:pt idx="50">
                  <c:v>-3.56546498703</c:v>
                </c:pt>
                <c:pt idx="51">
                  <c:v>-1.27059938519</c:v>
                </c:pt>
                <c:pt idx="52">
                  <c:v>-3.19078241454</c:v>
                </c:pt>
                <c:pt idx="53">
                  <c:v>-4.03213938464</c:v>
                </c:pt>
                <c:pt idx="54">
                  <c:v>-0.860618939336</c:v>
                </c:pt>
                <c:pt idx="55">
                  <c:v>0</c:v>
                </c:pt>
              </c:numCache>
            </c:numRef>
          </c:val>
          <c:smooth val="0"/>
        </c:ser>
        <c:ser>
          <c:idx val="4"/>
          <c:order val="4"/>
          <c:tx>
            <c:v>CSI 500</c:v>
          </c:tx>
          <c:spPr>
            <a:solidFill xmlns:a="http://schemas.openxmlformats.org/drawingml/2006/main">
              <a:srgbClr val="222222"/>
            </a:solidFill>
            <a:ln xmlns:a="http://schemas.openxmlformats.org/drawingml/2006/main" w="19050">
              <a:solidFill>
                <a:srgbClr val="222222"/>
              </a:solidFill>
              <a:prstDash val="solid"/>
            </a:ln>
          </c:spPr>
          <c:marker>
            <c:symbol val="none"/>
          </c:marker>
          <c:cat>
            <c:strRef>
              <c:f>'Chart Data'!$I$2:$I$57</c:f>
              <c:strCache>
                <c:ptCount val="56"/>
                <c:pt idx="0">
                  <c:v>2020-10</c:v>
                </c:pt>
                <c:pt idx="1">
                  <c:v>2020-11</c:v>
                </c:pt>
                <c:pt idx="2">
                  <c:v>2020-12</c:v>
                </c:pt>
                <c:pt idx="3">
                  <c:v>2021-01</c:v>
                </c:pt>
                <c:pt idx="4">
                  <c:v>2021-02</c:v>
                </c:pt>
                <c:pt idx="5">
                  <c:v>2021-03</c:v>
                </c:pt>
                <c:pt idx="6">
                  <c:v>2021-04</c:v>
                </c:pt>
                <c:pt idx="7">
                  <c:v>2021-05</c:v>
                </c:pt>
                <c:pt idx="8">
                  <c:v>2021-06</c:v>
                </c:pt>
                <c:pt idx="9">
                  <c:v>2021-07</c:v>
                </c:pt>
                <c:pt idx="10">
                  <c:v>2021-08</c:v>
                </c:pt>
                <c:pt idx="11">
                  <c:v>2021-09</c:v>
                </c:pt>
                <c:pt idx="12">
                  <c:v>2021-10</c:v>
                </c:pt>
                <c:pt idx="13">
                  <c:v>2021-11</c:v>
                </c:pt>
                <c:pt idx="14">
                  <c:v>2021-12</c:v>
                </c:pt>
                <c:pt idx="15">
                  <c:v>2022-01</c:v>
                </c:pt>
                <c:pt idx="16">
                  <c:v>2022-02</c:v>
                </c:pt>
                <c:pt idx="17">
                  <c:v>2022-03</c:v>
                </c:pt>
                <c:pt idx="18">
                  <c:v>2022-04</c:v>
                </c:pt>
                <c:pt idx="19">
                  <c:v>2022-05</c:v>
                </c:pt>
                <c:pt idx="20">
                  <c:v>2022-06</c:v>
                </c:pt>
                <c:pt idx="21">
                  <c:v>2022-07</c:v>
                </c:pt>
                <c:pt idx="22">
                  <c:v>2022-08</c:v>
                </c:pt>
                <c:pt idx="23">
                  <c:v>2022-09</c:v>
                </c:pt>
                <c:pt idx="24">
                  <c:v>2022-10</c:v>
                </c:pt>
                <c:pt idx="25">
                  <c:v>2022-11</c:v>
                </c:pt>
                <c:pt idx="26">
                  <c:v>2022-12</c:v>
                </c:pt>
                <c:pt idx="27">
                  <c:v>2023-01</c:v>
                </c:pt>
                <c:pt idx="28">
                  <c:v>2023-02</c:v>
                </c:pt>
                <c:pt idx="29">
                  <c:v>2023-03</c:v>
                </c:pt>
                <c:pt idx="30">
                  <c:v>2023-04</c:v>
                </c:pt>
                <c:pt idx="31">
                  <c:v>2023-05</c:v>
                </c:pt>
                <c:pt idx="32">
                  <c:v>2023-06</c:v>
                </c:pt>
                <c:pt idx="33">
                  <c:v>2023-07</c:v>
                </c:pt>
                <c:pt idx="34">
                  <c:v>2023-08</c:v>
                </c:pt>
                <c:pt idx="35">
                  <c:v>2023-09</c:v>
                </c:pt>
                <c:pt idx="36">
                  <c:v>2023-10</c:v>
                </c:pt>
                <c:pt idx="37">
                  <c:v>2023-11</c:v>
                </c:pt>
                <c:pt idx="38">
                  <c:v>2023-12</c:v>
                </c:pt>
                <c:pt idx="39">
                  <c:v>2024-01</c:v>
                </c:pt>
                <c:pt idx="40">
                  <c:v>2024-02</c:v>
                </c:pt>
                <c:pt idx="41">
                  <c:v>2024-03</c:v>
                </c:pt>
                <c:pt idx="42">
                  <c:v>2024-04</c:v>
                </c:pt>
                <c:pt idx="43">
                  <c:v>2024-05</c:v>
                </c:pt>
                <c:pt idx="44">
                  <c:v>2024-06</c:v>
                </c:pt>
                <c:pt idx="45">
                  <c:v>2024-07</c:v>
                </c:pt>
                <c:pt idx="46">
                  <c:v>2024-08</c:v>
                </c:pt>
                <c:pt idx="47">
                  <c:v>2024-09</c:v>
                </c:pt>
                <c:pt idx="48">
                  <c:v>2024-10</c:v>
                </c:pt>
                <c:pt idx="49">
                  <c:v>2024-11</c:v>
                </c:pt>
                <c:pt idx="50">
                  <c:v>2024-12</c:v>
                </c:pt>
                <c:pt idx="51">
                  <c:v>2025-01</c:v>
                </c:pt>
                <c:pt idx="52">
                  <c:v>2025-02</c:v>
                </c:pt>
                <c:pt idx="53">
                  <c:v>2025-03</c:v>
                </c:pt>
                <c:pt idx="54">
                  <c:v>2025-04</c:v>
                </c:pt>
                <c:pt idx="55">
                  <c:v>2025-04</c:v>
                </c:pt>
              </c:strCache>
            </c:strRef>
          </c:cat>
          <c:val>
            <c:numRef>
              <c:f>'Chart Data'!$J$2:$J$57</c:f>
              <c:numCache>
                <c:formatCode>General</c:formatCode>
                <c:ptCount val="56"/>
                <c:pt idx="0">
                  <c:v>0</c:v>
                </c:pt>
                <c:pt idx="1">
                  <c:v>-4.77331683419</c:v>
                </c:pt>
                <c:pt idx="2">
                  <c:v>-2.79540396569</c:v>
                </c:pt>
                <c:pt idx="3">
                  <c:v>-1.4430546445</c:v>
                </c:pt>
                <c:pt idx="4">
                  <c:v>-4.48410567969</c:v>
                </c:pt>
                <c:pt idx="5">
                  <c:v>-4.81825655224</c:v>
                </c:pt>
                <c:pt idx="6">
                  <c:v>-7.01316974358</c:v>
                </c:pt>
                <c:pt idx="7">
                  <c:v>-3.38563941433</c:v>
                </c:pt>
                <c:pt idx="8">
                  <c:v>-0.191073158762</c:v>
                </c:pt>
                <c:pt idx="9">
                  <c:v>-0.0784378118343</c:v>
                </c:pt>
                <c:pt idx="10">
                  <c:v>-3.97204188868</c:v>
                </c:pt>
                <c:pt idx="11">
                  <c:v>0</c:v>
                </c:pt>
                <c:pt idx="12">
                  <c:v>-5.75948495942</c:v>
                </c:pt>
                <c:pt idx="13">
                  <c:v>-8.19904786646</c:v>
                </c:pt>
                <c:pt idx="14">
                  <c:v>-5.13172860741</c:v>
                </c:pt>
                <c:pt idx="15">
                  <c:v>-3.18331624822</c:v>
                </c:pt>
                <c:pt idx="16">
                  <c:v>-12.6612913995</c:v>
                </c:pt>
                <c:pt idx="17">
                  <c:v>-9.98718298401</c:v>
                </c:pt>
                <c:pt idx="18">
                  <c:v>-17.5779759468</c:v>
                </c:pt>
                <c:pt idx="19">
                  <c:v>-26.448620092</c:v>
                </c:pt>
                <c:pt idx="20">
                  <c:v>-21.2557189757</c:v>
                </c:pt>
                <c:pt idx="21">
                  <c:v>-15.4633589855</c:v>
                </c:pt>
                <c:pt idx="22">
                  <c:v>-17.5256466455</c:v>
                </c:pt>
                <c:pt idx="23">
                  <c:v>-19.3615964155</c:v>
                </c:pt>
                <c:pt idx="24">
                  <c:v>-24.9119568122</c:v>
                </c:pt>
                <c:pt idx="25">
                  <c:v>-23.8051143122</c:v>
                </c:pt>
                <c:pt idx="26">
                  <c:v>-18.6014566682</c:v>
                </c:pt>
                <c:pt idx="27">
                  <c:v>-23.1847845247</c:v>
                </c:pt>
                <c:pt idx="28">
                  <c:v>-17.4323840912</c:v>
                </c:pt>
                <c:pt idx="29">
                  <c:v>-16.698458138</c:v>
                </c:pt>
                <c:pt idx="30">
                  <c:v>-16.8270306193</c:v>
                </c:pt>
                <c:pt idx="31">
                  <c:v>-18.4450493127</c:v>
                </c:pt>
                <c:pt idx="32">
                  <c:v>-20.9929480661</c:v>
                </c:pt>
                <c:pt idx="33">
                  <c:v>-21.2489332422</c:v>
                </c:pt>
                <c:pt idx="34">
                  <c:v>-20.2316170805</c:v>
                </c:pt>
                <c:pt idx="35">
                  <c:v>-24.6936548661</c:v>
                </c:pt>
                <c:pt idx="36">
                  <c:v>-25.5686920989</c:v>
                </c:pt>
                <c:pt idx="37">
                  <c:v>-27.4656689131</c:v>
                </c:pt>
                <c:pt idx="38">
                  <c:v>-27.3826137898</c:v>
                </c:pt>
                <c:pt idx="39">
                  <c:v>-28.8208485514</c:v>
                </c:pt>
                <c:pt idx="40">
                  <c:v>-38.8273259258</c:v>
                </c:pt>
                <c:pt idx="41">
                  <c:v>-29.877391704</c:v>
                </c:pt>
                <c:pt idx="42">
                  <c:v>-30.4150097174</c:v>
                </c:pt>
                <c:pt idx="43">
                  <c:v>-27.943266341</c:v>
                </c:pt>
                <c:pt idx="44">
                  <c:v>-30.5335516842</c:v>
                </c:pt>
                <c:pt idx="45">
                  <c:v>-35.2120147898</c:v>
                </c:pt>
                <c:pt idx="46">
                  <c:v>-35.866157921</c:v>
                </c:pt>
                <c:pt idx="47">
                  <c:v>-39.2992646443</c:v>
                </c:pt>
                <c:pt idx="48">
                  <c:v>-15.8949856247</c:v>
                </c:pt>
                <c:pt idx="49">
                  <c:v>-22.7684565823</c:v>
                </c:pt>
                <c:pt idx="50">
                  <c:v>-23.2875940215</c:v>
                </c:pt>
                <c:pt idx="51">
                  <c:v>-25.0671074047</c:v>
                </c:pt>
                <c:pt idx="52">
                  <c:v>-26.0465830772</c:v>
                </c:pt>
                <c:pt idx="53">
                  <c:v>-22.9960499247</c:v>
                </c:pt>
                <c:pt idx="54">
                  <c:v>-23.0617030097</c:v>
                </c:pt>
                <c:pt idx="55">
                  <c:v>-22.8788879071</c:v>
                </c:pt>
              </c:numCache>
            </c:numRef>
          </c:val>
          <c:smooth val="0"/>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Times New Roman"/>
                <a:ea typeface="Times New Roman"/>
                <a:cs typeface="Times New Roman"/>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Drawdown (%)</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LR</c:v>
          </c:tx>
          <c:spPr>
            <a:solidFill xmlns:a="http://schemas.openxmlformats.org/drawingml/2006/main">
              <a:srgbClr val="7A8087"/>
            </a:solidFill>
            <a:ln xmlns:a="http://schemas.openxmlformats.org/drawingml/2006/main" w="19050">
              <a:solidFill>
                <a:srgbClr val="7A8087"/>
              </a:solidFill>
              <a:prstDash val="solid"/>
            </a:ln>
          </c:spPr>
          <c:marker>
            <c:symbol val="none"/>
          </c:marker>
          <c:cat>
            <c:numRef>
              <c:f>'Chart Data'!$A$2:$A$5</c:f>
              <c:numCache>
                <c:formatCode>General</c:formatCode>
                <c:ptCount val="4"/>
                <c:pt idx="0">
                  <c:v>0</c:v>
                </c:pt>
                <c:pt idx="1">
                  <c:v>5</c:v>
                </c:pt>
                <c:pt idx="2">
                  <c:v>10</c:v>
                </c:pt>
                <c:pt idx="3">
                  <c:v>20</c:v>
                </c:pt>
              </c:numCache>
            </c:numRef>
          </c:cat>
          <c:val>
            <c:numRef>
              <c:f>'Chart Data'!$B$2:$B$5</c:f>
              <c:numCache>
                <c:formatCode>General</c:formatCode>
                <c:ptCount val="4"/>
                <c:pt idx="0">
                  <c:v>0.777791357313</c:v>
                </c:pt>
                <c:pt idx="1">
                  <c:v>0.211438711472</c:v>
                </c:pt>
                <c:pt idx="2">
                  <c:v>-0.351420299833</c:v>
                </c:pt>
                <c:pt idx="3">
                  <c:v>-1.46677079453</c:v>
                </c:pt>
              </c:numCache>
            </c:numRef>
          </c:val>
          <c:smooth val="0"/>
        </c:ser>
        <c:ser>
          <c:idx val="1"/>
          <c:order val="1"/>
          <c:tx>
            <c:v>RF</c:v>
          </c:tx>
          <c:spPr>
            <a:solidFill xmlns:a="http://schemas.openxmlformats.org/drawingml/2006/main">
              <a:srgbClr val="1C5588"/>
            </a:solidFill>
            <a:ln xmlns:a="http://schemas.openxmlformats.org/drawingml/2006/main" w="19050">
              <a:solidFill>
                <a:srgbClr val="1C5588"/>
              </a:solidFill>
              <a:prstDash val="solid"/>
            </a:ln>
          </c:spPr>
          <c:marker>
            <c:symbol val="none"/>
          </c:marker>
          <c:cat>
            <c:numRef>
              <c:f>'Chart Data'!$C$2:$C$5</c:f>
              <c:numCache>
                <c:formatCode>General</c:formatCode>
                <c:ptCount val="4"/>
                <c:pt idx="0">
                  <c:v>0</c:v>
                </c:pt>
                <c:pt idx="1">
                  <c:v>5</c:v>
                </c:pt>
                <c:pt idx="2">
                  <c:v>10</c:v>
                </c:pt>
                <c:pt idx="3">
                  <c:v>20</c:v>
                </c:pt>
              </c:numCache>
            </c:numRef>
          </c:cat>
          <c:val>
            <c:numRef>
              <c:f>'Chart Data'!$D$2:$D$5</c:f>
              <c:numCache>
                <c:formatCode>General</c:formatCode>
                <c:ptCount val="4"/>
                <c:pt idx="0">
                  <c:v>13.0996066484</c:v>
                </c:pt>
                <c:pt idx="1">
                  <c:v>12.3397264862</c:v>
                </c:pt>
                <c:pt idx="2">
                  <c:v>11.5853240161</c:v>
                </c:pt>
                <c:pt idx="3">
                  <c:v>10.0927571841</c:v>
                </c:pt>
              </c:numCache>
            </c:numRef>
          </c:val>
          <c:smooth val="0"/>
        </c:ser>
        <c:ser>
          <c:idx val="2"/>
          <c:order val="2"/>
          <c:tx>
            <c:v>XGB</c:v>
          </c:tx>
          <c:spPr>
            <a:solidFill xmlns:a="http://schemas.openxmlformats.org/drawingml/2006/main">
              <a:srgbClr val="BD7730"/>
            </a:solidFill>
            <a:ln xmlns:a="http://schemas.openxmlformats.org/drawingml/2006/main" w="19050">
              <a:solidFill>
                <a:srgbClr val="BD7730"/>
              </a:solidFill>
              <a:prstDash val="solid"/>
            </a:ln>
          </c:spPr>
          <c:marker>
            <c:symbol val="none"/>
          </c:marker>
          <c:cat>
            <c:numRef>
              <c:f>'Chart Data'!$E$2:$E$5</c:f>
              <c:numCache>
                <c:formatCode>General</c:formatCode>
                <c:ptCount val="4"/>
                <c:pt idx="0">
                  <c:v>0</c:v>
                </c:pt>
                <c:pt idx="1">
                  <c:v>5</c:v>
                </c:pt>
                <c:pt idx="2">
                  <c:v>10</c:v>
                </c:pt>
                <c:pt idx="3">
                  <c:v>20</c:v>
                </c:pt>
              </c:numCache>
            </c:numRef>
          </c:cat>
          <c:val>
            <c:numRef>
              <c:f>'Chart Data'!$F$2:$F$5</c:f>
              <c:numCache>
                <c:formatCode>General</c:formatCode>
                <c:ptCount val="4"/>
                <c:pt idx="0">
                  <c:v>12.5878210572</c:v>
                </c:pt>
                <c:pt idx="1">
                  <c:v>11.956605326</c:v>
                </c:pt>
                <c:pt idx="2">
                  <c:v>11.3292671486</c:v>
                </c:pt>
                <c:pt idx="3">
                  <c:v>10.0860888593</c:v>
                </c:pt>
              </c:numCache>
            </c:numRef>
          </c:val>
          <c:smooth val="0"/>
        </c:ser>
        <c:ser>
          <c:idx val="3"/>
          <c:order val="3"/>
          <c:tx>
            <c:v>LGBM</c:v>
          </c:tx>
          <c:spPr>
            <a:solidFill xmlns:a="http://schemas.openxmlformats.org/drawingml/2006/main">
              <a:srgbClr val="28776B"/>
            </a:solidFill>
            <a:ln xmlns:a="http://schemas.openxmlformats.org/drawingml/2006/main" w="19050">
              <a:solidFill>
                <a:srgbClr val="28776B"/>
              </a:solidFill>
              <a:prstDash val="solid"/>
            </a:ln>
          </c:spPr>
          <c:marker>
            <c:symbol val="none"/>
          </c:marker>
          <c:cat>
            <c:numRef>
              <c:f>'Chart Data'!$G$2:$G$5</c:f>
              <c:numCache>
                <c:formatCode>General</c:formatCode>
                <c:ptCount val="4"/>
                <c:pt idx="0">
                  <c:v>0</c:v>
                </c:pt>
                <c:pt idx="1">
                  <c:v>5</c:v>
                </c:pt>
                <c:pt idx="2">
                  <c:v>10</c:v>
                </c:pt>
                <c:pt idx="3">
                  <c:v>20</c:v>
                </c:pt>
              </c:numCache>
            </c:numRef>
          </c:cat>
          <c:val>
            <c:numRef>
              <c:f>'Chart Data'!$H$2:$H$5</c:f>
              <c:numCache>
                <c:formatCode>General</c:formatCode>
                <c:ptCount val="4"/>
                <c:pt idx="0">
                  <c:v>16.010459916</c:v>
                </c:pt>
                <c:pt idx="1">
                  <c:v>15.3618062744</c:v>
                </c:pt>
                <c:pt idx="2">
                  <c:v>14.7171713741</c:v>
                </c:pt>
                <c:pt idx="3">
                  <c:v>13.4398384519</c:v>
                </c:pt>
              </c:numCache>
            </c:numRef>
          </c:val>
          <c:smooth val="0"/>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One-way transaction cost (bps)</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Times New Roman"/>
                <a:ea typeface="Times New Roman"/>
                <a:cs typeface="Times New Roman"/>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Annual return (%)</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LR</c:v>
          </c:tx>
          <c:spPr>
            <a:solidFill xmlns:a="http://schemas.openxmlformats.org/drawingml/2006/main">
              <a:srgbClr val="7A8087"/>
            </a:solidFill>
            <a:ln xmlns:a="http://schemas.openxmlformats.org/drawingml/2006/main" w="19050">
              <a:solidFill>
                <a:srgbClr val="7A8087"/>
              </a:solidFill>
              <a:prstDash val="solid"/>
            </a:ln>
          </c:spPr>
          <c:invertIfNegative val="0"/>
          <c:cat>
            <c:strRef>
              <c:f>'Chart Data'!$A$2:$A$4</c:f>
              <c:strCache>
                <c:ptCount val="3"/>
                <c:pt idx="0">
                  <c:v>All factors</c:v>
                </c:pt>
                <c:pt idx="1">
                  <c:v>Fundamentals only</c:v>
                </c:pt>
                <c:pt idx="2">
                  <c:v>Market only</c:v>
                </c:pt>
              </c:strCache>
            </c:strRef>
          </c:cat>
          <c:val>
            <c:numRef>
              <c:f>'Chart Data'!$B$2:$B$4</c:f>
              <c:numCache>
                <c:formatCode>0.000</c:formatCode>
                <c:ptCount val="3"/>
                <c:pt idx="0">
                  <c:v>0.0443447965744</c:v>
                </c:pt>
                <c:pt idx="1">
                  <c:v>-0.017469979207</c:v>
                </c:pt>
                <c:pt idx="2">
                  <c:v>0.051237848763</c:v>
                </c:pt>
              </c:numCache>
            </c:numRef>
          </c:val>
        </c:ser>
        <c:ser>
          <c:idx val="1"/>
          <c:order val="1"/>
          <c:tx>
            <c:v>RF</c:v>
          </c:tx>
          <c:spPr>
            <a:solidFill xmlns:a="http://schemas.openxmlformats.org/drawingml/2006/main">
              <a:srgbClr val="1C5588"/>
            </a:solidFill>
            <a:ln xmlns:a="http://schemas.openxmlformats.org/drawingml/2006/main" w="19050">
              <a:solidFill>
                <a:srgbClr val="1C5588"/>
              </a:solidFill>
              <a:prstDash val="solid"/>
            </a:ln>
          </c:spPr>
          <c:invertIfNegative val="0"/>
          <c:cat>
            <c:strRef>
              <c:f>'Chart Data'!$C$2:$C$4</c:f>
              <c:strCache>
                <c:ptCount val="3"/>
                <c:pt idx="0">
                  <c:v>All factors</c:v>
                </c:pt>
                <c:pt idx="1">
                  <c:v>Fundamentals only</c:v>
                </c:pt>
                <c:pt idx="2">
                  <c:v>Market only</c:v>
                </c:pt>
              </c:strCache>
            </c:strRef>
          </c:cat>
          <c:val>
            <c:numRef>
              <c:f>'Chart Data'!$D$2:$D$4</c:f>
              <c:numCache>
                <c:formatCode>0.000</c:formatCode>
                <c:ptCount val="3"/>
                <c:pt idx="0">
                  <c:v>0.0813712035607</c:v>
                </c:pt>
                <c:pt idx="1">
                  <c:v>0.0409453197747</c:v>
                </c:pt>
                <c:pt idx="2">
                  <c:v>0.0554871445357</c:v>
                </c:pt>
              </c:numCache>
            </c:numRef>
          </c:val>
        </c:ser>
        <c:ser>
          <c:idx val="2"/>
          <c:order val="2"/>
          <c:tx>
            <c:v>XGB</c:v>
          </c:tx>
          <c:spPr>
            <a:solidFill xmlns:a="http://schemas.openxmlformats.org/drawingml/2006/main">
              <a:srgbClr val="BD7730"/>
            </a:solidFill>
            <a:ln xmlns:a="http://schemas.openxmlformats.org/drawingml/2006/main" w="19050">
              <a:solidFill>
                <a:srgbClr val="BD7730"/>
              </a:solidFill>
              <a:prstDash val="solid"/>
            </a:ln>
          </c:spPr>
          <c:invertIfNegative val="0"/>
          <c:cat>
            <c:strRef>
              <c:f>'Chart Data'!$E$2:$E$4</c:f>
              <c:strCache>
                <c:ptCount val="3"/>
                <c:pt idx="0">
                  <c:v>All factors</c:v>
                </c:pt>
                <c:pt idx="1">
                  <c:v>Fundamentals only</c:v>
                </c:pt>
                <c:pt idx="2">
                  <c:v>Market only</c:v>
                </c:pt>
              </c:strCache>
            </c:strRef>
          </c:cat>
          <c:val>
            <c:numRef>
              <c:f>'Chart Data'!$F$2:$F$4</c:f>
              <c:numCache>
                <c:formatCode>0.000</c:formatCode>
                <c:ptCount val="3"/>
                <c:pt idx="0">
                  <c:v>0.0777978522757</c:v>
                </c:pt>
                <c:pt idx="1">
                  <c:v>0.0366727562554</c:v>
                </c:pt>
                <c:pt idx="2">
                  <c:v>0.0456813296223</c:v>
                </c:pt>
              </c:numCache>
            </c:numRef>
          </c:val>
        </c:ser>
        <c:ser>
          <c:idx val="3"/>
          <c:order val="3"/>
          <c:tx>
            <c:v>LGBM</c:v>
          </c:tx>
          <c:spPr>
            <a:solidFill xmlns:a="http://schemas.openxmlformats.org/drawingml/2006/main">
              <a:srgbClr val="28776B"/>
            </a:solidFill>
            <a:ln xmlns:a="http://schemas.openxmlformats.org/drawingml/2006/main" w="19050">
              <a:solidFill>
                <a:srgbClr val="28776B"/>
              </a:solidFill>
              <a:prstDash val="solid"/>
            </a:ln>
          </c:spPr>
          <c:invertIfNegative val="0"/>
          <c:cat>
            <c:strRef>
              <c:f>'Chart Data'!$G$2:$G$4</c:f>
              <c:strCache>
                <c:ptCount val="3"/>
                <c:pt idx="0">
                  <c:v>All factors</c:v>
                </c:pt>
                <c:pt idx="1">
                  <c:v>Fundamentals only</c:v>
                </c:pt>
                <c:pt idx="2">
                  <c:v>Market only</c:v>
                </c:pt>
              </c:strCache>
            </c:strRef>
          </c:cat>
          <c:val>
            <c:numRef>
              <c:f>'Chart Data'!$H$2:$H$4</c:f>
              <c:numCache>
                <c:formatCode>0.000</c:formatCode>
                <c:ptCount val="3"/>
                <c:pt idx="0">
                  <c:v>0.0727537752698</c:v>
                </c:pt>
                <c:pt idx="1">
                  <c:v>0.0291488915608</c:v>
                </c:pt>
                <c:pt idx="2">
                  <c:v>0.0517883245898</c:v>
                </c:pt>
              </c:numCache>
            </c:numRef>
          </c: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Times New Roman"/>
                <a:ea typeface="Times New Roman"/>
                <a:cs typeface="Times New Roman"/>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Mean test Rank IC</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varyColors val="0"/>
        <c:ser>
          <c:idx val="0"/>
          <c:order val="0"/>
          <c:tx>
            <c:v>RF permutation importance</c:v>
          </c:tx>
          <c:spPr>
            <a:solidFill xmlns:a="http://schemas.openxmlformats.org/drawingml/2006/main">
              <a:srgbClr val="1C5588"/>
            </a:solidFill>
            <a:ln xmlns:a="http://schemas.openxmlformats.org/drawingml/2006/main" w="19050">
              <a:solidFill>
                <a:srgbClr val="1C5588"/>
              </a:solidFill>
              <a:prstDash val="solid"/>
            </a:ln>
          </c:spPr>
          <c:invertIfNegative val="0"/>
          <c:cat>
            <c:strRef>
              <c:f>'Chart Data'!$A$2:$A$8</c:f>
              <c:strCache>
                <c:ptCount val="7"/>
                <c:pt idx="0">
                  <c:v>roa</c:v>
                </c:pt>
                <c:pt idx="1">
                  <c:v>revenue yoy</c:v>
                </c:pt>
                <c:pt idx="2">
                  <c:v>grossprofit margin</c:v>
                </c:pt>
                <c:pt idx="3">
                  <c:v>netprofit margin</c:v>
                </c:pt>
                <c:pt idx="4">
                  <c:v>netprofit yoy</c:v>
                </c:pt>
                <c:pt idx="5">
                  <c:v>turnover60</c:v>
                </c:pt>
                <c:pt idx="6">
                  <c:v>turnover20</c:v>
                </c:pt>
              </c:strCache>
            </c:strRef>
          </c:cat>
          <c:val>
            <c:numRef>
              <c:f>'Chart Data'!$B$2:$B$8</c:f>
              <c:numCache>
                <c:formatCode>0.0000</c:formatCode>
                <c:ptCount val="7"/>
                <c:pt idx="0">
                  <c:v>0.000176760113938</c:v>
                </c:pt>
                <c:pt idx="1">
                  <c:v>0.000313704568591</c:v>
                </c:pt>
                <c:pt idx="2">
                  <c:v>0.000396089346143</c:v>
                </c:pt>
                <c:pt idx="3">
                  <c:v>0.000417297376984</c:v>
                </c:pt>
                <c:pt idx="4">
                  <c:v>0.000953473437118</c:v>
                </c:pt>
                <c:pt idx="5">
                  <c:v>0.00146556089263</c:v>
                </c:pt>
                <c:pt idx="6">
                  <c:v>0.00406845101837</c:v>
                </c:pt>
              </c:numCache>
            </c:numRef>
          </c: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Times New Roman"/>
                <a:ea typeface="Times New Roman"/>
                <a:cs typeface="Times New Roman"/>
              </a:defRPr>
            </a:pPr>
          </a:p>
        </c:txPr>
        <c:crossAx val="48672768"/>
      </c:catAx>
      <c:valAx>
        <c:axId val="48672768"/>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Increase in test log loss</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LR</c:v>
          </c:tx>
          <c:spPr>
            <a:solidFill xmlns:a="http://schemas.openxmlformats.org/drawingml/2006/main">
              <a:srgbClr val="7A8087"/>
            </a:solidFill>
            <a:ln xmlns:a="http://schemas.openxmlformats.org/drawingml/2006/main" w="19050">
              <a:solidFill>
                <a:srgbClr val="7A8087"/>
              </a:solidFill>
              <a:prstDash val="solid"/>
            </a:ln>
          </c:spPr>
          <c:invertIfNegative val="0"/>
          <c:cat>
            <c:numRef>
              <c:f>'Chart Data'!$A$2:$A$7</c:f>
              <c:numCache>
                <c:formatCode>General</c:formatCode>
                <c:ptCount val="6"/>
                <c:pt idx="0">
                  <c:v>2020</c:v>
                </c:pt>
                <c:pt idx="1">
                  <c:v>2021</c:v>
                </c:pt>
                <c:pt idx="2">
                  <c:v>2022</c:v>
                </c:pt>
                <c:pt idx="3">
                  <c:v>2023</c:v>
                </c:pt>
                <c:pt idx="4">
                  <c:v>2024</c:v>
                </c:pt>
                <c:pt idx="5">
                  <c:v>2025</c:v>
                </c:pt>
              </c:numCache>
            </c:numRef>
          </c:cat>
          <c:val>
            <c:numRef>
              <c:f>'Chart Data'!$B$2:$B$7</c:f>
              <c:numCache>
                <c:formatCode>General</c:formatCode>
                <c:ptCount val="6"/>
                <c:pt idx="0">
                  <c:v>-5.82317886966</c:v>
                </c:pt>
                <c:pt idx="1">
                  <c:v>-7.08507476984</c:v>
                </c:pt>
                <c:pt idx="2">
                  <c:v>-9.95749010371</c:v>
                </c:pt>
                <c:pt idx="3">
                  <c:v>-0.0079827628778</c:v>
                </c:pt>
                <c:pt idx="4">
                  <c:v>22.9848894331</c:v>
                </c:pt>
                <c:pt idx="5">
                  <c:v>1.65936071081</c:v>
                </c:pt>
              </c:numCache>
            </c:numRef>
          </c:val>
        </c:ser>
        <c:ser>
          <c:idx val="1"/>
          <c:order val="1"/>
          <c:tx>
            <c:v>RF</c:v>
          </c:tx>
          <c:spPr>
            <a:solidFill xmlns:a="http://schemas.openxmlformats.org/drawingml/2006/main">
              <a:srgbClr val="1C5588"/>
            </a:solidFill>
            <a:ln xmlns:a="http://schemas.openxmlformats.org/drawingml/2006/main" w="19050">
              <a:solidFill>
                <a:srgbClr val="1C5588"/>
              </a:solidFill>
              <a:prstDash val="solid"/>
            </a:ln>
          </c:spPr>
          <c:invertIfNegative val="0"/>
          <c:cat>
            <c:numRef>
              <c:f>'Chart Data'!$C$2:$C$7</c:f>
              <c:numCache>
                <c:formatCode>General</c:formatCode>
                <c:ptCount val="6"/>
                <c:pt idx="0">
                  <c:v>2020</c:v>
                </c:pt>
                <c:pt idx="1">
                  <c:v>2021</c:v>
                </c:pt>
                <c:pt idx="2">
                  <c:v>2022</c:v>
                </c:pt>
                <c:pt idx="3">
                  <c:v>2023</c:v>
                </c:pt>
                <c:pt idx="4">
                  <c:v>2024</c:v>
                </c:pt>
                <c:pt idx="5">
                  <c:v>2025</c:v>
                </c:pt>
              </c:numCache>
            </c:numRef>
          </c:cat>
          <c:val>
            <c:numRef>
              <c:f>'Chart Data'!$D$2:$D$7</c:f>
              <c:numCache>
                <c:formatCode>General</c:formatCode>
                <c:ptCount val="6"/>
                <c:pt idx="0">
                  <c:v>-7.08019601412</c:v>
                </c:pt>
                <c:pt idx="1">
                  <c:v>20.0848848036</c:v>
                </c:pt>
                <c:pt idx="2">
                  <c:v>5.15586933843</c:v>
                </c:pt>
                <c:pt idx="3">
                  <c:v>13.1870033791</c:v>
                </c:pt>
                <c:pt idx="4">
                  <c:v>25.8477787709</c:v>
                </c:pt>
                <c:pt idx="5">
                  <c:v>-4.24819064572</c:v>
                </c:pt>
              </c:numCache>
            </c:numRef>
          </c:val>
        </c:ser>
        <c:ser>
          <c:idx val="2"/>
          <c:order val="2"/>
          <c:tx>
            <c:v>XGB</c:v>
          </c:tx>
          <c:spPr>
            <a:solidFill xmlns:a="http://schemas.openxmlformats.org/drawingml/2006/main">
              <a:srgbClr val="BD7730"/>
            </a:solidFill>
            <a:ln xmlns:a="http://schemas.openxmlformats.org/drawingml/2006/main" w="19050">
              <a:solidFill>
                <a:srgbClr val="BD7730"/>
              </a:solidFill>
              <a:prstDash val="solid"/>
            </a:ln>
          </c:spPr>
          <c:invertIfNegative val="0"/>
          <c:cat>
            <c:numRef>
              <c:f>'Chart Data'!$E$2:$E$7</c:f>
              <c:numCache>
                <c:formatCode>General</c:formatCode>
                <c:ptCount val="6"/>
                <c:pt idx="0">
                  <c:v>2020</c:v>
                </c:pt>
                <c:pt idx="1">
                  <c:v>2021</c:v>
                </c:pt>
                <c:pt idx="2">
                  <c:v>2022</c:v>
                </c:pt>
                <c:pt idx="3">
                  <c:v>2023</c:v>
                </c:pt>
                <c:pt idx="4">
                  <c:v>2024</c:v>
                </c:pt>
                <c:pt idx="5">
                  <c:v>2025</c:v>
                </c:pt>
              </c:numCache>
            </c:numRef>
          </c:cat>
          <c:val>
            <c:numRef>
              <c:f>'Chart Data'!$F$2:$F$7</c:f>
              <c:numCache>
                <c:formatCode>General</c:formatCode>
                <c:ptCount val="6"/>
                <c:pt idx="0">
                  <c:v>-3.54893946106</c:v>
                </c:pt>
                <c:pt idx="1">
                  <c:v>15.4708037547</c:v>
                </c:pt>
                <c:pt idx="2">
                  <c:v>-11.9654508005</c:v>
                </c:pt>
                <c:pt idx="3">
                  <c:v>12.9884732238</c:v>
                </c:pt>
                <c:pt idx="4">
                  <c:v>46.2347882342</c:v>
                </c:pt>
                <c:pt idx="5">
                  <c:v>-2.18124425083</c:v>
                </c:pt>
              </c:numCache>
            </c:numRef>
          </c:val>
        </c:ser>
        <c:ser>
          <c:idx val="3"/>
          <c:order val="3"/>
          <c:tx>
            <c:v>LGBM</c:v>
          </c:tx>
          <c:spPr>
            <a:solidFill xmlns:a="http://schemas.openxmlformats.org/drawingml/2006/main">
              <a:srgbClr val="28776B"/>
            </a:solidFill>
            <a:ln xmlns:a="http://schemas.openxmlformats.org/drawingml/2006/main" w="19050">
              <a:solidFill>
                <a:srgbClr val="28776B"/>
              </a:solidFill>
              <a:prstDash val="solid"/>
            </a:ln>
          </c:spPr>
          <c:invertIfNegative val="0"/>
          <c:cat>
            <c:numRef>
              <c:f>'Chart Data'!$G$2:$G$7</c:f>
              <c:numCache>
                <c:formatCode>General</c:formatCode>
                <c:ptCount val="6"/>
                <c:pt idx="0">
                  <c:v>2020</c:v>
                </c:pt>
                <c:pt idx="1">
                  <c:v>2021</c:v>
                </c:pt>
                <c:pt idx="2">
                  <c:v>2022</c:v>
                </c:pt>
                <c:pt idx="3">
                  <c:v>2023</c:v>
                </c:pt>
                <c:pt idx="4">
                  <c:v>2024</c:v>
                </c:pt>
                <c:pt idx="5">
                  <c:v>2025</c:v>
                </c:pt>
              </c:numCache>
            </c:numRef>
          </c:cat>
          <c:val>
            <c:numRef>
              <c:f>'Chart Data'!$H$2:$H$7</c:f>
              <c:numCache>
                <c:formatCode>General</c:formatCode>
                <c:ptCount val="6"/>
                <c:pt idx="0">
                  <c:v>0.623087873559</c:v>
                </c:pt>
                <c:pt idx="1">
                  <c:v>8.79376900981</c:v>
                </c:pt>
                <c:pt idx="2">
                  <c:v>-1.73125840291</c:v>
                </c:pt>
                <c:pt idx="3">
                  <c:v>20.0480385375</c:v>
                </c:pt>
                <c:pt idx="4">
                  <c:v>38.0397093381</c:v>
                </c:pt>
                <c:pt idx="5">
                  <c:v>1.09062278393</c:v>
                </c:pt>
              </c:numCache>
            </c:numRef>
          </c: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Times New Roman"/>
                <a:ea typeface="Times New Roman"/>
                <a:cs typeface="Times New Roman"/>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Calendar-slice total return (%)</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Times New Roman"/>
                <a:ea typeface="Times New Roman"/>
                <a:cs typeface="Times New Roman"/>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84D3AC-B171-44D1-8D3C-DBE86A46EE27}"/>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20AEB77D-65CE-4FB0-9A6B-84EA8B8999A0}"/>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Machine Learning Based Multifactor Stock Selection</a:t>
            </a:r>
          </a:p>
        </p:txBody>
      </p:sp>
      <p:sp>
        <p:nvSpPr>
          <p:cNvPr id="3" name="">
            <a:extLst xmlns:a="http://schemas.openxmlformats.org/drawingml/2006/main">
              <a:ext uri="{FF2B5EF4-FFF2-40B4-BE49-F238E27FC236}">
                <a16:creationId xmlns:a16="http://schemas.microsoft.com/office/drawing/2014/main" id="{830713ED-A301-4778-B7F9-F14746808B85}"/>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01</a:t>
            </a:r>
          </a:p>
        </p:txBody>
      </p:sp>
      <p:sp>
        <p:nvSpPr>
          <p:cNvPr id="4" name="">
            <a:extLst xmlns:a="http://schemas.openxmlformats.org/drawingml/2006/main">
              <a:ext uri="{FF2B5EF4-FFF2-40B4-BE49-F238E27FC236}">
                <a16:creationId xmlns:a16="http://schemas.microsoft.com/office/drawing/2014/main" id="{D5DE741C-4985-4C53-A868-31806A1222FE}"/>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sp>
        <p:nvSpPr>
          <p:cNvPr id="5" name="">
            <a:extLst xmlns:a="http://schemas.openxmlformats.org/drawingml/2006/main">
              <a:ext uri="{FF2B5EF4-FFF2-40B4-BE49-F238E27FC236}">
                <a16:creationId xmlns:a16="http://schemas.microsoft.com/office/drawing/2014/main" id="{C3ECC4A7-C4DF-429A-84C7-86CF9A97F57F}"/>
              </a:ext>
            </a:extLst>
          </p:cNvPr>
          <p:cNvSpPr>
            <a:spLocks xmlns:a="http://schemas.openxmlformats.org/drawingml/2006/main" noGrp="1"/>
          </p:cNvSpPr>
          <p:nvPr/>
        </p:nvSpPr>
        <p:spPr>
          <a:xfrm xmlns:a="http://schemas.openxmlformats.org/drawingml/2006/main">
            <a:off x="685800" y="18097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047"/>
                </a:solidFill>
                <a:latin typeface="Times New Roman"/>
                <a:ea typeface="Times New Roman"/>
                <a:cs typeface="Times New Roman"/>
              </a:defRPr>
            </a:defPPr>
            <a:lvl1pPr>
              <a:defRPr sz="3450" b="1">
                <a:solidFill>
                  <a:srgbClr val="193047"/>
                </a:solidFill>
                <a:latin typeface="Times New Roman"/>
                <a:ea typeface="Times New Roman"/>
                <a:cs typeface="Times New Roman"/>
              </a:defRPr>
            </a:lvl1pPr>
            <a:lvl2pPr>
              <a:defRPr sz="3450" b="1">
                <a:solidFill>
                  <a:srgbClr val="193047"/>
                </a:solidFill>
                <a:latin typeface="Times New Roman"/>
                <a:ea typeface="Times New Roman"/>
                <a:cs typeface="Times New Roman"/>
              </a:defRPr>
            </a:lvl2pPr>
            <a:lvl3pPr>
              <a:defRPr sz="3450" b="1">
                <a:solidFill>
                  <a:srgbClr val="193047"/>
                </a:solidFill>
                <a:latin typeface="Times New Roman"/>
                <a:ea typeface="Times New Roman"/>
                <a:cs typeface="Times New Roman"/>
              </a:defRPr>
            </a:lvl3pPr>
            <a:lvl4pPr>
              <a:defRPr sz="3450" b="1">
                <a:solidFill>
                  <a:srgbClr val="193047"/>
                </a:solidFill>
                <a:latin typeface="Times New Roman"/>
                <a:ea typeface="Times New Roman"/>
                <a:cs typeface="Times New Roman"/>
              </a:defRPr>
            </a:lvl4pPr>
            <a:lvl5pPr>
              <a:defRPr sz="3450" b="1">
                <a:solidFill>
                  <a:srgbClr val="193047"/>
                </a:solidFill>
                <a:latin typeface="Times New Roman"/>
                <a:ea typeface="Times New Roman"/>
                <a:cs typeface="Times New Roman"/>
              </a:defRPr>
            </a:lvl5pPr>
            <a:lvl6pPr>
              <a:defRPr sz="3450" b="1">
                <a:solidFill>
                  <a:srgbClr val="193047"/>
                </a:solidFill>
                <a:latin typeface="Times New Roman"/>
                <a:ea typeface="Times New Roman"/>
                <a:cs typeface="Times New Roman"/>
              </a:defRPr>
            </a:lvl6pPr>
            <a:lvl7pPr>
              <a:defRPr sz="3450" b="1">
                <a:solidFill>
                  <a:srgbClr val="193047"/>
                </a:solidFill>
                <a:latin typeface="Times New Roman"/>
                <a:ea typeface="Times New Roman"/>
                <a:cs typeface="Times New Roman"/>
              </a:defRPr>
            </a:lvl7pPr>
            <a:lvl8pPr>
              <a:defRPr sz="3450" b="1">
                <a:solidFill>
                  <a:srgbClr val="193047"/>
                </a:solidFill>
                <a:latin typeface="Times New Roman"/>
                <a:ea typeface="Times New Roman"/>
                <a:cs typeface="Times New Roman"/>
              </a:defRPr>
            </a:lvl8pPr>
            <a:lvl9pPr>
              <a:defRPr sz="3450" b="1">
                <a:solidFill>
                  <a:srgbClr val="193047"/>
                </a:solidFill>
                <a:latin typeface="Times New Roman"/>
                <a:ea typeface="Times New Roman"/>
                <a:cs typeface="Times New Roman"/>
              </a:defRPr>
            </a:lvl9pPr>
          </a:lstStyle>
          <a:p xmlns:a="http://schemas.openxmlformats.org/drawingml/2006/main">
            <a:pPr>
              <a:defRPr sz="3450" b="1">
                <a:solidFill>
                  <a:srgbClr val="193047"/>
                </a:solidFill>
                <a:latin typeface="Times New Roman"/>
                <a:ea typeface="Times New Roman"/>
                <a:cs typeface="Times New Roman"/>
              </a:defRPr>
            </a:pPr>
            <a:r>
              <a:rPr sz="3450" b="1">
                <a:solidFill>
                  <a:srgbClr val="193047"/>
                </a:solidFill>
                <a:latin typeface="Times New Roman"/>
                <a:ea typeface="Times New Roman"/>
                <a:cs typeface="Times New Roman"/>
              </a:rPr>
              <a:t>Historical CSI 500 stocks</a:t>
            </a:r>
          </a:p>
          <a:p xmlns:a="http://schemas.openxmlformats.org/drawingml/2006/main">
            <a:pPr>
              <a:defRPr sz="3450" b="1">
                <a:solidFill>
                  <a:srgbClr val="193047"/>
                </a:solidFill>
                <a:latin typeface="Times New Roman"/>
                <a:ea typeface="Times New Roman"/>
                <a:cs typeface="Times New Roman"/>
              </a:defRPr>
            </a:pPr>
            <a:r>
              <a:rPr sz="3450" b="1">
                <a:solidFill>
                  <a:srgbClr val="193047"/>
                </a:solidFill>
                <a:latin typeface="Times New Roman"/>
                <a:ea typeface="Times New Roman"/>
                <a:cs typeface="Times New Roman"/>
              </a:rPr>
              <a:t>Prediction, ranking and portfolio outcomes</a:t>
            </a:r>
          </a:p>
        </p:txBody>
      </p:sp>
      <p:sp>
        <p:nvSpPr>
          <p:cNvPr id="6" name="">
            <a:extLst xmlns:a="http://schemas.openxmlformats.org/drawingml/2006/main">
              <a:ext uri="{FF2B5EF4-FFF2-40B4-BE49-F238E27FC236}">
                <a16:creationId xmlns:a16="http://schemas.microsoft.com/office/drawing/2014/main" id="{4A697E4D-84CF-4D62-9967-11906BC830D6}"/>
              </a:ext>
            </a:extLst>
          </p:cNvPr>
          <p:cNvSpPr>
            <a:spLocks xmlns:a="http://schemas.openxmlformats.org/drawingml/2006/main" noGrp="1"/>
          </p:cNvSpPr>
          <p:nvPr/>
        </p:nvSpPr>
        <p:spPr>
          <a:xfrm xmlns:a="http://schemas.openxmlformats.org/drawingml/2006/main">
            <a:off x="685800" y="4000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047"/>
                </a:solidFill>
                <a:latin typeface="Times New Roman"/>
                <a:ea typeface="Times New Roman"/>
                <a:cs typeface="Times New Roman"/>
              </a:defRPr>
            </a:defPPr>
            <a:lvl1pPr>
              <a:defRPr sz="2100" b="0">
                <a:solidFill>
                  <a:srgbClr val="193047"/>
                </a:solidFill>
                <a:latin typeface="Times New Roman"/>
                <a:ea typeface="Times New Roman"/>
                <a:cs typeface="Times New Roman"/>
              </a:defRPr>
            </a:lvl1pPr>
            <a:lvl2pPr>
              <a:defRPr sz="2100" b="0">
                <a:solidFill>
                  <a:srgbClr val="193047"/>
                </a:solidFill>
                <a:latin typeface="Times New Roman"/>
                <a:ea typeface="Times New Roman"/>
                <a:cs typeface="Times New Roman"/>
              </a:defRPr>
            </a:lvl2pPr>
            <a:lvl3pPr>
              <a:defRPr sz="2100" b="0">
                <a:solidFill>
                  <a:srgbClr val="193047"/>
                </a:solidFill>
                <a:latin typeface="Times New Roman"/>
                <a:ea typeface="Times New Roman"/>
                <a:cs typeface="Times New Roman"/>
              </a:defRPr>
            </a:lvl3pPr>
            <a:lvl4pPr>
              <a:defRPr sz="2100" b="0">
                <a:solidFill>
                  <a:srgbClr val="193047"/>
                </a:solidFill>
                <a:latin typeface="Times New Roman"/>
                <a:ea typeface="Times New Roman"/>
                <a:cs typeface="Times New Roman"/>
              </a:defRPr>
            </a:lvl4pPr>
            <a:lvl5pPr>
              <a:defRPr sz="2100" b="0">
                <a:solidFill>
                  <a:srgbClr val="193047"/>
                </a:solidFill>
                <a:latin typeface="Times New Roman"/>
                <a:ea typeface="Times New Roman"/>
                <a:cs typeface="Times New Roman"/>
              </a:defRPr>
            </a:lvl5pPr>
            <a:lvl6pPr>
              <a:defRPr sz="2100" b="0">
                <a:solidFill>
                  <a:srgbClr val="193047"/>
                </a:solidFill>
                <a:latin typeface="Times New Roman"/>
                <a:ea typeface="Times New Roman"/>
                <a:cs typeface="Times New Roman"/>
              </a:defRPr>
            </a:lvl6pPr>
            <a:lvl7pPr>
              <a:defRPr sz="2100" b="0">
                <a:solidFill>
                  <a:srgbClr val="193047"/>
                </a:solidFill>
                <a:latin typeface="Times New Roman"/>
                <a:ea typeface="Times New Roman"/>
                <a:cs typeface="Times New Roman"/>
              </a:defRPr>
            </a:lvl7pPr>
            <a:lvl8pPr>
              <a:defRPr sz="2100" b="0">
                <a:solidFill>
                  <a:srgbClr val="193047"/>
                </a:solidFill>
                <a:latin typeface="Times New Roman"/>
                <a:ea typeface="Times New Roman"/>
                <a:cs typeface="Times New Roman"/>
              </a:defRPr>
            </a:lvl8pPr>
            <a:lvl9pPr>
              <a:defRPr sz="2100" b="0">
                <a:solidFill>
                  <a:srgbClr val="193047"/>
                </a:solidFill>
                <a:latin typeface="Times New Roman"/>
                <a:ea typeface="Times New Roman"/>
                <a:cs typeface="Times New Roman"/>
              </a:defRPr>
            </a:lvl9pPr>
          </a:lstStyle>
          <a:p xmlns:a="http://schemas.openxmlformats.org/drawingml/2006/main">
            <a:pPr>
              <a:defRPr sz="2100" b="0">
                <a:solidFill>
                  <a:srgbClr val="193047"/>
                </a:solidFill>
                <a:latin typeface="Times New Roman"/>
                <a:ea typeface="Times New Roman"/>
                <a:cs typeface="Times New Roman"/>
              </a:defRPr>
            </a:pPr>
            <a:r>
              <a:rPr sz="2100" b="0">
                <a:solidFill>
                  <a:srgbClr val="193047"/>
                </a:solidFill>
                <a:latin typeface="Times New Roman"/>
                <a:ea typeface="Times New Roman"/>
                <a:cs typeface="Times New Roman"/>
              </a:rPr>
              <a:t>Wu Yangjie   Zhao Jingjie   Wang Zhaobo</a:t>
            </a:r>
          </a:p>
        </p:txBody>
      </p:sp>
      <p:sp>
        <p:nvSpPr>
          <p:cNvPr id="7" name="">
            <a:extLst xmlns:a="http://schemas.openxmlformats.org/drawingml/2006/main">
              <a:ext uri="{FF2B5EF4-FFF2-40B4-BE49-F238E27FC236}">
                <a16:creationId xmlns:a16="http://schemas.microsoft.com/office/drawing/2014/main" id="{72EA4AA0-C7FA-4AE5-B8EC-13DC9C0B381B}"/>
              </a:ext>
            </a:extLst>
          </p:cNvPr>
          <p:cNvSpPr>
            <a:spLocks xmlns:a="http://schemas.openxmlformats.org/drawingml/2006/main" noGrp="1"/>
          </p:cNvSpPr>
          <p:nvPr/>
        </p:nvSpPr>
        <p:spPr>
          <a:xfrm xmlns:a="http://schemas.openxmlformats.org/drawingml/2006/main">
            <a:off x="685800" y="5000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8776B"/>
                </a:solidFill>
                <a:latin typeface="Times New Roman"/>
                <a:ea typeface="Times New Roman"/>
                <a:cs typeface="Times New Roman"/>
              </a:defRPr>
            </a:defPPr>
            <a:lvl1pPr>
              <a:defRPr sz="1875" b="0">
                <a:solidFill>
                  <a:srgbClr val="28776B"/>
                </a:solidFill>
                <a:latin typeface="Times New Roman"/>
                <a:ea typeface="Times New Roman"/>
                <a:cs typeface="Times New Roman"/>
              </a:defRPr>
            </a:lvl1pPr>
            <a:lvl2pPr>
              <a:defRPr sz="1875" b="0">
                <a:solidFill>
                  <a:srgbClr val="28776B"/>
                </a:solidFill>
                <a:latin typeface="Times New Roman"/>
                <a:ea typeface="Times New Roman"/>
                <a:cs typeface="Times New Roman"/>
              </a:defRPr>
            </a:lvl2pPr>
            <a:lvl3pPr>
              <a:defRPr sz="1875" b="0">
                <a:solidFill>
                  <a:srgbClr val="28776B"/>
                </a:solidFill>
                <a:latin typeface="Times New Roman"/>
                <a:ea typeface="Times New Roman"/>
                <a:cs typeface="Times New Roman"/>
              </a:defRPr>
            </a:lvl3pPr>
            <a:lvl4pPr>
              <a:defRPr sz="1875" b="0">
                <a:solidFill>
                  <a:srgbClr val="28776B"/>
                </a:solidFill>
                <a:latin typeface="Times New Roman"/>
                <a:ea typeface="Times New Roman"/>
                <a:cs typeface="Times New Roman"/>
              </a:defRPr>
            </a:lvl4pPr>
            <a:lvl5pPr>
              <a:defRPr sz="1875" b="0">
                <a:solidFill>
                  <a:srgbClr val="28776B"/>
                </a:solidFill>
                <a:latin typeface="Times New Roman"/>
                <a:ea typeface="Times New Roman"/>
                <a:cs typeface="Times New Roman"/>
              </a:defRPr>
            </a:lvl5pPr>
            <a:lvl6pPr>
              <a:defRPr sz="1875" b="0">
                <a:solidFill>
                  <a:srgbClr val="28776B"/>
                </a:solidFill>
                <a:latin typeface="Times New Roman"/>
                <a:ea typeface="Times New Roman"/>
                <a:cs typeface="Times New Roman"/>
              </a:defRPr>
            </a:lvl6pPr>
            <a:lvl7pPr>
              <a:defRPr sz="1875" b="0">
                <a:solidFill>
                  <a:srgbClr val="28776B"/>
                </a:solidFill>
                <a:latin typeface="Times New Roman"/>
                <a:ea typeface="Times New Roman"/>
                <a:cs typeface="Times New Roman"/>
              </a:defRPr>
            </a:lvl7pPr>
            <a:lvl8pPr>
              <a:defRPr sz="1875" b="0">
                <a:solidFill>
                  <a:srgbClr val="28776B"/>
                </a:solidFill>
                <a:latin typeface="Times New Roman"/>
                <a:ea typeface="Times New Roman"/>
                <a:cs typeface="Times New Roman"/>
              </a:defRPr>
            </a:lvl8pPr>
            <a:lvl9pPr>
              <a:defRPr sz="1875" b="0">
                <a:solidFill>
                  <a:srgbClr val="28776B"/>
                </a:solidFill>
                <a:latin typeface="Times New Roman"/>
                <a:ea typeface="Times New Roman"/>
                <a:cs typeface="Times New Roman"/>
              </a:defRPr>
            </a:lvl9pPr>
          </a:lstStyle>
          <a:p xmlns:a="http://schemas.openxmlformats.org/drawingml/2006/main">
            <a:pPr>
              <a:defRPr sz="1875" b="0">
                <a:solidFill>
                  <a:srgbClr val="28776B"/>
                </a:solidFill>
                <a:latin typeface="Times New Roman"/>
                <a:ea typeface="Times New Roman"/>
                <a:cs typeface="Times New Roman"/>
              </a:defRPr>
            </a:pPr>
            <a:r>
              <a:rPr sz="1875" b="0">
                <a:solidFill>
                  <a:srgbClr val="28776B"/>
                </a:solidFill>
                <a:latin typeface="Times New Roman"/>
                <a:ea typeface="Times New Roman"/>
                <a:cs typeface="Times New Roman"/>
              </a:rPr>
              <a:t>Course project with rebuilt timing controls and independent evaluation</a:t>
            </a:r>
          </a:p>
        </p:txBody>
      </p:sp>
    </p:spTree>
    <p:extLst>
      <p:ext uri="{BB962C8B-B14F-4D97-AF65-F5344CB8AC3E}">
        <p14:creationId xmlns:p14="http://schemas.microsoft.com/office/powerpoint/2010/main" val="175090488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88E41-B73A-4FA4-B41B-52E32D9BF782}"/>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696E935A-BFAA-4560-BAF1-A613DFC99963}"/>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Research questions</a:t>
            </a:r>
          </a:p>
        </p:txBody>
      </p:sp>
      <p:sp>
        <p:nvSpPr>
          <p:cNvPr id="3" name="">
            <a:extLst xmlns:a="http://schemas.openxmlformats.org/drawingml/2006/main">
              <a:ext uri="{FF2B5EF4-FFF2-40B4-BE49-F238E27FC236}">
                <a16:creationId xmlns:a16="http://schemas.microsoft.com/office/drawing/2014/main" id="{079C19A7-D216-40A5-84F6-86FD6582A227}"/>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02</a:t>
            </a:r>
          </a:p>
        </p:txBody>
      </p:sp>
      <p:sp>
        <p:nvSpPr>
          <p:cNvPr id="4" name="">
            <a:extLst xmlns:a="http://schemas.openxmlformats.org/drawingml/2006/main">
              <a:ext uri="{FF2B5EF4-FFF2-40B4-BE49-F238E27FC236}">
                <a16:creationId xmlns:a16="http://schemas.microsoft.com/office/drawing/2014/main" id="{C4D2965D-9025-4725-A518-82902F949DB5}"/>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sp>
        <p:nvSpPr>
          <p:cNvPr id="5" name="">
            <a:extLst xmlns:a="http://schemas.openxmlformats.org/drawingml/2006/main">
              <a:ext uri="{FF2B5EF4-FFF2-40B4-BE49-F238E27FC236}">
                <a16:creationId xmlns:a16="http://schemas.microsoft.com/office/drawing/2014/main" id="{477A20B2-DA62-4EF3-B369-FA3CC0E12E45}"/>
              </a:ext>
            </a:extLst>
          </p:cNvPr>
          <p:cNvSpPr>
            <a:spLocks xmlns:a="http://schemas.openxmlformats.org/drawingml/2006/main" noGrp="1"/>
          </p:cNvSpPr>
          <p:nvPr/>
        </p:nvSpPr>
        <p:spPr>
          <a:xfrm xmlns:a="http://schemas.openxmlformats.org/drawingml/2006/main">
            <a:off x="666750" y="16192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Do tree ensembles improve prediction over Logistic Regression?</a:t>
            </a:r>
          </a:p>
        </p:txBody>
      </p:sp>
      <p:sp>
        <p:nvSpPr>
          <p:cNvPr id="6" name="">
            <a:extLst xmlns:a="http://schemas.openxmlformats.org/drawingml/2006/main">
              <a:ext uri="{FF2B5EF4-FFF2-40B4-BE49-F238E27FC236}">
                <a16:creationId xmlns:a16="http://schemas.microsoft.com/office/drawing/2014/main" id="{F32D40CA-F140-4630-8B81-EE7D02490E1E}"/>
              </a:ext>
            </a:extLst>
          </p:cNvPr>
          <p:cNvSpPr>
            <a:spLocks xmlns:a="http://schemas.openxmlformats.org/drawingml/2006/main" noGrp="1"/>
          </p:cNvSpPr>
          <p:nvPr/>
        </p:nvSpPr>
        <p:spPr>
          <a:xfrm xmlns:a="http://schemas.openxmlformats.org/drawingml/2006/main">
            <a:off x="666750" y="24765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Do fundamentals add information beyond market and trading factors?</a:t>
            </a:r>
          </a:p>
        </p:txBody>
      </p:sp>
      <p:sp>
        <p:nvSpPr>
          <p:cNvPr id="7" name="">
            <a:extLst xmlns:a="http://schemas.openxmlformats.org/drawingml/2006/main">
              <a:ext uri="{FF2B5EF4-FFF2-40B4-BE49-F238E27FC236}">
                <a16:creationId xmlns:a16="http://schemas.microsoft.com/office/drawing/2014/main" id="{24B4DD2C-01A2-465E-BFDC-F3B4F7EB146A}"/>
              </a:ext>
            </a:extLst>
          </p:cNvPr>
          <p:cNvSpPr>
            <a:spLocks xmlns:a="http://schemas.openxmlformats.org/drawingml/2006/main" noGrp="1"/>
          </p:cNvSpPr>
          <p:nvPr/>
        </p:nvSpPr>
        <p:spPr>
          <a:xfrm xmlns:a="http://schemas.openxmlformats.org/drawingml/2006/main">
            <a:off x="666750" y="3333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Do better predictions translate into net portfolio performance?</a:t>
            </a:r>
          </a:p>
        </p:txBody>
      </p:sp>
      <p:sp>
        <p:nvSpPr>
          <p:cNvPr id="8" name="">
            <a:extLst xmlns:a="http://schemas.openxmlformats.org/drawingml/2006/main">
              <a:ext uri="{FF2B5EF4-FFF2-40B4-BE49-F238E27FC236}">
                <a16:creationId xmlns:a16="http://schemas.microsoft.com/office/drawing/2014/main" id="{FC3AC95F-8FBB-4030-810C-E73F7D03D4AF}"/>
              </a:ext>
            </a:extLst>
          </p:cNvPr>
          <p:cNvSpPr>
            <a:spLocks xmlns:a="http://schemas.openxmlformats.org/drawingml/2006/main" noGrp="1"/>
          </p:cNvSpPr>
          <p:nvPr/>
        </p:nvSpPr>
        <p:spPr>
          <a:xfrm xmlns:a="http://schemas.openxmlformats.org/drawingml/2006/main">
            <a:off x="666750" y="41910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Main comparison: LR, Random Forest, XGBoost and LightGBM</a:t>
            </a:r>
          </a:p>
        </p:txBody>
      </p:sp>
    </p:spTree>
    <p:extLst>
      <p:ext uri="{BB962C8B-B14F-4D97-AF65-F5344CB8AC3E}">
        <p14:creationId xmlns:p14="http://schemas.microsoft.com/office/powerpoint/2010/main" val="61414238"/>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5B535A-EEEC-4FBF-A384-D1F1AEBCECFB}"/>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E7F60389-950F-49FD-B7ED-E0E567346BD2}"/>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Data coverage and information availability</a:t>
            </a:r>
          </a:p>
        </p:txBody>
      </p:sp>
      <p:sp>
        <p:nvSpPr>
          <p:cNvPr id="3" name="">
            <a:extLst xmlns:a="http://schemas.openxmlformats.org/drawingml/2006/main">
              <a:ext uri="{FF2B5EF4-FFF2-40B4-BE49-F238E27FC236}">
                <a16:creationId xmlns:a16="http://schemas.microsoft.com/office/drawing/2014/main" id="{7759C8B7-AA5F-45EC-9165-A2AA7F3E1CFA}"/>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03</a:t>
            </a:r>
          </a:p>
        </p:txBody>
      </p:sp>
      <p:sp>
        <p:nvSpPr>
          <p:cNvPr id="4" name="">
            <a:extLst xmlns:a="http://schemas.openxmlformats.org/drawingml/2006/main">
              <a:ext uri="{FF2B5EF4-FFF2-40B4-BE49-F238E27FC236}">
                <a16:creationId xmlns:a16="http://schemas.microsoft.com/office/drawing/2014/main" id="{E3272C39-A3EE-4BD3-8777-70843699B73A}"/>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
            <a:extLst xmlns:a="http://schemas.openxmlformats.org/drawingml/2006/main">
              <a:ext uri="{FF2B5EF4-FFF2-40B4-BE49-F238E27FC236}">
                <a16:creationId xmlns:a16="http://schemas.microsoft.com/office/drawing/2014/main" id="{8A043877-503E-439F-A0AF-5B04B3CC41E0}"/>
              </a:ext>
            </a:extLst>
          </p:cNvPr>
          <p:cNvGraphicFramePr/>
          <p:nvPr/>
        </p:nvGraphicFramePr>
        <p:xfrm>
          <a:off xmlns:a="http://schemas.openxmlformats.org/drawingml/2006/main" x="666750" y="1714500"/>
          <a:ext xmlns:a="http://schemas.openxmlformats.org/drawingml/2006/main" cx="10572750" cy="3381375"/>
        </p:xfrm>
        <a:graphic xmlns:a="http://schemas.openxmlformats.org/drawingml/2006/main">
          <a:graphicData uri="http://schemas.openxmlformats.org/drawingml/2006/table">
            <a:tbl>
              <a:tblPr/>
              <a:tblGrid>
                <a:gridCol w="5286375"/>
                <a:gridCol w="5286375"/>
              </a:tblGrid>
              <a:tr h="676275">
                <a:tc>
                  <a:txBody>
                    <a:bodyPr/>
                    <a:lstStyle/>
                    <a:p>
                      <a:r>
                        <a:rPr sz="1725" b="1">
                          <a:solidFill>
                            <a:srgbClr val="FFFFFF"/>
                          </a:solidFill>
                          <a:latin typeface="Times New Roman"/>
                          <a:ea typeface="Times New Roman"/>
                          <a:cs typeface="Times New Roman"/>
                        </a:rPr>
                        <a:t>Data item</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Implemented rule</a:t>
                      </a:r>
                    </a:p>
                  </a:txBody>
                  <a:tcPr marL="91440" marR="91440" marT="45720" marB="45720">
                    <a:solidFill>
                      <a:srgbClr val="193047"/>
                    </a:solidFill>
                  </a:tcPr>
                </a:tc>
              </a:tr>
              <a:tr h="676275">
                <a:tc>
                  <a:txBody>
                    <a:bodyPr/>
                    <a:lstStyle/>
                    <a:p>
                      <a:r>
                        <a:rPr sz="1725" b="0">
                          <a:solidFill>
                            <a:srgbClr val="193047"/>
                          </a:solidFill>
                          <a:latin typeface="Times New Roman"/>
                          <a:ea typeface="Times New Roman"/>
                          <a:cs typeface="Times New Roman"/>
                        </a:rPr>
                        <a:t>77,034 stock-date rows</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Historical membership on each decision date</a:t>
                      </a:r>
                    </a:p>
                  </a:txBody>
                  <a:tcPr marL="91440" marR="91440" marT="45720" marB="45720">
                    <a:solidFill>
                      <a:srgbClr val="F0F3F1"/>
                    </a:solidFill>
                  </a:tcPr>
                </a:tc>
              </a:tr>
              <a:tr h="676275">
                <a:tc>
                  <a:txBody>
                    <a:bodyPr/>
                    <a:lstStyle/>
                    <a:p>
                      <a:r>
                        <a:rPr sz="1725" b="0">
                          <a:solidFill>
                            <a:srgbClr val="193047"/>
                          </a:solidFill>
                          <a:latin typeface="Times New Roman"/>
                          <a:ea typeface="Times New Roman"/>
                          <a:cs typeface="Times New Roman"/>
                        </a:rPr>
                        <a:t>25 factors in 7 families</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60 observed sessions; current active quote</a:t>
                      </a:r>
                    </a:p>
                  </a:txBody>
                  <a:tcPr marL="91440" marR="91440" marT="45720" marB="45720">
                    <a:solidFill>
                      <a:srgbClr val="FFFFFF"/>
                    </a:solidFill>
                  </a:tcPr>
                </a:tc>
              </a:tr>
              <a:tr h="676275">
                <a:tc>
                  <a:txBody>
                    <a:bodyPr/>
                    <a:lstStyle/>
                    <a:p>
                      <a:r>
                        <a:rPr sz="1725" b="0">
                          <a:solidFill>
                            <a:srgbClr val="193047"/>
                          </a:solidFill>
                          <a:latin typeface="Times New Roman"/>
                          <a:ea typeface="Times New Roman"/>
                          <a:cs typeface="Times New Roman"/>
                        </a:rPr>
                        <a:t>Fundamental data</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Available after announcement day; stale after 550 days</a:t>
                      </a:r>
                    </a:p>
                  </a:txBody>
                  <a:tcPr marL="91440" marR="91440" marT="45720" marB="45720">
                    <a:solidFill>
                      <a:srgbClr val="F0F3F1"/>
                    </a:solidFill>
                  </a:tcPr>
                </a:tc>
              </a:tr>
              <a:tr h="676275">
                <a:tc>
                  <a:txBody>
                    <a:bodyPr/>
                    <a:lstStyle/>
                    <a:p>
                      <a:r>
                        <a:rPr sz="1725" b="0">
                          <a:solidFill>
                            <a:srgbClr val="193047"/>
                          </a:solidFill>
                          <a:latin typeface="Times New Roman"/>
                          <a:ea typeface="Times New Roman"/>
                          <a:cs typeface="Times New Roman"/>
                        </a:rPr>
                        <a:t>Unbalanced panel</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Explicit missingness, new-stock and suspension rules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D4DBA10-FEC7-4298-9AE2-511CAB4EB8A3}"/>
              </a:ext>
            </a:extLst>
          </p:cNvPr>
          <p:cNvSpPr>
            <a:spLocks xmlns:a="http://schemas.openxmlformats.org/drawingml/2006/main" noGrp="1"/>
          </p:cNvSpPr>
          <p:nvPr/>
        </p:nvSpPr>
        <p:spPr>
          <a:xfrm xmlns:a="http://schemas.openxmlformats.org/drawingml/2006/main">
            <a:off x="714375" y="542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25D20"/>
                </a:solidFill>
                <a:latin typeface="Times New Roman"/>
                <a:ea typeface="Times New Roman"/>
                <a:cs typeface="Times New Roman"/>
              </a:defRPr>
            </a:defPPr>
            <a:lvl1pPr>
              <a:defRPr sz="1800" b="0">
                <a:solidFill>
                  <a:srgbClr val="A25D20"/>
                </a:solidFill>
                <a:latin typeface="Times New Roman"/>
                <a:ea typeface="Times New Roman"/>
                <a:cs typeface="Times New Roman"/>
              </a:defRPr>
            </a:lvl1pPr>
            <a:lvl2pPr>
              <a:defRPr sz="1800" b="0">
                <a:solidFill>
                  <a:srgbClr val="A25D20"/>
                </a:solidFill>
                <a:latin typeface="Times New Roman"/>
                <a:ea typeface="Times New Roman"/>
                <a:cs typeface="Times New Roman"/>
              </a:defRPr>
            </a:lvl2pPr>
            <a:lvl3pPr>
              <a:defRPr sz="1800" b="0">
                <a:solidFill>
                  <a:srgbClr val="A25D20"/>
                </a:solidFill>
                <a:latin typeface="Times New Roman"/>
                <a:ea typeface="Times New Roman"/>
                <a:cs typeface="Times New Roman"/>
              </a:defRPr>
            </a:lvl3pPr>
            <a:lvl4pPr>
              <a:defRPr sz="1800" b="0">
                <a:solidFill>
                  <a:srgbClr val="A25D20"/>
                </a:solidFill>
                <a:latin typeface="Times New Roman"/>
                <a:ea typeface="Times New Roman"/>
                <a:cs typeface="Times New Roman"/>
              </a:defRPr>
            </a:lvl4pPr>
            <a:lvl5pPr>
              <a:defRPr sz="1800" b="0">
                <a:solidFill>
                  <a:srgbClr val="A25D20"/>
                </a:solidFill>
                <a:latin typeface="Times New Roman"/>
                <a:ea typeface="Times New Roman"/>
                <a:cs typeface="Times New Roman"/>
              </a:defRPr>
            </a:lvl5pPr>
            <a:lvl6pPr>
              <a:defRPr sz="1800" b="0">
                <a:solidFill>
                  <a:srgbClr val="A25D20"/>
                </a:solidFill>
                <a:latin typeface="Times New Roman"/>
                <a:ea typeface="Times New Roman"/>
                <a:cs typeface="Times New Roman"/>
              </a:defRPr>
            </a:lvl6pPr>
            <a:lvl7pPr>
              <a:defRPr sz="1800" b="0">
                <a:solidFill>
                  <a:srgbClr val="A25D20"/>
                </a:solidFill>
                <a:latin typeface="Times New Roman"/>
                <a:ea typeface="Times New Roman"/>
                <a:cs typeface="Times New Roman"/>
              </a:defRPr>
            </a:lvl7pPr>
            <a:lvl8pPr>
              <a:defRPr sz="1800" b="0">
                <a:solidFill>
                  <a:srgbClr val="A25D20"/>
                </a:solidFill>
                <a:latin typeface="Times New Roman"/>
                <a:ea typeface="Times New Roman"/>
                <a:cs typeface="Times New Roman"/>
              </a:defRPr>
            </a:lvl8pPr>
            <a:lvl9pPr>
              <a:defRPr sz="1800" b="0">
                <a:solidFill>
                  <a:srgbClr val="A25D20"/>
                </a:solidFill>
                <a:latin typeface="Times New Roman"/>
                <a:ea typeface="Times New Roman"/>
                <a:cs typeface="Times New Roman"/>
              </a:defRPr>
            </a:lvl9pPr>
          </a:lstStyle>
          <a:p xmlns:a="http://schemas.openxmlformats.org/drawingml/2006/main">
            <a:pPr>
              <a:defRPr sz="1800" b="0">
                <a:solidFill>
                  <a:srgbClr val="A25D20"/>
                </a:solidFill>
                <a:latin typeface="Times New Roman"/>
                <a:ea typeface="Times New Roman"/>
                <a:cs typeface="Times New Roman"/>
              </a:defRPr>
            </a:pPr>
            <a:r>
              <a:rPr sz="1800" b="0">
                <a:solidFill>
                  <a:srgbClr val="A25D20"/>
                </a:solidFill>
                <a:latin typeface="Times New Roman"/>
                <a:ea typeface="Times New Roman"/>
                <a:cs typeface="Times New Roman"/>
              </a:rPr>
              <a:t>Historical financial revisions are not independently certified.</a:t>
            </a:r>
          </a:p>
        </p:txBody>
      </p:sp>
    </p:spTree>
    <p:extLst>
      <p:ext uri="{BB962C8B-B14F-4D97-AF65-F5344CB8AC3E}">
        <p14:creationId xmlns:p14="http://schemas.microsoft.com/office/powerpoint/2010/main" val="1009006255"/>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ABF6FA-DC55-4069-B5B9-0B0D1FCBF484}"/>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D0EE14FE-51BC-4A2B-9A3D-EC8FF35FAA5D}"/>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Chronological validation and leakage controls</a:t>
            </a:r>
          </a:p>
        </p:txBody>
      </p:sp>
      <p:sp>
        <p:nvSpPr>
          <p:cNvPr id="3" name="">
            <a:extLst xmlns:a="http://schemas.openxmlformats.org/drawingml/2006/main">
              <a:ext uri="{FF2B5EF4-FFF2-40B4-BE49-F238E27FC236}">
                <a16:creationId xmlns:a16="http://schemas.microsoft.com/office/drawing/2014/main" id="{33DE3CCA-9D70-4759-96CF-68C43AABE15E}"/>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04</a:t>
            </a:r>
          </a:p>
        </p:txBody>
      </p:sp>
      <p:sp>
        <p:nvSpPr>
          <p:cNvPr id="4" name="">
            <a:extLst xmlns:a="http://schemas.openxmlformats.org/drawingml/2006/main">
              <a:ext uri="{FF2B5EF4-FFF2-40B4-BE49-F238E27FC236}">
                <a16:creationId xmlns:a16="http://schemas.microsoft.com/office/drawing/2014/main" id="{55870B84-22A0-4178-A3E2-2A2889E0C3FF}"/>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
            <a:extLst xmlns:a="http://schemas.openxmlformats.org/drawingml/2006/main">
              <a:ext uri="{FF2B5EF4-FFF2-40B4-BE49-F238E27FC236}">
                <a16:creationId xmlns:a16="http://schemas.microsoft.com/office/drawing/2014/main" id="{137742F6-FCE7-4D9B-A882-DEA1D7F37ECB}"/>
              </a:ext>
            </a:extLst>
          </p:cNvPr>
          <p:cNvGraphicFramePr/>
          <p:nvPr/>
        </p:nvGraphicFramePr>
        <p:xfrm>
          <a:off xmlns:a="http://schemas.openxmlformats.org/drawingml/2006/main" x="666750" y="1571625"/>
          <a:ext xmlns:a="http://schemas.openxmlformats.org/drawingml/2006/main" cx="10572750" cy="2857500"/>
        </p:xfrm>
        <a:graphic xmlns:a="http://schemas.openxmlformats.org/drawingml/2006/main">
          <a:graphicData uri="http://schemas.openxmlformats.org/drawingml/2006/table">
            <a:tbl>
              <a:tblPr/>
              <a:tblGrid>
                <a:gridCol w="2643188"/>
                <a:gridCol w="2643188"/>
                <a:gridCol w="2643188"/>
                <a:gridCol w="2643188"/>
              </a:tblGrid>
              <a:tr h="571500">
                <a:tc>
                  <a:txBody>
                    <a:bodyPr/>
                    <a:lstStyle/>
                    <a:p>
                      <a:r>
                        <a:rPr sz="1725" b="1">
                          <a:solidFill>
                            <a:srgbClr val="FFFFFF"/>
                          </a:solidFill>
                          <a:latin typeface="Times New Roman"/>
                          <a:ea typeface="Times New Roman"/>
                          <a:cs typeface="Times New Roman"/>
                        </a:rPr>
                        <a:t>Split</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First signal</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Last signal</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Rows</a:t>
                      </a:r>
                    </a:p>
                  </a:txBody>
                  <a:tcPr marL="91440" marR="91440" marT="45720" marB="45720">
                    <a:solidFill>
                      <a:srgbClr val="193047"/>
                    </a:solidFill>
                  </a:tcPr>
                </a:tc>
              </a:tr>
              <a:tr h="571500">
                <a:tc>
                  <a:txBody>
                    <a:bodyPr/>
                    <a:lstStyle/>
                    <a:p>
                      <a:r>
                        <a:rPr sz="1725" b="0">
                          <a:solidFill>
                            <a:srgbClr val="193047"/>
                          </a:solidFill>
                          <a:latin typeface="Times New Roman"/>
                          <a:ea typeface="Times New Roman"/>
                          <a:cs typeface="Times New Roman"/>
                        </a:rPr>
                        <a:t>train</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2010-05-05</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2017-09-26</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31964</a:t>
                      </a:r>
                    </a:p>
                  </a:txBody>
                  <a:tcPr marL="91440" marR="91440" marT="45720" marB="45720">
                    <a:solidFill>
                      <a:srgbClr val="F0F3F1"/>
                    </a:solidFill>
                  </a:tcPr>
                </a:tc>
              </a:tr>
              <a:tr h="571500">
                <a:tc>
                  <a:txBody>
                    <a:bodyPr/>
                    <a:lstStyle/>
                    <a:p>
                      <a:r>
                        <a:rPr sz="1725" b="0">
                          <a:solidFill>
                            <a:srgbClr val="193047"/>
                          </a:solidFill>
                          <a:latin typeface="Times New Roman"/>
                          <a:ea typeface="Times New Roman"/>
                          <a:cs typeface="Times New Roman"/>
                        </a:rPr>
                        <a:t>validation</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2017-10-31</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2019-03-25</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8618</a:t>
                      </a:r>
                    </a:p>
                  </a:txBody>
                  <a:tcPr marL="91440" marR="91440" marT="45720" marB="45720">
                    <a:solidFill>
                      <a:srgbClr val="FFFFFF"/>
                    </a:solidFill>
                  </a:tcPr>
                </a:tc>
              </a:tr>
              <a:tr h="571500">
                <a:tc>
                  <a:txBody>
                    <a:bodyPr/>
                    <a:lstStyle/>
                    <a:p>
                      <a:r>
                        <a:rPr sz="1725" b="0">
                          <a:solidFill>
                            <a:srgbClr val="193047"/>
                          </a:solidFill>
                          <a:latin typeface="Times New Roman"/>
                          <a:ea typeface="Times New Roman"/>
                          <a:cs typeface="Times New Roman"/>
                        </a:rPr>
                        <a:t>test</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2019-04-23</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2020-09-11</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8985</a:t>
                      </a:r>
                    </a:p>
                  </a:txBody>
                  <a:tcPr marL="91440" marR="91440" marT="45720" marB="45720">
                    <a:solidFill>
                      <a:srgbClr val="F0F3F1"/>
                    </a:solidFill>
                  </a:tcPr>
                </a:tc>
              </a:tr>
              <a:tr h="571500">
                <a:tc>
                  <a:txBody>
                    <a:bodyPr/>
                    <a:lstStyle/>
                    <a:p>
                      <a:r>
                        <a:rPr sz="1725" b="0">
                          <a:solidFill>
                            <a:srgbClr val="193047"/>
                          </a:solidFill>
                          <a:latin typeface="Times New Roman"/>
                          <a:ea typeface="Times New Roman"/>
                          <a:cs typeface="Times New Roman"/>
                        </a:rPr>
                        <a:t>backtest</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2020-10-19</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2025-04-01</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27467</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634B17-999C-4DA4-9847-4D37DB59427D}"/>
              </a:ext>
            </a:extLst>
          </p:cNvPr>
          <p:cNvSpPr>
            <a:spLocks xmlns:a="http://schemas.openxmlformats.org/drawingml/2006/main" noGrp="1"/>
          </p:cNvSpPr>
          <p:nvPr/>
        </p:nvSpPr>
        <p:spPr>
          <a:xfrm xmlns:a="http://schemas.openxmlformats.org/drawingml/2006/main">
            <a:off x="714375" y="46672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047"/>
                </a:solidFill>
                <a:latin typeface="Times New Roman"/>
                <a:ea typeface="Times New Roman"/>
                <a:cs typeface="Times New Roman"/>
              </a:defRPr>
            </a:defPPr>
            <a:lvl1pPr>
              <a:defRPr sz="1875" b="0">
                <a:solidFill>
                  <a:srgbClr val="193047"/>
                </a:solidFill>
                <a:latin typeface="Times New Roman"/>
                <a:ea typeface="Times New Roman"/>
                <a:cs typeface="Times New Roman"/>
              </a:defRPr>
            </a:lvl1pPr>
            <a:lvl2pPr>
              <a:defRPr sz="1875" b="0">
                <a:solidFill>
                  <a:srgbClr val="193047"/>
                </a:solidFill>
                <a:latin typeface="Times New Roman"/>
                <a:ea typeface="Times New Roman"/>
                <a:cs typeface="Times New Roman"/>
              </a:defRPr>
            </a:lvl2pPr>
            <a:lvl3pPr>
              <a:defRPr sz="1875" b="0">
                <a:solidFill>
                  <a:srgbClr val="193047"/>
                </a:solidFill>
                <a:latin typeface="Times New Roman"/>
                <a:ea typeface="Times New Roman"/>
                <a:cs typeface="Times New Roman"/>
              </a:defRPr>
            </a:lvl3pPr>
            <a:lvl4pPr>
              <a:defRPr sz="1875" b="0">
                <a:solidFill>
                  <a:srgbClr val="193047"/>
                </a:solidFill>
                <a:latin typeface="Times New Roman"/>
                <a:ea typeface="Times New Roman"/>
                <a:cs typeface="Times New Roman"/>
              </a:defRPr>
            </a:lvl4pPr>
            <a:lvl5pPr>
              <a:defRPr sz="1875" b="0">
                <a:solidFill>
                  <a:srgbClr val="193047"/>
                </a:solidFill>
                <a:latin typeface="Times New Roman"/>
                <a:ea typeface="Times New Roman"/>
                <a:cs typeface="Times New Roman"/>
              </a:defRPr>
            </a:lvl5pPr>
            <a:lvl6pPr>
              <a:defRPr sz="1875" b="0">
                <a:solidFill>
                  <a:srgbClr val="193047"/>
                </a:solidFill>
                <a:latin typeface="Times New Roman"/>
                <a:ea typeface="Times New Roman"/>
                <a:cs typeface="Times New Roman"/>
              </a:defRPr>
            </a:lvl6pPr>
            <a:lvl7pPr>
              <a:defRPr sz="1875" b="0">
                <a:solidFill>
                  <a:srgbClr val="193047"/>
                </a:solidFill>
                <a:latin typeface="Times New Roman"/>
                <a:ea typeface="Times New Roman"/>
                <a:cs typeface="Times New Roman"/>
              </a:defRPr>
            </a:lvl7pPr>
            <a:lvl8pPr>
              <a:defRPr sz="1875" b="0">
                <a:solidFill>
                  <a:srgbClr val="193047"/>
                </a:solidFill>
                <a:latin typeface="Times New Roman"/>
                <a:ea typeface="Times New Roman"/>
                <a:cs typeface="Times New Roman"/>
              </a:defRPr>
            </a:lvl8pPr>
            <a:lvl9pPr>
              <a:defRPr sz="1875" b="0">
                <a:solidFill>
                  <a:srgbClr val="193047"/>
                </a:solidFill>
                <a:latin typeface="Times New Roman"/>
                <a:ea typeface="Times New Roman"/>
                <a:cs typeface="Times New Roman"/>
              </a:defRPr>
            </a:lvl9pPr>
          </a:lstStyle>
          <a:p xmlns:a="http://schemas.openxmlformats.org/drawingml/2006/main">
            <a:pPr>
              <a:defRPr sz="1875" b="0">
                <a:solidFill>
                  <a:srgbClr val="193047"/>
                </a:solidFill>
                <a:latin typeface="Times New Roman"/>
                <a:ea typeface="Times New Roman"/>
                <a:cs typeface="Times New Roman"/>
              </a:defRPr>
            </a:pPr>
            <a:r>
              <a:rPr sz="1875" b="0">
                <a:solidFill>
                  <a:srgbClr val="193047"/>
                </a:solidFill>
                <a:latin typeface="Times New Roman"/>
                <a:ea typeface="Times New Roman"/>
                <a:cs typeface="Times New Roman"/>
              </a:rPr>
              <a:t>Three expanding time-CV folds select parameters before test results.</a:t>
            </a:r>
          </a:p>
        </p:txBody>
      </p:sp>
      <p:sp>
        <p:nvSpPr>
          <p:cNvPr id="7" name="">
            <a:extLst xmlns:a="http://schemas.openxmlformats.org/drawingml/2006/main">
              <a:ext uri="{FF2B5EF4-FFF2-40B4-BE49-F238E27FC236}">
                <a16:creationId xmlns:a16="http://schemas.microsoft.com/office/drawing/2014/main" id="{E85217F2-2F44-498C-B010-BEF39F3C75C4}"/>
              </a:ext>
            </a:extLst>
          </p:cNvPr>
          <p:cNvSpPr>
            <a:spLocks xmlns:a="http://schemas.openxmlformats.org/drawingml/2006/main" noGrp="1"/>
          </p:cNvSpPr>
          <p:nvPr/>
        </p:nvSpPr>
        <p:spPr>
          <a:xfrm xmlns:a="http://schemas.openxmlformats.org/drawingml/2006/main">
            <a:off x="714375" y="538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776B"/>
                </a:solidFill>
                <a:latin typeface="Times New Roman"/>
                <a:ea typeface="Times New Roman"/>
                <a:cs typeface="Times New Roman"/>
              </a:defRPr>
            </a:defPPr>
            <a:lvl1pPr>
              <a:defRPr sz="1875" b="1">
                <a:solidFill>
                  <a:srgbClr val="28776B"/>
                </a:solidFill>
                <a:latin typeface="Times New Roman"/>
                <a:ea typeface="Times New Roman"/>
                <a:cs typeface="Times New Roman"/>
              </a:defRPr>
            </a:lvl1pPr>
            <a:lvl2pPr>
              <a:defRPr sz="1875" b="1">
                <a:solidFill>
                  <a:srgbClr val="28776B"/>
                </a:solidFill>
                <a:latin typeface="Times New Roman"/>
                <a:ea typeface="Times New Roman"/>
                <a:cs typeface="Times New Roman"/>
              </a:defRPr>
            </a:lvl2pPr>
            <a:lvl3pPr>
              <a:defRPr sz="1875" b="1">
                <a:solidFill>
                  <a:srgbClr val="28776B"/>
                </a:solidFill>
                <a:latin typeface="Times New Roman"/>
                <a:ea typeface="Times New Roman"/>
                <a:cs typeface="Times New Roman"/>
              </a:defRPr>
            </a:lvl3pPr>
            <a:lvl4pPr>
              <a:defRPr sz="1875" b="1">
                <a:solidFill>
                  <a:srgbClr val="28776B"/>
                </a:solidFill>
                <a:latin typeface="Times New Roman"/>
                <a:ea typeface="Times New Roman"/>
                <a:cs typeface="Times New Roman"/>
              </a:defRPr>
            </a:lvl4pPr>
            <a:lvl5pPr>
              <a:defRPr sz="1875" b="1">
                <a:solidFill>
                  <a:srgbClr val="28776B"/>
                </a:solidFill>
                <a:latin typeface="Times New Roman"/>
                <a:ea typeface="Times New Roman"/>
                <a:cs typeface="Times New Roman"/>
              </a:defRPr>
            </a:lvl5pPr>
            <a:lvl6pPr>
              <a:defRPr sz="1875" b="1">
                <a:solidFill>
                  <a:srgbClr val="28776B"/>
                </a:solidFill>
                <a:latin typeface="Times New Roman"/>
                <a:ea typeface="Times New Roman"/>
                <a:cs typeface="Times New Roman"/>
              </a:defRPr>
            </a:lvl6pPr>
            <a:lvl7pPr>
              <a:defRPr sz="1875" b="1">
                <a:solidFill>
                  <a:srgbClr val="28776B"/>
                </a:solidFill>
                <a:latin typeface="Times New Roman"/>
                <a:ea typeface="Times New Roman"/>
                <a:cs typeface="Times New Roman"/>
              </a:defRPr>
            </a:lvl7pPr>
            <a:lvl8pPr>
              <a:defRPr sz="1875" b="1">
                <a:solidFill>
                  <a:srgbClr val="28776B"/>
                </a:solidFill>
                <a:latin typeface="Times New Roman"/>
                <a:ea typeface="Times New Roman"/>
                <a:cs typeface="Times New Roman"/>
              </a:defRPr>
            </a:lvl8pPr>
            <a:lvl9pPr>
              <a:defRPr sz="1875" b="1">
                <a:solidFill>
                  <a:srgbClr val="28776B"/>
                </a:solidFill>
                <a:latin typeface="Times New Roman"/>
                <a:ea typeface="Times New Roman"/>
                <a:cs typeface="Times New Roman"/>
              </a:defRPr>
            </a:lvl9pPr>
          </a:lstStyle>
          <a:p xmlns:a="http://schemas.openxmlformats.org/drawingml/2006/main">
            <a:pPr>
              <a:defRPr sz="1875" b="1">
                <a:solidFill>
                  <a:srgbClr val="28776B"/>
                </a:solidFill>
                <a:latin typeface="Times New Roman"/>
                <a:ea typeface="Times New Roman"/>
                <a:cs typeface="Times New Roman"/>
              </a:defRPr>
            </a:pPr>
            <a:r>
              <a:rPr sz="1875" b="1">
                <a:solidFill>
                  <a:srgbClr val="28776B"/>
                </a:solidFill>
                <a:latin typeface="Times New Roman"/>
                <a:ea typeface="Times New Roman"/>
                <a:cs typeface="Times New Roman"/>
              </a:rPr>
              <a:t>Extreme labels train classifiers; the full eligible universe receives scores.</a:t>
            </a:r>
          </a:p>
        </p:txBody>
      </p:sp>
    </p:spTree>
    <p:extLst>
      <p:ext uri="{BB962C8B-B14F-4D97-AF65-F5344CB8AC3E}">
        <p14:creationId xmlns:p14="http://schemas.microsoft.com/office/powerpoint/2010/main" val="491213125"/>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065AA7-0CAB-4D9C-8505-8806C3ACC029}"/>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317333E8-6304-4C32-8DEC-2C78A032E1CB}"/>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Model specification and complexity</a:t>
            </a:r>
          </a:p>
        </p:txBody>
      </p:sp>
      <p:sp>
        <p:nvSpPr>
          <p:cNvPr id="3" name="">
            <a:extLst xmlns:a="http://schemas.openxmlformats.org/drawingml/2006/main">
              <a:ext uri="{FF2B5EF4-FFF2-40B4-BE49-F238E27FC236}">
                <a16:creationId xmlns:a16="http://schemas.microsoft.com/office/drawing/2014/main" id="{EAC56C8D-DD87-4A89-89C9-811B95BF0050}"/>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05</a:t>
            </a:r>
          </a:p>
        </p:txBody>
      </p:sp>
      <p:sp>
        <p:nvSpPr>
          <p:cNvPr id="4" name="">
            <a:extLst xmlns:a="http://schemas.openxmlformats.org/drawingml/2006/main">
              <a:ext uri="{FF2B5EF4-FFF2-40B4-BE49-F238E27FC236}">
                <a16:creationId xmlns:a16="http://schemas.microsoft.com/office/drawing/2014/main" id="{FC59237F-9E9C-461D-973D-10037749E23D}"/>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
            <a:extLst xmlns:a="http://schemas.openxmlformats.org/drawingml/2006/main">
              <a:ext uri="{FF2B5EF4-FFF2-40B4-BE49-F238E27FC236}">
                <a16:creationId xmlns:a16="http://schemas.microsoft.com/office/drawing/2014/main" id="{0A07C45D-1357-40C6-B006-4963A77F1B30}"/>
              </a:ext>
            </a:extLst>
          </p:cNvPr>
          <p:cNvGraphicFramePr/>
          <p:nvPr/>
        </p:nvGraphicFramePr>
        <p:xfrm>
          <a:off xmlns:a="http://schemas.openxmlformats.org/drawingml/2006/main" x="666750" y="1762125"/>
          <a:ext xmlns:a="http://schemas.openxmlformats.org/drawingml/2006/main" cx="10572750" cy="3048000"/>
        </p:xfrm>
        <a:graphic xmlns:a="http://schemas.openxmlformats.org/drawingml/2006/main">
          <a:graphicData uri="http://schemas.openxmlformats.org/drawingml/2006/table">
            <a:tbl>
              <a:tblPr/>
              <a:tblGrid>
                <a:gridCol w="3524250"/>
                <a:gridCol w="3524250"/>
                <a:gridCol w="3524250"/>
              </a:tblGrid>
              <a:tr h="609600">
                <a:tc>
                  <a:txBody>
                    <a:bodyPr/>
                    <a:lstStyle/>
                    <a:p>
                      <a:r>
                        <a:rPr sz="1725" b="1">
                          <a:solidFill>
                            <a:srgbClr val="FFFFFF"/>
                          </a:solidFill>
                          <a:latin typeface="Times New Roman"/>
                          <a:ea typeface="Times New Roman"/>
                          <a:cs typeface="Times New Roman"/>
                        </a:rPr>
                        <a:t>Model</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Role</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Selected configuration</a:t>
                      </a:r>
                    </a:p>
                  </a:txBody>
                  <a:tcPr marL="91440" marR="91440" marT="45720" marB="45720">
                    <a:solidFill>
                      <a:srgbClr val="193047"/>
                    </a:solidFill>
                  </a:tcPr>
                </a:tc>
              </a:tr>
              <a:tr h="609600">
                <a:tc>
                  <a:txBody>
                    <a:bodyPr/>
                    <a:lstStyle/>
                    <a:p>
                      <a:r>
                        <a:rPr sz="1725" b="0">
                          <a:solidFill>
                            <a:srgbClr val="193047"/>
                          </a:solidFill>
                          <a:latin typeface="Times New Roman"/>
                          <a:ea typeface="Times New Roman"/>
                          <a:cs typeface="Times New Roman"/>
                        </a:rPr>
                        <a:t>LR</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Linear baseline</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C = 0.01</a:t>
                      </a:r>
                    </a:p>
                  </a:txBody>
                  <a:tcPr marL="91440" marR="91440" marT="45720" marB="45720">
                    <a:solidFill>
                      <a:srgbClr val="F0F3F1"/>
                    </a:solidFill>
                  </a:tcPr>
                </a:tc>
              </a:tr>
              <a:tr h="609600">
                <a:tc>
                  <a:txBody>
                    <a:bodyPr/>
                    <a:lstStyle/>
                    <a:p>
                      <a:r>
                        <a:rPr sz="1725" b="0">
                          <a:solidFill>
                            <a:srgbClr val="193047"/>
                          </a:solidFill>
                          <a:latin typeface="Times New Roman"/>
                          <a:ea typeface="Times New Roman"/>
                          <a:cs typeface="Times New Roman"/>
                        </a:rPr>
                        <a:t>RF</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Bagging ensemble</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160 trees / depth 4</a:t>
                      </a:r>
                    </a:p>
                  </a:txBody>
                  <a:tcPr marL="91440" marR="91440" marT="45720" marB="45720">
                    <a:solidFill>
                      <a:srgbClr val="FFFFFF"/>
                    </a:solidFill>
                  </a:tcPr>
                </a:tc>
              </a:tr>
              <a:tr h="609600">
                <a:tc>
                  <a:txBody>
                    <a:bodyPr/>
                    <a:lstStyle/>
                    <a:p>
                      <a:r>
                        <a:rPr sz="1725" b="0">
                          <a:solidFill>
                            <a:srgbClr val="193047"/>
                          </a:solidFill>
                          <a:latin typeface="Times New Roman"/>
                          <a:ea typeface="Times New Roman"/>
                          <a:cs typeface="Times New Roman"/>
                        </a:rPr>
                        <a:t>XGB</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Regularized boosting</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100 trees / depth 2</a:t>
                      </a:r>
                    </a:p>
                  </a:txBody>
                  <a:tcPr marL="91440" marR="91440" marT="45720" marB="45720">
                    <a:solidFill>
                      <a:srgbClr val="F0F3F1"/>
                    </a:solidFill>
                  </a:tcPr>
                </a:tc>
              </a:tr>
              <a:tr h="609600">
                <a:tc>
                  <a:txBody>
                    <a:bodyPr/>
                    <a:lstStyle/>
                    <a:p>
                      <a:r>
                        <a:rPr sz="1725" b="0">
                          <a:solidFill>
                            <a:srgbClr val="193047"/>
                          </a:solidFill>
                          <a:latin typeface="Times New Roman"/>
                          <a:ea typeface="Times New Roman"/>
                          <a:cs typeface="Times New Roman"/>
                        </a:rPr>
                        <a:t>LGBM</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Regularized boosting</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100 trees / depth 2</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744FE7B-2401-4A7D-BC30-485F081FD783}"/>
              </a:ext>
            </a:extLst>
          </p:cNvPr>
          <p:cNvSpPr>
            <a:spLocks xmlns:a="http://schemas.openxmlformats.org/drawingml/2006/main" noGrp="1"/>
          </p:cNvSpPr>
          <p:nvPr/>
        </p:nvSpPr>
        <p:spPr>
          <a:xfrm xmlns:a="http://schemas.openxmlformats.org/drawingml/2006/main">
            <a:off x="714375" y="5238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8776B"/>
                </a:solidFill>
                <a:latin typeface="Times New Roman"/>
                <a:ea typeface="Times New Roman"/>
                <a:cs typeface="Times New Roman"/>
              </a:defRPr>
            </a:defPPr>
            <a:lvl1pPr>
              <a:defRPr sz="1950" b="1">
                <a:solidFill>
                  <a:srgbClr val="28776B"/>
                </a:solidFill>
                <a:latin typeface="Times New Roman"/>
                <a:ea typeface="Times New Roman"/>
                <a:cs typeface="Times New Roman"/>
              </a:defRPr>
            </a:lvl1pPr>
            <a:lvl2pPr>
              <a:defRPr sz="1950" b="1">
                <a:solidFill>
                  <a:srgbClr val="28776B"/>
                </a:solidFill>
                <a:latin typeface="Times New Roman"/>
                <a:ea typeface="Times New Roman"/>
                <a:cs typeface="Times New Roman"/>
              </a:defRPr>
            </a:lvl2pPr>
            <a:lvl3pPr>
              <a:defRPr sz="1950" b="1">
                <a:solidFill>
                  <a:srgbClr val="28776B"/>
                </a:solidFill>
                <a:latin typeface="Times New Roman"/>
                <a:ea typeface="Times New Roman"/>
                <a:cs typeface="Times New Roman"/>
              </a:defRPr>
            </a:lvl3pPr>
            <a:lvl4pPr>
              <a:defRPr sz="1950" b="1">
                <a:solidFill>
                  <a:srgbClr val="28776B"/>
                </a:solidFill>
                <a:latin typeface="Times New Roman"/>
                <a:ea typeface="Times New Roman"/>
                <a:cs typeface="Times New Roman"/>
              </a:defRPr>
            </a:lvl4pPr>
            <a:lvl5pPr>
              <a:defRPr sz="1950" b="1">
                <a:solidFill>
                  <a:srgbClr val="28776B"/>
                </a:solidFill>
                <a:latin typeface="Times New Roman"/>
                <a:ea typeface="Times New Roman"/>
                <a:cs typeface="Times New Roman"/>
              </a:defRPr>
            </a:lvl5pPr>
            <a:lvl6pPr>
              <a:defRPr sz="1950" b="1">
                <a:solidFill>
                  <a:srgbClr val="28776B"/>
                </a:solidFill>
                <a:latin typeface="Times New Roman"/>
                <a:ea typeface="Times New Roman"/>
                <a:cs typeface="Times New Roman"/>
              </a:defRPr>
            </a:lvl6pPr>
            <a:lvl7pPr>
              <a:defRPr sz="1950" b="1">
                <a:solidFill>
                  <a:srgbClr val="28776B"/>
                </a:solidFill>
                <a:latin typeface="Times New Roman"/>
                <a:ea typeface="Times New Roman"/>
                <a:cs typeface="Times New Roman"/>
              </a:defRPr>
            </a:lvl7pPr>
            <a:lvl8pPr>
              <a:defRPr sz="1950" b="1">
                <a:solidFill>
                  <a:srgbClr val="28776B"/>
                </a:solidFill>
                <a:latin typeface="Times New Roman"/>
                <a:ea typeface="Times New Roman"/>
                <a:cs typeface="Times New Roman"/>
              </a:defRPr>
            </a:lvl8pPr>
            <a:lvl9pPr>
              <a:defRPr sz="1950" b="1">
                <a:solidFill>
                  <a:srgbClr val="28776B"/>
                </a:solidFill>
                <a:latin typeface="Times New Roman"/>
                <a:ea typeface="Times New Roman"/>
                <a:cs typeface="Times New Roman"/>
              </a:defRPr>
            </a:lvl9pPr>
          </a:lstStyle>
          <a:p xmlns:a="http://schemas.openxmlformats.org/drawingml/2006/main">
            <a:pPr>
              <a:defRPr sz="1950" b="1">
                <a:solidFill>
                  <a:srgbClr val="28776B"/>
                </a:solidFill>
                <a:latin typeface="Times New Roman"/>
                <a:ea typeface="Times New Roman"/>
                <a:cs typeface="Times New Roman"/>
              </a:defRPr>
            </a:pPr>
            <a:r>
              <a:rPr sz="1950" b="1">
                <a:solidFill>
                  <a:srgbClr val="28776B"/>
                </a:solidFill>
                <a:latin typeface="Times New Roman"/>
                <a:ea typeface="Times New Roman"/>
                <a:cs typeface="Times New Roman"/>
              </a:rPr>
              <a:t>Shared preprocessing, sample dates and eligibility rules across all models</a:t>
            </a:r>
          </a:p>
        </p:txBody>
      </p:sp>
    </p:spTree>
    <p:extLst>
      <p:ext uri="{BB962C8B-B14F-4D97-AF65-F5344CB8AC3E}">
        <p14:creationId xmlns:p14="http://schemas.microsoft.com/office/powerpoint/2010/main" val="558547200"/>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CFEA43-1AB6-4B9E-A2F2-B3BDB10F1B68}"/>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7736F993-6E53-467A-8E1A-28E6AC2DCB3C}"/>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Independent test prediction</a:t>
            </a:r>
          </a:p>
        </p:txBody>
      </p:sp>
      <p:sp>
        <p:nvSpPr>
          <p:cNvPr id="3" name="">
            <a:extLst xmlns:a="http://schemas.openxmlformats.org/drawingml/2006/main">
              <a:ext uri="{FF2B5EF4-FFF2-40B4-BE49-F238E27FC236}">
                <a16:creationId xmlns:a16="http://schemas.microsoft.com/office/drawing/2014/main" id="{2C7CACB3-3182-4C84-8B82-A83D11873F1A}"/>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06</a:t>
            </a:r>
          </a:p>
        </p:txBody>
      </p:sp>
      <p:sp>
        <p:nvSpPr>
          <p:cNvPr id="4" name="">
            <a:extLst xmlns:a="http://schemas.openxmlformats.org/drawingml/2006/main">
              <a:ext uri="{FF2B5EF4-FFF2-40B4-BE49-F238E27FC236}">
                <a16:creationId xmlns:a16="http://schemas.microsoft.com/office/drawing/2014/main" id="{0538A0B7-D5D8-4095-8228-90747D5BC2CE}"/>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
            <a:extLst xmlns:a="http://schemas.openxmlformats.org/drawingml/2006/main">
              <a:ext uri="{FF2B5EF4-FFF2-40B4-BE49-F238E27FC236}">
                <a16:creationId xmlns:a16="http://schemas.microsoft.com/office/drawing/2014/main" id="{ACB2DA32-8338-49A3-9F03-0E668185B9E0}"/>
              </a:ext>
            </a:extLst>
          </p:cNvPr>
          <p:cNvGraphicFramePr/>
          <p:nvPr/>
        </p:nvGraphicFramePr>
        <p:xfrm>
          <a:off xmlns:a="http://schemas.openxmlformats.org/drawingml/2006/main" x="666750" y="1666875"/>
          <a:ext xmlns:a="http://schemas.openxmlformats.org/drawingml/2006/main" cx="10572750" cy="2857500"/>
        </p:xfrm>
        <a:graphic xmlns:a="http://schemas.openxmlformats.org/drawingml/2006/main">
          <a:graphicData uri="http://schemas.openxmlformats.org/drawingml/2006/table">
            <a:tbl>
              <a:tblPr/>
              <a:tblGrid>
                <a:gridCol w="2114550"/>
                <a:gridCol w="2114550"/>
                <a:gridCol w="2114550"/>
                <a:gridCol w="2114550"/>
                <a:gridCol w="2114550"/>
              </a:tblGrid>
              <a:tr h="571500">
                <a:tc>
                  <a:txBody>
                    <a:bodyPr/>
                    <a:lstStyle/>
                    <a:p>
                      <a:r>
                        <a:rPr sz="1725" b="1">
                          <a:solidFill>
                            <a:srgbClr val="FFFFFF"/>
                          </a:solidFill>
                          <a:latin typeface="Times New Roman"/>
                          <a:ea typeface="Times New Roman"/>
                          <a:cs typeface="Times New Roman"/>
                        </a:rPr>
                        <a:t>Model</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Accuracy</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ROC AUC</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Log loss</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Rank IC</a:t>
                      </a:r>
                    </a:p>
                  </a:txBody>
                  <a:tcPr marL="91440" marR="91440" marT="45720" marB="45720">
                    <a:solidFill>
                      <a:srgbClr val="193047"/>
                    </a:solidFill>
                  </a:tcPr>
                </a:tc>
              </a:tr>
              <a:tr h="571500">
                <a:tc>
                  <a:txBody>
                    <a:bodyPr/>
                    <a:lstStyle/>
                    <a:p>
                      <a:r>
                        <a:rPr sz="1725" b="0">
                          <a:solidFill>
                            <a:srgbClr val="193047"/>
                          </a:solidFill>
                          <a:latin typeface="Times New Roman"/>
                          <a:ea typeface="Times New Roman"/>
                          <a:cs typeface="Times New Roman"/>
                        </a:rPr>
                        <a:t>LR</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52.0%</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0.532</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0.6910</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0.044</a:t>
                      </a:r>
                    </a:p>
                  </a:txBody>
                  <a:tcPr marL="91440" marR="91440" marT="45720" marB="45720">
                    <a:solidFill>
                      <a:srgbClr val="F0F3F1"/>
                    </a:solidFill>
                  </a:tcPr>
                </a:tc>
              </a:tr>
              <a:tr h="571500">
                <a:tc>
                  <a:txBody>
                    <a:bodyPr/>
                    <a:lstStyle/>
                    <a:p>
                      <a:r>
                        <a:rPr sz="1725" b="0">
                          <a:solidFill>
                            <a:srgbClr val="193047"/>
                          </a:solidFill>
                          <a:latin typeface="Times New Roman"/>
                          <a:ea typeface="Times New Roman"/>
                          <a:cs typeface="Times New Roman"/>
                        </a:rPr>
                        <a:t>RF</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54.6%</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0.555</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0.6878</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0.081</a:t>
                      </a:r>
                    </a:p>
                  </a:txBody>
                  <a:tcPr marL="91440" marR="91440" marT="45720" marB="45720">
                    <a:solidFill>
                      <a:srgbClr val="FFFFFF"/>
                    </a:solidFill>
                  </a:tcPr>
                </a:tc>
              </a:tr>
              <a:tr h="571500">
                <a:tc>
                  <a:txBody>
                    <a:bodyPr/>
                    <a:lstStyle/>
                    <a:p>
                      <a:r>
                        <a:rPr sz="1725" b="0">
                          <a:solidFill>
                            <a:srgbClr val="193047"/>
                          </a:solidFill>
                          <a:latin typeface="Times New Roman"/>
                          <a:ea typeface="Times New Roman"/>
                          <a:cs typeface="Times New Roman"/>
                        </a:rPr>
                        <a:t>XGB</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54.2%</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0.553</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0.6880</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0.078</a:t>
                      </a:r>
                    </a:p>
                  </a:txBody>
                  <a:tcPr marL="91440" marR="91440" marT="45720" marB="45720">
                    <a:solidFill>
                      <a:srgbClr val="F0F3F1"/>
                    </a:solidFill>
                  </a:tcPr>
                </a:tc>
              </a:tr>
              <a:tr h="571500">
                <a:tc>
                  <a:txBody>
                    <a:bodyPr/>
                    <a:lstStyle/>
                    <a:p>
                      <a:r>
                        <a:rPr sz="1725" b="0">
                          <a:solidFill>
                            <a:srgbClr val="193047"/>
                          </a:solidFill>
                          <a:latin typeface="Times New Roman"/>
                          <a:ea typeface="Times New Roman"/>
                          <a:cs typeface="Times New Roman"/>
                        </a:rPr>
                        <a:t>LGBM</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54.0%</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0.550</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0.6881</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0.073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56CB351-5742-4F99-8894-5C6FA2B4F790}"/>
              </a:ext>
            </a:extLst>
          </p:cNvPr>
          <p:cNvSpPr>
            <a:spLocks xmlns:a="http://schemas.openxmlformats.org/drawingml/2006/main" noGrp="1"/>
          </p:cNvSpPr>
          <p:nvPr/>
        </p:nvSpPr>
        <p:spPr>
          <a:xfrm xmlns:a="http://schemas.openxmlformats.org/drawingml/2006/main">
            <a:off x="714375" y="5048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776B"/>
                </a:solidFill>
                <a:latin typeface="Times New Roman"/>
                <a:ea typeface="Times New Roman"/>
                <a:cs typeface="Times New Roman"/>
              </a:defRPr>
            </a:defPPr>
            <a:lvl1pPr>
              <a:defRPr sz="2100" b="1">
                <a:solidFill>
                  <a:srgbClr val="28776B"/>
                </a:solidFill>
                <a:latin typeface="Times New Roman"/>
                <a:ea typeface="Times New Roman"/>
                <a:cs typeface="Times New Roman"/>
              </a:defRPr>
            </a:lvl1pPr>
            <a:lvl2pPr>
              <a:defRPr sz="2100" b="1">
                <a:solidFill>
                  <a:srgbClr val="28776B"/>
                </a:solidFill>
                <a:latin typeface="Times New Roman"/>
                <a:ea typeface="Times New Roman"/>
                <a:cs typeface="Times New Roman"/>
              </a:defRPr>
            </a:lvl2pPr>
            <a:lvl3pPr>
              <a:defRPr sz="2100" b="1">
                <a:solidFill>
                  <a:srgbClr val="28776B"/>
                </a:solidFill>
                <a:latin typeface="Times New Roman"/>
                <a:ea typeface="Times New Roman"/>
                <a:cs typeface="Times New Roman"/>
              </a:defRPr>
            </a:lvl3pPr>
            <a:lvl4pPr>
              <a:defRPr sz="2100" b="1">
                <a:solidFill>
                  <a:srgbClr val="28776B"/>
                </a:solidFill>
                <a:latin typeface="Times New Roman"/>
                <a:ea typeface="Times New Roman"/>
                <a:cs typeface="Times New Roman"/>
              </a:defRPr>
            </a:lvl4pPr>
            <a:lvl5pPr>
              <a:defRPr sz="2100" b="1">
                <a:solidFill>
                  <a:srgbClr val="28776B"/>
                </a:solidFill>
                <a:latin typeface="Times New Roman"/>
                <a:ea typeface="Times New Roman"/>
                <a:cs typeface="Times New Roman"/>
              </a:defRPr>
            </a:lvl5pPr>
            <a:lvl6pPr>
              <a:defRPr sz="2100" b="1">
                <a:solidFill>
                  <a:srgbClr val="28776B"/>
                </a:solidFill>
                <a:latin typeface="Times New Roman"/>
                <a:ea typeface="Times New Roman"/>
                <a:cs typeface="Times New Roman"/>
              </a:defRPr>
            </a:lvl6pPr>
            <a:lvl7pPr>
              <a:defRPr sz="2100" b="1">
                <a:solidFill>
                  <a:srgbClr val="28776B"/>
                </a:solidFill>
                <a:latin typeface="Times New Roman"/>
                <a:ea typeface="Times New Roman"/>
                <a:cs typeface="Times New Roman"/>
              </a:defRPr>
            </a:lvl7pPr>
            <a:lvl8pPr>
              <a:defRPr sz="2100" b="1">
                <a:solidFill>
                  <a:srgbClr val="28776B"/>
                </a:solidFill>
                <a:latin typeface="Times New Roman"/>
                <a:ea typeface="Times New Roman"/>
                <a:cs typeface="Times New Roman"/>
              </a:defRPr>
            </a:lvl8pPr>
            <a:lvl9pPr>
              <a:defRPr sz="2100" b="1">
                <a:solidFill>
                  <a:srgbClr val="28776B"/>
                </a:solidFill>
                <a:latin typeface="Times New Roman"/>
                <a:ea typeface="Times New Roman"/>
                <a:cs typeface="Times New Roman"/>
              </a:defRPr>
            </a:lvl9pPr>
          </a:lstStyle>
          <a:p xmlns:a="http://schemas.openxmlformats.org/drawingml/2006/main">
            <a:pPr>
              <a:defRPr sz="2100" b="1">
                <a:solidFill>
                  <a:srgbClr val="28776B"/>
                </a:solidFill>
                <a:latin typeface="Times New Roman"/>
                <a:ea typeface="Times New Roman"/>
                <a:cs typeface="Times New Roman"/>
              </a:defRPr>
            </a:pPr>
            <a:r>
              <a:rPr sz="2100" b="1">
                <a:solidFill>
                  <a:srgbClr val="28776B"/>
                </a:solidFill>
                <a:latin typeface="Times New Roman"/>
                <a:ea typeface="Times New Roman"/>
                <a:cs typeface="Times New Roman"/>
              </a:rPr>
              <a:t>RF leads test discrimination; all models retain substantial prediction noise.</a:t>
            </a:r>
          </a:p>
        </p:txBody>
      </p:sp>
    </p:spTree>
    <p:extLst>
      <p:ext uri="{BB962C8B-B14F-4D97-AF65-F5344CB8AC3E}">
        <p14:creationId xmlns:p14="http://schemas.microsoft.com/office/powerpoint/2010/main" val="1932587421"/>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4D30F7-8AD5-442A-9D47-732F0E111931}"/>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208C3C4C-F77D-4FE5-B36C-DDC2F94D8C80}"/>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Ranking across ten portfolios</a:t>
            </a:r>
          </a:p>
        </p:txBody>
      </p:sp>
      <p:sp>
        <p:nvSpPr>
          <p:cNvPr id="3" name="">
            <a:extLst xmlns:a="http://schemas.openxmlformats.org/drawingml/2006/main">
              <a:ext uri="{FF2B5EF4-FFF2-40B4-BE49-F238E27FC236}">
                <a16:creationId xmlns:a16="http://schemas.microsoft.com/office/drawing/2014/main" id="{3FB888F9-322C-4F74-8245-44520CF976A3}"/>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07</a:t>
            </a:r>
          </a:p>
        </p:txBody>
      </p:sp>
      <p:sp>
        <p:nvSpPr>
          <p:cNvPr id="4" name="">
            <a:extLst xmlns:a="http://schemas.openxmlformats.org/drawingml/2006/main">
              <a:ext uri="{FF2B5EF4-FFF2-40B4-BE49-F238E27FC236}">
                <a16:creationId xmlns:a16="http://schemas.microsoft.com/office/drawing/2014/main" id="{E9D29C5B-8B2F-4A0F-B91B-60B68A876D04}"/>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Chart">
            <a:extLst xmlns:a="http://schemas.openxmlformats.org/drawingml/2006/main">
              <a:ext uri="{FF2B5EF4-FFF2-40B4-BE49-F238E27FC236}">
                <a16:creationId xmlns:a16="http://schemas.microsoft.com/office/drawing/2014/main" id="{5485CA70-D6F6-42B2-8D6F-6132D6465AF3}"/>
              </a:ext>
            </a:extLst>
          </p:cNvPr>
          <p:cNvGraphicFramePr/>
          <p:nvPr/>
        </p:nvGraphicFramePr>
        <p:xfrm>
          <a:off xmlns:a="http://schemas.openxmlformats.org/drawingml/2006/main" x="666750" y="1666875"/>
          <a:ext xmlns:a="http://schemas.openxmlformats.org/drawingml/2006/main" cx="10572750" cy="3476625"/>
        </p:xfrm>
        <a:graphic xmlns:a="http://schemas.openxmlformats.org/drawingml/2006/main">
          <a:graphicData uri="http://schemas.openxmlformats.org/drawingml/2006/chart">
            <c:chart xmlns:r="http://schemas.openxmlformats.org/officeDocument/2006/relationships" xmlns:c="http://schemas.openxmlformats.org/drawingml/2006/chart" r:id="R0fc83036b5d34602"/>
          </a:graphicData>
        </a:graphic>
      </p:graphicFrame>
      <p:sp>
        <p:nvSpPr>
          <p:cNvPr id="6" name="">
            <a:extLst xmlns:a="http://schemas.openxmlformats.org/drawingml/2006/main">
              <a:ext uri="{FF2B5EF4-FFF2-40B4-BE49-F238E27FC236}">
                <a16:creationId xmlns:a16="http://schemas.microsoft.com/office/drawing/2014/main" id="{F75A3434-2668-4450-86BE-7354F77F4835}"/>
              </a:ext>
            </a:extLst>
          </p:cNvPr>
          <p:cNvSpPr>
            <a:spLocks xmlns:a="http://schemas.openxmlformats.org/drawingml/2006/main" noGrp="1"/>
          </p:cNvSpPr>
          <p:nvPr/>
        </p:nvSpPr>
        <p:spPr>
          <a:xfrm xmlns:a="http://schemas.openxmlformats.org/drawingml/2006/main">
            <a:off x="3190875" y="5286375"/>
            <a:ext cx="209550" cy="38100"/>
          </a:xfrm>
          <a:prstGeom xmlns:a="http://schemas.openxmlformats.org/drawingml/2006/main" prst="rect">
            <a:avLst/>
          </a:prstGeom>
          <a:solidFill xmlns:a="http://schemas.openxmlformats.org/drawingml/2006/main">
            <a:srgbClr val="7A808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53163A-BBEA-41EE-8A3D-17BF14602825}"/>
              </a:ext>
            </a:extLst>
          </p:cNvPr>
          <p:cNvSpPr>
            <a:spLocks xmlns:a="http://schemas.openxmlformats.org/drawingml/2006/main" noGrp="1"/>
          </p:cNvSpPr>
          <p:nvPr/>
        </p:nvSpPr>
        <p:spPr>
          <a:xfrm xmlns:a="http://schemas.openxmlformats.org/drawingml/2006/main">
            <a:off x="347662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LR</a:t>
            </a:r>
          </a:p>
        </p:txBody>
      </p:sp>
      <p:sp>
        <p:nvSpPr>
          <p:cNvPr id="8" name="">
            <a:extLst xmlns:a="http://schemas.openxmlformats.org/drawingml/2006/main">
              <a:ext uri="{FF2B5EF4-FFF2-40B4-BE49-F238E27FC236}">
                <a16:creationId xmlns:a16="http://schemas.microsoft.com/office/drawing/2014/main" id="{1D72999C-C390-4DB4-BDD7-10EA91DF30CE}"/>
              </a:ext>
            </a:extLst>
          </p:cNvPr>
          <p:cNvSpPr>
            <a:spLocks xmlns:a="http://schemas.openxmlformats.org/drawingml/2006/main" noGrp="1"/>
          </p:cNvSpPr>
          <p:nvPr/>
        </p:nvSpPr>
        <p:spPr>
          <a:xfrm xmlns:a="http://schemas.openxmlformats.org/drawingml/2006/main">
            <a:off x="4572000" y="5286375"/>
            <a:ext cx="209550" cy="38100"/>
          </a:xfrm>
          <a:prstGeom xmlns:a="http://schemas.openxmlformats.org/drawingml/2006/main" prst="rect">
            <a:avLst/>
          </a:prstGeom>
          <a:solidFill xmlns:a="http://schemas.openxmlformats.org/drawingml/2006/main">
            <a:srgbClr val="1C55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9A6556-062D-40A0-B13A-BD06D0FB8D44}"/>
              </a:ext>
            </a:extLst>
          </p:cNvPr>
          <p:cNvSpPr>
            <a:spLocks xmlns:a="http://schemas.openxmlformats.org/drawingml/2006/main" noGrp="1"/>
          </p:cNvSpPr>
          <p:nvPr/>
        </p:nvSpPr>
        <p:spPr>
          <a:xfrm xmlns:a="http://schemas.openxmlformats.org/drawingml/2006/main">
            <a:off x="485775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RF</a:t>
            </a:r>
          </a:p>
        </p:txBody>
      </p:sp>
      <p:sp>
        <p:nvSpPr>
          <p:cNvPr id="10" name="">
            <a:extLst xmlns:a="http://schemas.openxmlformats.org/drawingml/2006/main">
              <a:ext uri="{FF2B5EF4-FFF2-40B4-BE49-F238E27FC236}">
                <a16:creationId xmlns:a16="http://schemas.microsoft.com/office/drawing/2014/main" id="{1EF5A3DB-184C-4E7C-B519-6BFD6A5C8D4F}"/>
              </a:ext>
            </a:extLst>
          </p:cNvPr>
          <p:cNvSpPr>
            <a:spLocks xmlns:a="http://schemas.openxmlformats.org/drawingml/2006/main" noGrp="1"/>
          </p:cNvSpPr>
          <p:nvPr/>
        </p:nvSpPr>
        <p:spPr>
          <a:xfrm xmlns:a="http://schemas.openxmlformats.org/drawingml/2006/main">
            <a:off x="5953125" y="5286375"/>
            <a:ext cx="209550" cy="38100"/>
          </a:xfrm>
          <a:prstGeom xmlns:a="http://schemas.openxmlformats.org/drawingml/2006/main" prst="rect">
            <a:avLst/>
          </a:prstGeom>
          <a:solidFill xmlns:a="http://schemas.openxmlformats.org/drawingml/2006/main">
            <a:srgbClr val="BD77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07598F-3D3C-478C-A1B6-E15F98C73ED9}"/>
              </a:ext>
            </a:extLst>
          </p:cNvPr>
          <p:cNvSpPr>
            <a:spLocks xmlns:a="http://schemas.openxmlformats.org/drawingml/2006/main" noGrp="1"/>
          </p:cNvSpPr>
          <p:nvPr/>
        </p:nvSpPr>
        <p:spPr>
          <a:xfrm xmlns:a="http://schemas.openxmlformats.org/drawingml/2006/main">
            <a:off x="623887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XGB</a:t>
            </a:r>
          </a:p>
        </p:txBody>
      </p:sp>
      <p:sp>
        <p:nvSpPr>
          <p:cNvPr id="12" name="">
            <a:extLst xmlns:a="http://schemas.openxmlformats.org/drawingml/2006/main">
              <a:ext uri="{FF2B5EF4-FFF2-40B4-BE49-F238E27FC236}">
                <a16:creationId xmlns:a16="http://schemas.microsoft.com/office/drawing/2014/main" id="{1DC6A8CF-332E-419D-A5ED-022CC75E121A}"/>
              </a:ext>
            </a:extLst>
          </p:cNvPr>
          <p:cNvSpPr>
            <a:spLocks xmlns:a="http://schemas.openxmlformats.org/drawingml/2006/main" noGrp="1"/>
          </p:cNvSpPr>
          <p:nvPr/>
        </p:nvSpPr>
        <p:spPr>
          <a:xfrm xmlns:a="http://schemas.openxmlformats.org/drawingml/2006/main">
            <a:off x="7334250" y="5286375"/>
            <a:ext cx="209550" cy="38100"/>
          </a:xfrm>
          <a:prstGeom xmlns:a="http://schemas.openxmlformats.org/drawingml/2006/main" prst="rect">
            <a:avLst/>
          </a:prstGeom>
          <a:solidFill xmlns:a="http://schemas.openxmlformats.org/drawingml/2006/main">
            <a:srgbClr val="28776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F304C0-0C5A-438B-A87F-ABFD7B4B7B3B}"/>
              </a:ext>
            </a:extLst>
          </p:cNvPr>
          <p:cNvSpPr>
            <a:spLocks xmlns:a="http://schemas.openxmlformats.org/drawingml/2006/main" noGrp="1"/>
          </p:cNvSpPr>
          <p:nvPr/>
        </p:nvSpPr>
        <p:spPr>
          <a:xfrm xmlns:a="http://schemas.openxmlformats.org/drawingml/2006/main">
            <a:off x="762000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LGBM</a:t>
            </a:r>
          </a:p>
        </p:txBody>
      </p:sp>
      <p:sp>
        <p:nvSpPr>
          <p:cNvPr id="14" name="">
            <a:extLst xmlns:a="http://schemas.openxmlformats.org/drawingml/2006/main">
              <a:ext uri="{FF2B5EF4-FFF2-40B4-BE49-F238E27FC236}">
                <a16:creationId xmlns:a16="http://schemas.microsoft.com/office/drawing/2014/main" id="{284B07E9-7E9E-4892-8EE8-9CE2EA67FFEB}"/>
              </a:ext>
            </a:extLst>
          </p:cNvPr>
          <p:cNvSpPr>
            <a:spLocks xmlns:a="http://schemas.openxmlformats.org/drawingml/2006/main" noGrp="1"/>
          </p:cNvSpPr>
          <p:nvPr/>
        </p:nvSpPr>
        <p:spPr>
          <a:xfrm xmlns:a="http://schemas.openxmlformats.org/drawingml/2006/main">
            <a:off x="714375" y="561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047"/>
                </a:solidFill>
                <a:latin typeface="Times New Roman"/>
                <a:ea typeface="Times New Roman"/>
                <a:cs typeface="Times New Roman"/>
              </a:defRPr>
            </a:defPPr>
            <a:lvl1pPr>
              <a:defRPr sz="1875" b="0">
                <a:solidFill>
                  <a:srgbClr val="193047"/>
                </a:solidFill>
                <a:latin typeface="Times New Roman"/>
                <a:ea typeface="Times New Roman"/>
                <a:cs typeface="Times New Roman"/>
              </a:defRPr>
            </a:lvl1pPr>
            <a:lvl2pPr>
              <a:defRPr sz="1875" b="0">
                <a:solidFill>
                  <a:srgbClr val="193047"/>
                </a:solidFill>
                <a:latin typeface="Times New Roman"/>
                <a:ea typeface="Times New Roman"/>
                <a:cs typeface="Times New Roman"/>
              </a:defRPr>
            </a:lvl2pPr>
            <a:lvl3pPr>
              <a:defRPr sz="1875" b="0">
                <a:solidFill>
                  <a:srgbClr val="193047"/>
                </a:solidFill>
                <a:latin typeface="Times New Roman"/>
                <a:ea typeface="Times New Roman"/>
                <a:cs typeface="Times New Roman"/>
              </a:defRPr>
            </a:lvl3pPr>
            <a:lvl4pPr>
              <a:defRPr sz="1875" b="0">
                <a:solidFill>
                  <a:srgbClr val="193047"/>
                </a:solidFill>
                <a:latin typeface="Times New Roman"/>
                <a:ea typeface="Times New Roman"/>
                <a:cs typeface="Times New Roman"/>
              </a:defRPr>
            </a:lvl4pPr>
            <a:lvl5pPr>
              <a:defRPr sz="1875" b="0">
                <a:solidFill>
                  <a:srgbClr val="193047"/>
                </a:solidFill>
                <a:latin typeface="Times New Roman"/>
                <a:ea typeface="Times New Roman"/>
                <a:cs typeface="Times New Roman"/>
              </a:defRPr>
            </a:lvl5pPr>
            <a:lvl6pPr>
              <a:defRPr sz="1875" b="0">
                <a:solidFill>
                  <a:srgbClr val="193047"/>
                </a:solidFill>
                <a:latin typeface="Times New Roman"/>
                <a:ea typeface="Times New Roman"/>
                <a:cs typeface="Times New Roman"/>
              </a:defRPr>
            </a:lvl6pPr>
            <a:lvl7pPr>
              <a:defRPr sz="1875" b="0">
                <a:solidFill>
                  <a:srgbClr val="193047"/>
                </a:solidFill>
                <a:latin typeface="Times New Roman"/>
                <a:ea typeface="Times New Roman"/>
                <a:cs typeface="Times New Roman"/>
              </a:defRPr>
            </a:lvl7pPr>
            <a:lvl8pPr>
              <a:defRPr sz="1875" b="0">
                <a:solidFill>
                  <a:srgbClr val="193047"/>
                </a:solidFill>
                <a:latin typeface="Times New Roman"/>
                <a:ea typeface="Times New Roman"/>
                <a:cs typeface="Times New Roman"/>
              </a:defRPr>
            </a:lvl8pPr>
            <a:lvl9pPr>
              <a:defRPr sz="1875" b="0">
                <a:solidFill>
                  <a:srgbClr val="193047"/>
                </a:solidFill>
                <a:latin typeface="Times New Roman"/>
                <a:ea typeface="Times New Roman"/>
                <a:cs typeface="Times New Roman"/>
              </a:defRPr>
            </a:lvl9pPr>
          </a:lstStyle>
          <a:p xmlns:a="http://schemas.openxmlformats.org/drawingml/2006/main">
            <a:pPr>
              <a:defRPr sz="1875" b="0">
                <a:solidFill>
                  <a:srgbClr val="193047"/>
                </a:solidFill>
                <a:latin typeface="Times New Roman"/>
                <a:ea typeface="Times New Roman"/>
                <a:cs typeface="Times New Roman"/>
              </a:defRPr>
            </a:pPr>
            <a:r>
              <a:rPr sz="1875" b="0">
                <a:solidFill>
                  <a:srgbClr val="193047"/>
                </a:solidFill>
                <a:latin typeface="Times New Roman"/>
                <a:ea typeface="Times New Roman"/>
                <a:cs typeface="Times New Roman"/>
              </a:rPr>
              <a:t>Lower-score groups tend to underperform higher-score groups.</a:t>
            </a:r>
          </a:p>
        </p:txBody>
      </p:sp>
    </p:spTree>
    <p:extLst>
      <p:ext uri="{BB962C8B-B14F-4D97-AF65-F5344CB8AC3E}">
        <p14:creationId xmlns:p14="http://schemas.microsoft.com/office/powerpoint/2010/main" val="764682751"/>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3AD18A4-FF46-454D-BFD8-F5895079D81D}"/>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86E1D049-ABC3-46B7-B529-F4B4DA622FBC}"/>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Daily NAV and aligned drawdown</a:t>
            </a:r>
          </a:p>
        </p:txBody>
      </p:sp>
      <p:sp>
        <p:nvSpPr>
          <p:cNvPr id="3" name="">
            <a:extLst xmlns:a="http://schemas.openxmlformats.org/drawingml/2006/main">
              <a:ext uri="{FF2B5EF4-FFF2-40B4-BE49-F238E27FC236}">
                <a16:creationId xmlns:a16="http://schemas.microsoft.com/office/drawing/2014/main" id="{8931D797-4F09-4C26-98AF-6C618802631B}"/>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08</a:t>
            </a:r>
          </a:p>
        </p:txBody>
      </p:sp>
      <p:sp>
        <p:nvSpPr>
          <p:cNvPr id="4" name="">
            <a:extLst xmlns:a="http://schemas.openxmlformats.org/drawingml/2006/main">
              <a:ext uri="{FF2B5EF4-FFF2-40B4-BE49-F238E27FC236}">
                <a16:creationId xmlns:a16="http://schemas.microsoft.com/office/drawing/2014/main" id="{3495360D-B87E-4D12-ABA5-8B6598F4343D}"/>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Chart">
            <a:extLst xmlns:a="http://schemas.openxmlformats.org/drawingml/2006/main">
              <a:ext uri="{FF2B5EF4-FFF2-40B4-BE49-F238E27FC236}">
                <a16:creationId xmlns:a16="http://schemas.microsoft.com/office/drawing/2014/main" id="{39F312D7-5121-4609-BA2E-54ED755CABBC}"/>
              </a:ext>
            </a:extLst>
          </p:cNvPr>
          <p:cNvGraphicFramePr/>
          <p:nvPr/>
        </p:nvGraphicFramePr>
        <p:xfrm>
          <a:off xmlns:a="http://schemas.openxmlformats.org/drawingml/2006/main" x="666750" y="1428750"/>
          <a:ext xmlns:a="http://schemas.openxmlformats.org/drawingml/2006/main" cx="10572750" cy="2333625"/>
        </p:xfrm>
        <a:graphic xmlns:a="http://schemas.openxmlformats.org/drawingml/2006/main">
          <a:graphicData uri="http://schemas.openxmlformats.org/drawingml/2006/chart">
            <c:chart xmlns:r="http://schemas.openxmlformats.org/officeDocument/2006/relationships" xmlns:c="http://schemas.openxmlformats.org/drawingml/2006/chart" r:id="Re14f1c24e4bc47c6"/>
          </a:graphicData>
        </a:graphic>
      </p:graphicFrame>
      <p:sp>
        <p:nvSpPr>
          <p:cNvPr id="6" name="">
            <a:extLst xmlns:a="http://schemas.openxmlformats.org/drawingml/2006/main">
              <a:ext uri="{FF2B5EF4-FFF2-40B4-BE49-F238E27FC236}">
                <a16:creationId xmlns:a16="http://schemas.microsoft.com/office/drawing/2014/main" id="{C2DE4B95-A836-46FA-9158-CE3CFBE9B1EC}"/>
              </a:ext>
            </a:extLst>
          </p:cNvPr>
          <p:cNvSpPr>
            <a:spLocks xmlns:a="http://schemas.openxmlformats.org/drawingml/2006/main" noGrp="1"/>
          </p:cNvSpPr>
          <p:nvPr/>
        </p:nvSpPr>
        <p:spPr>
          <a:xfrm xmlns:a="http://schemas.openxmlformats.org/drawingml/2006/main">
            <a:off x="2500313" y="3905250"/>
            <a:ext cx="209550" cy="38100"/>
          </a:xfrm>
          <a:prstGeom xmlns:a="http://schemas.openxmlformats.org/drawingml/2006/main" prst="rect">
            <a:avLst/>
          </a:prstGeom>
          <a:solidFill xmlns:a="http://schemas.openxmlformats.org/drawingml/2006/main">
            <a:srgbClr val="7A808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E6EB0E-4F9D-49AF-9B10-7DC70234F577}"/>
              </a:ext>
            </a:extLst>
          </p:cNvPr>
          <p:cNvSpPr>
            <a:spLocks xmlns:a="http://schemas.openxmlformats.org/drawingml/2006/main" noGrp="1"/>
          </p:cNvSpPr>
          <p:nvPr/>
        </p:nvSpPr>
        <p:spPr>
          <a:xfrm xmlns:a="http://schemas.openxmlformats.org/drawingml/2006/main">
            <a:off x="2786063" y="3810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LR</a:t>
            </a:r>
          </a:p>
        </p:txBody>
      </p:sp>
      <p:sp>
        <p:nvSpPr>
          <p:cNvPr id="8" name="">
            <a:extLst xmlns:a="http://schemas.openxmlformats.org/drawingml/2006/main">
              <a:ext uri="{FF2B5EF4-FFF2-40B4-BE49-F238E27FC236}">
                <a16:creationId xmlns:a16="http://schemas.microsoft.com/office/drawing/2014/main" id="{DB79D136-7BEE-4995-948B-B00A1C9C3BA0}"/>
              </a:ext>
            </a:extLst>
          </p:cNvPr>
          <p:cNvSpPr>
            <a:spLocks xmlns:a="http://schemas.openxmlformats.org/drawingml/2006/main" noGrp="1"/>
          </p:cNvSpPr>
          <p:nvPr/>
        </p:nvSpPr>
        <p:spPr>
          <a:xfrm xmlns:a="http://schemas.openxmlformats.org/drawingml/2006/main">
            <a:off x="3881438" y="3905250"/>
            <a:ext cx="209550" cy="38100"/>
          </a:xfrm>
          <a:prstGeom xmlns:a="http://schemas.openxmlformats.org/drawingml/2006/main" prst="rect">
            <a:avLst/>
          </a:prstGeom>
          <a:solidFill xmlns:a="http://schemas.openxmlformats.org/drawingml/2006/main">
            <a:srgbClr val="1C55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E1C754-8DD6-4556-B5E6-EF91ED38A69C}"/>
              </a:ext>
            </a:extLst>
          </p:cNvPr>
          <p:cNvSpPr>
            <a:spLocks xmlns:a="http://schemas.openxmlformats.org/drawingml/2006/main" noGrp="1"/>
          </p:cNvSpPr>
          <p:nvPr/>
        </p:nvSpPr>
        <p:spPr>
          <a:xfrm xmlns:a="http://schemas.openxmlformats.org/drawingml/2006/main">
            <a:off x="4167188" y="3810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RF</a:t>
            </a:r>
          </a:p>
        </p:txBody>
      </p:sp>
      <p:sp>
        <p:nvSpPr>
          <p:cNvPr id="10" name="">
            <a:extLst xmlns:a="http://schemas.openxmlformats.org/drawingml/2006/main">
              <a:ext uri="{FF2B5EF4-FFF2-40B4-BE49-F238E27FC236}">
                <a16:creationId xmlns:a16="http://schemas.microsoft.com/office/drawing/2014/main" id="{181BAD5C-CC46-487A-A54E-A590C157FD5B}"/>
              </a:ext>
            </a:extLst>
          </p:cNvPr>
          <p:cNvSpPr>
            <a:spLocks xmlns:a="http://schemas.openxmlformats.org/drawingml/2006/main" noGrp="1"/>
          </p:cNvSpPr>
          <p:nvPr/>
        </p:nvSpPr>
        <p:spPr>
          <a:xfrm xmlns:a="http://schemas.openxmlformats.org/drawingml/2006/main">
            <a:off x="5262563" y="3905250"/>
            <a:ext cx="209550" cy="38100"/>
          </a:xfrm>
          <a:prstGeom xmlns:a="http://schemas.openxmlformats.org/drawingml/2006/main" prst="rect">
            <a:avLst/>
          </a:prstGeom>
          <a:solidFill xmlns:a="http://schemas.openxmlformats.org/drawingml/2006/main">
            <a:srgbClr val="BD77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C995E70-2E25-4D9A-B268-FCB05BE4A85C}"/>
              </a:ext>
            </a:extLst>
          </p:cNvPr>
          <p:cNvSpPr>
            <a:spLocks xmlns:a="http://schemas.openxmlformats.org/drawingml/2006/main" noGrp="1"/>
          </p:cNvSpPr>
          <p:nvPr/>
        </p:nvSpPr>
        <p:spPr>
          <a:xfrm xmlns:a="http://schemas.openxmlformats.org/drawingml/2006/main">
            <a:off x="5548313" y="3810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XGB</a:t>
            </a:r>
          </a:p>
        </p:txBody>
      </p:sp>
      <p:sp>
        <p:nvSpPr>
          <p:cNvPr id="12" name="">
            <a:extLst xmlns:a="http://schemas.openxmlformats.org/drawingml/2006/main">
              <a:ext uri="{FF2B5EF4-FFF2-40B4-BE49-F238E27FC236}">
                <a16:creationId xmlns:a16="http://schemas.microsoft.com/office/drawing/2014/main" id="{EF0678F7-D2B6-4E2D-B1D3-C23CEF867752}"/>
              </a:ext>
            </a:extLst>
          </p:cNvPr>
          <p:cNvSpPr>
            <a:spLocks xmlns:a="http://schemas.openxmlformats.org/drawingml/2006/main" noGrp="1"/>
          </p:cNvSpPr>
          <p:nvPr/>
        </p:nvSpPr>
        <p:spPr>
          <a:xfrm xmlns:a="http://schemas.openxmlformats.org/drawingml/2006/main">
            <a:off x="6643688" y="3905250"/>
            <a:ext cx="209550" cy="38100"/>
          </a:xfrm>
          <a:prstGeom xmlns:a="http://schemas.openxmlformats.org/drawingml/2006/main" prst="rect">
            <a:avLst/>
          </a:prstGeom>
          <a:solidFill xmlns:a="http://schemas.openxmlformats.org/drawingml/2006/main">
            <a:srgbClr val="28776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29C25F-B24E-4FCD-8C45-CFC45D42CE9A}"/>
              </a:ext>
            </a:extLst>
          </p:cNvPr>
          <p:cNvSpPr>
            <a:spLocks xmlns:a="http://schemas.openxmlformats.org/drawingml/2006/main" noGrp="1"/>
          </p:cNvSpPr>
          <p:nvPr/>
        </p:nvSpPr>
        <p:spPr>
          <a:xfrm xmlns:a="http://schemas.openxmlformats.org/drawingml/2006/main">
            <a:off x="6929438" y="3810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LGBM</a:t>
            </a:r>
          </a:p>
        </p:txBody>
      </p:sp>
      <p:sp>
        <p:nvSpPr>
          <p:cNvPr id="14" name="">
            <a:extLst xmlns:a="http://schemas.openxmlformats.org/drawingml/2006/main">
              <a:ext uri="{FF2B5EF4-FFF2-40B4-BE49-F238E27FC236}">
                <a16:creationId xmlns:a16="http://schemas.microsoft.com/office/drawing/2014/main" id="{822BFD3F-1A85-470B-B0D5-745DDC30E9FD}"/>
              </a:ext>
            </a:extLst>
          </p:cNvPr>
          <p:cNvSpPr>
            <a:spLocks xmlns:a="http://schemas.openxmlformats.org/drawingml/2006/main" noGrp="1"/>
          </p:cNvSpPr>
          <p:nvPr/>
        </p:nvSpPr>
        <p:spPr>
          <a:xfrm xmlns:a="http://schemas.openxmlformats.org/drawingml/2006/main">
            <a:off x="8024813" y="3905250"/>
            <a:ext cx="209550" cy="3810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DF5447-9EBC-4054-B673-F78598320CCE}"/>
              </a:ext>
            </a:extLst>
          </p:cNvPr>
          <p:cNvSpPr>
            <a:spLocks xmlns:a="http://schemas.openxmlformats.org/drawingml/2006/main" noGrp="1"/>
          </p:cNvSpPr>
          <p:nvPr/>
        </p:nvSpPr>
        <p:spPr>
          <a:xfrm xmlns:a="http://schemas.openxmlformats.org/drawingml/2006/main">
            <a:off x="8310563" y="38100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CSI 500</a:t>
            </a:r>
          </a:p>
        </p:txBody>
      </p:sp>
      <p:graphicFrame>
        <p:nvGraphicFramePr>
          <p:cNvPr id="16" name="Chart">
            <a:extLst xmlns:a="http://schemas.openxmlformats.org/drawingml/2006/main">
              <a:ext uri="{FF2B5EF4-FFF2-40B4-BE49-F238E27FC236}">
                <a16:creationId xmlns:a16="http://schemas.microsoft.com/office/drawing/2014/main" id="{FC1D361C-8A58-44DF-9D7D-8BFC987E47FD}"/>
              </a:ext>
            </a:extLst>
          </p:cNvPr>
          <p:cNvGraphicFramePr/>
          <p:nvPr/>
        </p:nvGraphicFramePr>
        <p:xfrm>
          <a:off xmlns:a="http://schemas.openxmlformats.org/drawingml/2006/main" x="666750" y="4191000"/>
          <a:ext xmlns:a="http://schemas.openxmlformats.org/drawingml/2006/main" cx="10572750" cy="1714500"/>
        </p:xfrm>
        <a:graphic xmlns:a="http://schemas.openxmlformats.org/drawingml/2006/main">
          <a:graphicData uri="http://schemas.openxmlformats.org/drawingml/2006/chart">
            <c:chart xmlns:r="http://schemas.openxmlformats.org/officeDocument/2006/relationships" xmlns:c="http://schemas.openxmlformats.org/drawingml/2006/chart" r:id="Rc8e3038296304354"/>
          </a:graphicData>
        </a:graphic>
      </p:graphicFrame>
      <p:sp>
        <p:nvSpPr>
          <p:cNvPr id="17" name="">
            <a:extLst xmlns:a="http://schemas.openxmlformats.org/drawingml/2006/main">
              <a:ext uri="{FF2B5EF4-FFF2-40B4-BE49-F238E27FC236}">
                <a16:creationId xmlns:a16="http://schemas.microsoft.com/office/drawing/2014/main" id="{4830358F-0D89-4F20-9BAE-15F398374F3E}"/>
              </a:ext>
            </a:extLst>
          </p:cNvPr>
          <p:cNvSpPr>
            <a:spLocks xmlns:a="http://schemas.openxmlformats.org/drawingml/2006/main" noGrp="1"/>
          </p:cNvSpPr>
          <p:nvPr/>
        </p:nvSpPr>
        <p:spPr>
          <a:xfrm xmlns:a="http://schemas.openxmlformats.org/drawingml/2006/main">
            <a:off x="1837459" y="58864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3047"/>
                </a:solidFill>
                <a:latin typeface="Times New Roman"/>
                <a:ea typeface="Times New Roman"/>
                <a:cs typeface="Times New Roman"/>
              </a:defRPr>
            </a:defPPr>
            <a:lvl1pPr>
              <a:defRPr sz="1125" b="0">
                <a:solidFill>
                  <a:srgbClr val="193047"/>
                </a:solidFill>
                <a:latin typeface="Times New Roman"/>
                <a:ea typeface="Times New Roman"/>
                <a:cs typeface="Times New Roman"/>
              </a:defRPr>
            </a:lvl1pPr>
            <a:lvl2pPr>
              <a:defRPr sz="1125" b="0">
                <a:solidFill>
                  <a:srgbClr val="193047"/>
                </a:solidFill>
                <a:latin typeface="Times New Roman"/>
                <a:ea typeface="Times New Roman"/>
                <a:cs typeface="Times New Roman"/>
              </a:defRPr>
            </a:lvl2pPr>
            <a:lvl3pPr>
              <a:defRPr sz="1125" b="0">
                <a:solidFill>
                  <a:srgbClr val="193047"/>
                </a:solidFill>
                <a:latin typeface="Times New Roman"/>
                <a:ea typeface="Times New Roman"/>
                <a:cs typeface="Times New Roman"/>
              </a:defRPr>
            </a:lvl3pPr>
            <a:lvl4pPr>
              <a:defRPr sz="1125" b="0">
                <a:solidFill>
                  <a:srgbClr val="193047"/>
                </a:solidFill>
                <a:latin typeface="Times New Roman"/>
                <a:ea typeface="Times New Roman"/>
                <a:cs typeface="Times New Roman"/>
              </a:defRPr>
            </a:lvl4pPr>
            <a:lvl5pPr>
              <a:defRPr sz="1125" b="0">
                <a:solidFill>
                  <a:srgbClr val="193047"/>
                </a:solidFill>
                <a:latin typeface="Times New Roman"/>
                <a:ea typeface="Times New Roman"/>
                <a:cs typeface="Times New Roman"/>
              </a:defRPr>
            </a:lvl5pPr>
            <a:lvl6pPr>
              <a:defRPr sz="1125" b="0">
                <a:solidFill>
                  <a:srgbClr val="193047"/>
                </a:solidFill>
                <a:latin typeface="Times New Roman"/>
                <a:ea typeface="Times New Roman"/>
                <a:cs typeface="Times New Roman"/>
              </a:defRPr>
            </a:lvl6pPr>
            <a:lvl7pPr>
              <a:defRPr sz="1125" b="0">
                <a:solidFill>
                  <a:srgbClr val="193047"/>
                </a:solidFill>
                <a:latin typeface="Times New Roman"/>
                <a:ea typeface="Times New Roman"/>
                <a:cs typeface="Times New Roman"/>
              </a:defRPr>
            </a:lvl7pPr>
            <a:lvl8pPr>
              <a:defRPr sz="1125" b="0">
                <a:solidFill>
                  <a:srgbClr val="193047"/>
                </a:solidFill>
                <a:latin typeface="Times New Roman"/>
                <a:ea typeface="Times New Roman"/>
                <a:cs typeface="Times New Roman"/>
              </a:defRPr>
            </a:lvl8pPr>
            <a:lvl9pPr>
              <a:defRPr sz="1125" b="0">
                <a:solidFill>
                  <a:srgbClr val="193047"/>
                </a:solidFill>
                <a:latin typeface="Times New Roman"/>
                <a:ea typeface="Times New Roman"/>
                <a:cs typeface="Times New Roman"/>
              </a:defRPr>
            </a:lvl9pPr>
          </a:lstStyle>
          <a:p xmlns:a="http://schemas.openxmlformats.org/drawingml/2006/main">
            <a:pPr>
              <a:defRPr sz="1125" b="0">
                <a:solidFill>
                  <a:srgbClr val="193047"/>
                </a:solidFill>
                <a:latin typeface="Times New Roman"/>
                <a:ea typeface="Times New Roman"/>
                <a:cs typeface="Times New Roman"/>
              </a:defRPr>
            </a:pPr>
            <a:r>
              <a:rPr sz="1125" b="0">
                <a:solidFill>
                  <a:srgbClr val="193047"/>
                </a:solidFill>
                <a:latin typeface="Times New Roman"/>
                <a:ea typeface="Times New Roman"/>
                <a:cs typeface="Times New Roman"/>
              </a:rPr>
              <a:t>2021</a:t>
            </a:r>
          </a:p>
        </p:txBody>
      </p:sp>
      <p:sp>
        <p:nvSpPr>
          <p:cNvPr id="18" name="">
            <a:extLst xmlns:a="http://schemas.openxmlformats.org/drawingml/2006/main">
              <a:ext uri="{FF2B5EF4-FFF2-40B4-BE49-F238E27FC236}">
                <a16:creationId xmlns:a16="http://schemas.microsoft.com/office/drawing/2014/main" id="{DC703CCF-DBC0-483E-AE44-870E9720C348}"/>
              </a:ext>
            </a:extLst>
          </p:cNvPr>
          <p:cNvSpPr>
            <a:spLocks xmlns:a="http://schemas.openxmlformats.org/drawingml/2006/main" noGrp="1"/>
          </p:cNvSpPr>
          <p:nvPr/>
        </p:nvSpPr>
        <p:spPr>
          <a:xfrm xmlns:a="http://schemas.openxmlformats.org/drawingml/2006/main">
            <a:off x="3853295" y="58864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3047"/>
                </a:solidFill>
                <a:latin typeface="Times New Roman"/>
                <a:ea typeface="Times New Roman"/>
                <a:cs typeface="Times New Roman"/>
              </a:defRPr>
            </a:defPPr>
            <a:lvl1pPr>
              <a:defRPr sz="1125" b="0">
                <a:solidFill>
                  <a:srgbClr val="193047"/>
                </a:solidFill>
                <a:latin typeface="Times New Roman"/>
                <a:ea typeface="Times New Roman"/>
                <a:cs typeface="Times New Roman"/>
              </a:defRPr>
            </a:lvl1pPr>
            <a:lvl2pPr>
              <a:defRPr sz="1125" b="0">
                <a:solidFill>
                  <a:srgbClr val="193047"/>
                </a:solidFill>
                <a:latin typeface="Times New Roman"/>
                <a:ea typeface="Times New Roman"/>
                <a:cs typeface="Times New Roman"/>
              </a:defRPr>
            </a:lvl2pPr>
            <a:lvl3pPr>
              <a:defRPr sz="1125" b="0">
                <a:solidFill>
                  <a:srgbClr val="193047"/>
                </a:solidFill>
                <a:latin typeface="Times New Roman"/>
                <a:ea typeface="Times New Roman"/>
                <a:cs typeface="Times New Roman"/>
              </a:defRPr>
            </a:lvl3pPr>
            <a:lvl4pPr>
              <a:defRPr sz="1125" b="0">
                <a:solidFill>
                  <a:srgbClr val="193047"/>
                </a:solidFill>
                <a:latin typeface="Times New Roman"/>
                <a:ea typeface="Times New Roman"/>
                <a:cs typeface="Times New Roman"/>
              </a:defRPr>
            </a:lvl4pPr>
            <a:lvl5pPr>
              <a:defRPr sz="1125" b="0">
                <a:solidFill>
                  <a:srgbClr val="193047"/>
                </a:solidFill>
                <a:latin typeface="Times New Roman"/>
                <a:ea typeface="Times New Roman"/>
                <a:cs typeface="Times New Roman"/>
              </a:defRPr>
            </a:lvl5pPr>
            <a:lvl6pPr>
              <a:defRPr sz="1125" b="0">
                <a:solidFill>
                  <a:srgbClr val="193047"/>
                </a:solidFill>
                <a:latin typeface="Times New Roman"/>
                <a:ea typeface="Times New Roman"/>
                <a:cs typeface="Times New Roman"/>
              </a:defRPr>
            </a:lvl6pPr>
            <a:lvl7pPr>
              <a:defRPr sz="1125" b="0">
                <a:solidFill>
                  <a:srgbClr val="193047"/>
                </a:solidFill>
                <a:latin typeface="Times New Roman"/>
                <a:ea typeface="Times New Roman"/>
                <a:cs typeface="Times New Roman"/>
              </a:defRPr>
            </a:lvl7pPr>
            <a:lvl8pPr>
              <a:defRPr sz="1125" b="0">
                <a:solidFill>
                  <a:srgbClr val="193047"/>
                </a:solidFill>
                <a:latin typeface="Times New Roman"/>
                <a:ea typeface="Times New Roman"/>
                <a:cs typeface="Times New Roman"/>
              </a:defRPr>
            </a:lvl8pPr>
            <a:lvl9pPr>
              <a:defRPr sz="1125" b="0">
                <a:solidFill>
                  <a:srgbClr val="193047"/>
                </a:solidFill>
                <a:latin typeface="Times New Roman"/>
                <a:ea typeface="Times New Roman"/>
                <a:cs typeface="Times New Roman"/>
              </a:defRPr>
            </a:lvl9pPr>
          </a:lstStyle>
          <a:p xmlns:a="http://schemas.openxmlformats.org/drawingml/2006/main">
            <a:pPr>
              <a:defRPr sz="1125" b="0">
                <a:solidFill>
                  <a:srgbClr val="193047"/>
                </a:solidFill>
                <a:latin typeface="Times New Roman"/>
                <a:ea typeface="Times New Roman"/>
                <a:cs typeface="Times New Roman"/>
              </a:defRPr>
            </a:pPr>
            <a:r>
              <a:rPr sz="1125" b="0">
                <a:solidFill>
                  <a:srgbClr val="193047"/>
                </a:solidFill>
                <a:latin typeface="Times New Roman"/>
                <a:ea typeface="Times New Roman"/>
                <a:cs typeface="Times New Roman"/>
              </a:rPr>
              <a:t>2022</a:t>
            </a:r>
          </a:p>
        </p:txBody>
      </p:sp>
      <p:sp>
        <p:nvSpPr>
          <p:cNvPr id="19" name="">
            <a:extLst xmlns:a="http://schemas.openxmlformats.org/drawingml/2006/main">
              <a:ext uri="{FF2B5EF4-FFF2-40B4-BE49-F238E27FC236}">
                <a16:creationId xmlns:a16="http://schemas.microsoft.com/office/drawing/2014/main" id="{E133E280-A5ED-4FB9-AFCD-11E0CFE650E6}"/>
              </a:ext>
            </a:extLst>
          </p:cNvPr>
          <p:cNvSpPr>
            <a:spLocks xmlns:a="http://schemas.openxmlformats.org/drawingml/2006/main" noGrp="1"/>
          </p:cNvSpPr>
          <p:nvPr/>
        </p:nvSpPr>
        <p:spPr>
          <a:xfrm xmlns:a="http://schemas.openxmlformats.org/drawingml/2006/main">
            <a:off x="5869132" y="58864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3047"/>
                </a:solidFill>
                <a:latin typeface="Times New Roman"/>
                <a:ea typeface="Times New Roman"/>
                <a:cs typeface="Times New Roman"/>
              </a:defRPr>
            </a:defPPr>
            <a:lvl1pPr>
              <a:defRPr sz="1125" b="0">
                <a:solidFill>
                  <a:srgbClr val="193047"/>
                </a:solidFill>
                <a:latin typeface="Times New Roman"/>
                <a:ea typeface="Times New Roman"/>
                <a:cs typeface="Times New Roman"/>
              </a:defRPr>
            </a:lvl1pPr>
            <a:lvl2pPr>
              <a:defRPr sz="1125" b="0">
                <a:solidFill>
                  <a:srgbClr val="193047"/>
                </a:solidFill>
                <a:latin typeface="Times New Roman"/>
                <a:ea typeface="Times New Roman"/>
                <a:cs typeface="Times New Roman"/>
              </a:defRPr>
            </a:lvl2pPr>
            <a:lvl3pPr>
              <a:defRPr sz="1125" b="0">
                <a:solidFill>
                  <a:srgbClr val="193047"/>
                </a:solidFill>
                <a:latin typeface="Times New Roman"/>
                <a:ea typeface="Times New Roman"/>
                <a:cs typeface="Times New Roman"/>
              </a:defRPr>
            </a:lvl3pPr>
            <a:lvl4pPr>
              <a:defRPr sz="1125" b="0">
                <a:solidFill>
                  <a:srgbClr val="193047"/>
                </a:solidFill>
                <a:latin typeface="Times New Roman"/>
                <a:ea typeface="Times New Roman"/>
                <a:cs typeface="Times New Roman"/>
              </a:defRPr>
            </a:lvl4pPr>
            <a:lvl5pPr>
              <a:defRPr sz="1125" b="0">
                <a:solidFill>
                  <a:srgbClr val="193047"/>
                </a:solidFill>
                <a:latin typeface="Times New Roman"/>
                <a:ea typeface="Times New Roman"/>
                <a:cs typeface="Times New Roman"/>
              </a:defRPr>
            </a:lvl5pPr>
            <a:lvl6pPr>
              <a:defRPr sz="1125" b="0">
                <a:solidFill>
                  <a:srgbClr val="193047"/>
                </a:solidFill>
                <a:latin typeface="Times New Roman"/>
                <a:ea typeface="Times New Roman"/>
                <a:cs typeface="Times New Roman"/>
              </a:defRPr>
            </a:lvl6pPr>
            <a:lvl7pPr>
              <a:defRPr sz="1125" b="0">
                <a:solidFill>
                  <a:srgbClr val="193047"/>
                </a:solidFill>
                <a:latin typeface="Times New Roman"/>
                <a:ea typeface="Times New Roman"/>
                <a:cs typeface="Times New Roman"/>
              </a:defRPr>
            </a:lvl7pPr>
            <a:lvl8pPr>
              <a:defRPr sz="1125" b="0">
                <a:solidFill>
                  <a:srgbClr val="193047"/>
                </a:solidFill>
                <a:latin typeface="Times New Roman"/>
                <a:ea typeface="Times New Roman"/>
                <a:cs typeface="Times New Roman"/>
              </a:defRPr>
            </a:lvl8pPr>
            <a:lvl9pPr>
              <a:defRPr sz="1125" b="0">
                <a:solidFill>
                  <a:srgbClr val="193047"/>
                </a:solidFill>
                <a:latin typeface="Times New Roman"/>
                <a:ea typeface="Times New Roman"/>
                <a:cs typeface="Times New Roman"/>
              </a:defRPr>
            </a:lvl9pPr>
          </a:lstStyle>
          <a:p xmlns:a="http://schemas.openxmlformats.org/drawingml/2006/main">
            <a:pPr>
              <a:defRPr sz="1125" b="0">
                <a:solidFill>
                  <a:srgbClr val="193047"/>
                </a:solidFill>
                <a:latin typeface="Times New Roman"/>
                <a:ea typeface="Times New Roman"/>
                <a:cs typeface="Times New Roman"/>
              </a:defRPr>
            </a:pPr>
            <a:r>
              <a:rPr sz="1125" b="0">
                <a:solidFill>
                  <a:srgbClr val="193047"/>
                </a:solidFill>
                <a:latin typeface="Times New Roman"/>
                <a:ea typeface="Times New Roman"/>
                <a:cs typeface="Times New Roman"/>
              </a:rPr>
              <a:t>2023</a:t>
            </a:r>
          </a:p>
        </p:txBody>
      </p:sp>
      <p:sp>
        <p:nvSpPr>
          <p:cNvPr id="20" name="">
            <a:extLst xmlns:a="http://schemas.openxmlformats.org/drawingml/2006/main">
              <a:ext uri="{FF2B5EF4-FFF2-40B4-BE49-F238E27FC236}">
                <a16:creationId xmlns:a16="http://schemas.microsoft.com/office/drawing/2014/main" id="{82F50DDC-7598-455D-8EF1-1963C0BE085C}"/>
              </a:ext>
            </a:extLst>
          </p:cNvPr>
          <p:cNvSpPr>
            <a:spLocks xmlns:a="http://schemas.openxmlformats.org/drawingml/2006/main" noGrp="1"/>
          </p:cNvSpPr>
          <p:nvPr/>
        </p:nvSpPr>
        <p:spPr>
          <a:xfrm xmlns:a="http://schemas.openxmlformats.org/drawingml/2006/main">
            <a:off x="7884968" y="58864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3047"/>
                </a:solidFill>
                <a:latin typeface="Times New Roman"/>
                <a:ea typeface="Times New Roman"/>
                <a:cs typeface="Times New Roman"/>
              </a:defRPr>
            </a:defPPr>
            <a:lvl1pPr>
              <a:defRPr sz="1125" b="0">
                <a:solidFill>
                  <a:srgbClr val="193047"/>
                </a:solidFill>
                <a:latin typeface="Times New Roman"/>
                <a:ea typeface="Times New Roman"/>
                <a:cs typeface="Times New Roman"/>
              </a:defRPr>
            </a:lvl1pPr>
            <a:lvl2pPr>
              <a:defRPr sz="1125" b="0">
                <a:solidFill>
                  <a:srgbClr val="193047"/>
                </a:solidFill>
                <a:latin typeface="Times New Roman"/>
                <a:ea typeface="Times New Roman"/>
                <a:cs typeface="Times New Roman"/>
              </a:defRPr>
            </a:lvl2pPr>
            <a:lvl3pPr>
              <a:defRPr sz="1125" b="0">
                <a:solidFill>
                  <a:srgbClr val="193047"/>
                </a:solidFill>
                <a:latin typeface="Times New Roman"/>
                <a:ea typeface="Times New Roman"/>
                <a:cs typeface="Times New Roman"/>
              </a:defRPr>
            </a:lvl3pPr>
            <a:lvl4pPr>
              <a:defRPr sz="1125" b="0">
                <a:solidFill>
                  <a:srgbClr val="193047"/>
                </a:solidFill>
                <a:latin typeface="Times New Roman"/>
                <a:ea typeface="Times New Roman"/>
                <a:cs typeface="Times New Roman"/>
              </a:defRPr>
            </a:lvl4pPr>
            <a:lvl5pPr>
              <a:defRPr sz="1125" b="0">
                <a:solidFill>
                  <a:srgbClr val="193047"/>
                </a:solidFill>
                <a:latin typeface="Times New Roman"/>
                <a:ea typeface="Times New Roman"/>
                <a:cs typeface="Times New Roman"/>
              </a:defRPr>
            </a:lvl5pPr>
            <a:lvl6pPr>
              <a:defRPr sz="1125" b="0">
                <a:solidFill>
                  <a:srgbClr val="193047"/>
                </a:solidFill>
                <a:latin typeface="Times New Roman"/>
                <a:ea typeface="Times New Roman"/>
                <a:cs typeface="Times New Roman"/>
              </a:defRPr>
            </a:lvl6pPr>
            <a:lvl7pPr>
              <a:defRPr sz="1125" b="0">
                <a:solidFill>
                  <a:srgbClr val="193047"/>
                </a:solidFill>
                <a:latin typeface="Times New Roman"/>
                <a:ea typeface="Times New Roman"/>
                <a:cs typeface="Times New Roman"/>
              </a:defRPr>
            </a:lvl7pPr>
            <a:lvl8pPr>
              <a:defRPr sz="1125" b="0">
                <a:solidFill>
                  <a:srgbClr val="193047"/>
                </a:solidFill>
                <a:latin typeface="Times New Roman"/>
                <a:ea typeface="Times New Roman"/>
                <a:cs typeface="Times New Roman"/>
              </a:defRPr>
            </a:lvl8pPr>
            <a:lvl9pPr>
              <a:defRPr sz="1125" b="0">
                <a:solidFill>
                  <a:srgbClr val="193047"/>
                </a:solidFill>
                <a:latin typeface="Times New Roman"/>
                <a:ea typeface="Times New Roman"/>
                <a:cs typeface="Times New Roman"/>
              </a:defRPr>
            </a:lvl9pPr>
          </a:lstStyle>
          <a:p xmlns:a="http://schemas.openxmlformats.org/drawingml/2006/main">
            <a:pPr>
              <a:defRPr sz="1125" b="0">
                <a:solidFill>
                  <a:srgbClr val="193047"/>
                </a:solidFill>
                <a:latin typeface="Times New Roman"/>
                <a:ea typeface="Times New Roman"/>
                <a:cs typeface="Times New Roman"/>
              </a:defRPr>
            </a:pPr>
            <a:r>
              <a:rPr sz="1125" b="0">
                <a:solidFill>
                  <a:srgbClr val="193047"/>
                </a:solidFill>
                <a:latin typeface="Times New Roman"/>
                <a:ea typeface="Times New Roman"/>
                <a:cs typeface="Times New Roman"/>
              </a:rPr>
              <a:t>2024</a:t>
            </a:r>
          </a:p>
        </p:txBody>
      </p:sp>
      <p:sp>
        <p:nvSpPr>
          <p:cNvPr id="21" name="">
            <a:extLst xmlns:a="http://schemas.openxmlformats.org/drawingml/2006/main">
              <a:ext uri="{FF2B5EF4-FFF2-40B4-BE49-F238E27FC236}">
                <a16:creationId xmlns:a16="http://schemas.microsoft.com/office/drawing/2014/main" id="{6C523E0C-AFED-4790-88BD-459D4BA6B25F}"/>
              </a:ext>
            </a:extLst>
          </p:cNvPr>
          <p:cNvSpPr>
            <a:spLocks xmlns:a="http://schemas.openxmlformats.org/drawingml/2006/main" noGrp="1"/>
          </p:cNvSpPr>
          <p:nvPr/>
        </p:nvSpPr>
        <p:spPr>
          <a:xfrm xmlns:a="http://schemas.openxmlformats.org/drawingml/2006/main">
            <a:off x="9900805" y="58864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193047"/>
                </a:solidFill>
                <a:latin typeface="Times New Roman"/>
                <a:ea typeface="Times New Roman"/>
                <a:cs typeface="Times New Roman"/>
              </a:defRPr>
            </a:defPPr>
            <a:lvl1pPr>
              <a:defRPr sz="1125" b="0">
                <a:solidFill>
                  <a:srgbClr val="193047"/>
                </a:solidFill>
                <a:latin typeface="Times New Roman"/>
                <a:ea typeface="Times New Roman"/>
                <a:cs typeface="Times New Roman"/>
              </a:defRPr>
            </a:lvl1pPr>
            <a:lvl2pPr>
              <a:defRPr sz="1125" b="0">
                <a:solidFill>
                  <a:srgbClr val="193047"/>
                </a:solidFill>
                <a:latin typeface="Times New Roman"/>
                <a:ea typeface="Times New Roman"/>
                <a:cs typeface="Times New Roman"/>
              </a:defRPr>
            </a:lvl2pPr>
            <a:lvl3pPr>
              <a:defRPr sz="1125" b="0">
                <a:solidFill>
                  <a:srgbClr val="193047"/>
                </a:solidFill>
                <a:latin typeface="Times New Roman"/>
                <a:ea typeface="Times New Roman"/>
                <a:cs typeface="Times New Roman"/>
              </a:defRPr>
            </a:lvl3pPr>
            <a:lvl4pPr>
              <a:defRPr sz="1125" b="0">
                <a:solidFill>
                  <a:srgbClr val="193047"/>
                </a:solidFill>
                <a:latin typeface="Times New Roman"/>
                <a:ea typeface="Times New Roman"/>
                <a:cs typeface="Times New Roman"/>
              </a:defRPr>
            </a:lvl4pPr>
            <a:lvl5pPr>
              <a:defRPr sz="1125" b="0">
                <a:solidFill>
                  <a:srgbClr val="193047"/>
                </a:solidFill>
                <a:latin typeface="Times New Roman"/>
                <a:ea typeface="Times New Roman"/>
                <a:cs typeface="Times New Roman"/>
              </a:defRPr>
            </a:lvl5pPr>
            <a:lvl6pPr>
              <a:defRPr sz="1125" b="0">
                <a:solidFill>
                  <a:srgbClr val="193047"/>
                </a:solidFill>
                <a:latin typeface="Times New Roman"/>
                <a:ea typeface="Times New Roman"/>
                <a:cs typeface="Times New Roman"/>
              </a:defRPr>
            </a:lvl6pPr>
            <a:lvl7pPr>
              <a:defRPr sz="1125" b="0">
                <a:solidFill>
                  <a:srgbClr val="193047"/>
                </a:solidFill>
                <a:latin typeface="Times New Roman"/>
                <a:ea typeface="Times New Roman"/>
                <a:cs typeface="Times New Roman"/>
              </a:defRPr>
            </a:lvl7pPr>
            <a:lvl8pPr>
              <a:defRPr sz="1125" b="0">
                <a:solidFill>
                  <a:srgbClr val="193047"/>
                </a:solidFill>
                <a:latin typeface="Times New Roman"/>
                <a:ea typeface="Times New Roman"/>
                <a:cs typeface="Times New Roman"/>
              </a:defRPr>
            </a:lvl8pPr>
            <a:lvl9pPr>
              <a:defRPr sz="1125" b="0">
                <a:solidFill>
                  <a:srgbClr val="193047"/>
                </a:solidFill>
                <a:latin typeface="Times New Roman"/>
                <a:ea typeface="Times New Roman"/>
                <a:cs typeface="Times New Roman"/>
              </a:defRPr>
            </a:lvl9pPr>
          </a:lstStyle>
          <a:p xmlns:a="http://schemas.openxmlformats.org/drawingml/2006/main">
            <a:pPr>
              <a:defRPr sz="1125" b="0">
                <a:solidFill>
                  <a:srgbClr val="193047"/>
                </a:solidFill>
                <a:latin typeface="Times New Roman"/>
                <a:ea typeface="Times New Roman"/>
                <a:cs typeface="Times New Roman"/>
              </a:defRPr>
            </a:pPr>
            <a:r>
              <a:rPr sz="1125" b="0">
                <a:solidFill>
                  <a:srgbClr val="193047"/>
                </a:solidFill>
                <a:latin typeface="Times New Roman"/>
                <a:ea typeface="Times New Roman"/>
                <a:cs typeface="Times New Roman"/>
              </a:rPr>
              <a:t>2025</a:t>
            </a:r>
          </a:p>
        </p:txBody>
      </p:sp>
    </p:spTree>
    <p:extLst>
      <p:ext uri="{BB962C8B-B14F-4D97-AF65-F5344CB8AC3E}">
        <p14:creationId xmlns:p14="http://schemas.microsoft.com/office/powerpoint/2010/main" val="701117"/>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EC3787-7738-4A84-8A10-4DAE2C5F5707}"/>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DE170352-5B9A-4E0B-A6A0-7361EE77CF5A}"/>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Portfolio outcomes after costs</a:t>
            </a:r>
          </a:p>
        </p:txBody>
      </p:sp>
      <p:sp>
        <p:nvSpPr>
          <p:cNvPr id="3" name="">
            <a:extLst xmlns:a="http://schemas.openxmlformats.org/drawingml/2006/main">
              <a:ext uri="{FF2B5EF4-FFF2-40B4-BE49-F238E27FC236}">
                <a16:creationId xmlns:a16="http://schemas.microsoft.com/office/drawing/2014/main" id="{AAF083EF-EBE7-4ED4-9D23-F947DED73B24}"/>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09</a:t>
            </a:r>
          </a:p>
        </p:txBody>
      </p:sp>
      <p:sp>
        <p:nvSpPr>
          <p:cNvPr id="4" name="">
            <a:extLst xmlns:a="http://schemas.openxmlformats.org/drawingml/2006/main">
              <a:ext uri="{FF2B5EF4-FFF2-40B4-BE49-F238E27FC236}">
                <a16:creationId xmlns:a16="http://schemas.microsoft.com/office/drawing/2014/main" id="{70C1EA55-8844-4364-8296-281F3E45EE5F}"/>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
            <a:extLst xmlns:a="http://schemas.openxmlformats.org/drawingml/2006/main">
              <a:ext uri="{FF2B5EF4-FFF2-40B4-BE49-F238E27FC236}">
                <a16:creationId xmlns:a16="http://schemas.microsoft.com/office/drawing/2014/main" id="{863774EC-D22B-45D4-842D-FE1FA054EBC0}"/>
              </a:ext>
            </a:extLst>
          </p:cNvPr>
          <p:cNvGraphicFramePr/>
          <p:nvPr/>
        </p:nvGraphicFramePr>
        <p:xfrm>
          <a:off xmlns:a="http://schemas.openxmlformats.org/drawingml/2006/main" x="666750" y="1666875"/>
          <a:ext xmlns:a="http://schemas.openxmlformats.org/drawingml/2006/main" cx="10572750" cy="2952750"/>
        </p:xfrm>
        <a:graphic xmlns:a="http://schemas.openxmlformats.org/drawingml/2006/main">
          <a:graphicData uri="http://schemas.openxmlformats.org/drawingml/2006/table">
            <a:tbl>
              <a:tblPr/>
              <a:tblGrid>
                <a:gridCol w="2114550"/>
                <a:gridCol w="2114550"/>
                <a:gridCol w="2114550"/>
                <a:gridCol w="2114550"/>
                <a:gridCol w="2114550"/>
              </a:tblGrid>
              <a:tr h="590550">
                <a:tc>
                  <a:txBody>
                    <a:bodyPr/>
                    <a:lstStyle/>
                    <a:p>
                      <a:r>
                        <a:rPr sz="1725" b="1">
                          <a:solidFill>
                            <a:srgbClr val="FFFFFF"/>
                          </a:solidFill>
                          <a:latin typeface="Times New Roman"/>
                          <a:ea typeface="Times New Roman"/>
                          <a:cs typeface="Times New Roman"/>
                        </a:rPr>
                        <a:t>Model</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Total return</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Annual return</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Sharpe</a:t>
                      </a:r>
                    </a:p>
                  </a:txBody>
                  <a:tcPr marL="91440" marR="91440" marT="45720" marB="45720">
                    <a:solidFill>
                      <a:srgbClr val="193047"/>
                    </a:solidFill>
                  </a:tcPr>
                </a:tc>
                <a:tc>
                  <a:txBody>
                    <a:bodyPr/>
                    <a:lstStyle/>
                    <a:p>
                      <a:r>
                        <a:rPr sz="1725" b="1">
                          <a:solidFill>
                            <a:srgbClr val="FFFFFF"/>
                          </a:solidFill>
                          <a:latin typeface="Times New Roman"/>
                          <a:ea typeface="Times New Roman"/>
                          <a:cs typeface="Times New Roman"/>
                        </a:rPr>
                        <a:t>Max DD</a:t>
                      </a:r>
                    </a:p>
                  </a:txBody>
                  <a:tcPr marL="91440" marR="91440" marT="45720" marB="45720">
                    <a:solidFill>
                      <a:srgbClr val="193047"/>
                    </a:solidFill>
                  </a:tcPr>
                </a:tc>
              </a:tr>
              <a:tr h="590550">
                <a:tc>
                  <a:txBody>
                    <a:bodyPr/>
                    <a:lstStyle/>
                    <a:p>
                      <a:r>
                        <a:rPr sz="1725" b="0">
                          <a:solidFill>
                            <a:srgbClr val="193047"/>
                          </a:solidFill>
                          <a:latin typeface="Times New Roman"/>
                          <a:ea typeface="Times New Roman"/>
                          <a:cs typeface="Times New Roman"/>
                        </a:rPr>
                        <a:t>LR</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-1.5%</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-0.4%</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0.110</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37.2%</a:t>
                      </a:r>
                    </a:p>
                  </a:txBody>
                  <a:tcPr marL="91440" marR="91440" marT="45720" marB="45720">
                    <a:solidFill>
                      <a:srgbClr val="F0F3F1"/>
                    </a:solidFill>
                  </a:tcPr>
                </a:tc>
              </a:tr>
              <a:tr h="590550">
                <a:tc>
                  <a:txBody>
                    <a:bodyPr/>
                    <a:lstStyle/>
                    <a:p>
                      <a:r>
                        <a:rPr sz="1725" b="0">
                          <a:solidFill>
                            <a:srgbClr val="193047"/>
                          </a:solidFill>
                          <a:latin typeface="Times New Roman"/>
                          <a:ea typeface="Times New Roman"/>
                          <a:cs typeface="Times New Roman"/>
                        </a:rPr>
                        <a:t>RF</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60.0%</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11.6%</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0.683</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17.3%</a:t>
                      </a:r>
                    </a:p>
                  </a:txBody>
                  <a:tcPr marL="91440" marR="91440" marT="45720" marB="45720">
                    <a:solidFill>
                      <a:srgbClr val="FFFFFF"/>
                    </a:solidFill>
                  </a:tcPr>
                </a:tc>
              </a:tr>
              <a:tr h="590550">
                <a:tc>
                  <a:txBody>
                    <a:bodyPr/>
                    <a:lstStyle/>
                    <a:p>
                      <a:r>
                        <a:rPr sz="1725" b="0">
                          <a:solidFill>
                            <a:srgbClr val="193047"/>
                          </a:solidFill>
                          <a:latin typeface="Times New Roman"/>
                          <a:ea typeface="Times New Roman"/>
                          <a:cs typeface="Times New Roman"/>
                        </a:rPr>
                        <a:t>XGB</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58.5%</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11.3%</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0.674</a:t>
                      </a:r>
                    </a:p>
                  </a:txBody>
                  <a:tcPr marL="91440" marR="91440" marT="45720" marB="45720">
                    <a:solidFill>
                      <a:srgbClr val="F0F3F1"/>
                    </a:solidFill>
                  </a:tcPr>
                </a:tc>
                <a:tc>
                  <a:txBody>
                    <a:bodyPr/>
                    <a:lstStyle/>
                    <a:p>
                      <a:r>
                        <a:rPr sz="1725" b="0">
                          <a:solidFill>
                            <a:srgbClr val="193047"/>
                          </a:solidFill>
                          <a:latin typeface="Times New Roman"/>
                          <a:ea typeface="Times New Roman"/>
                          <a:cs typeface="Times New Roman"/>
                        </a:rPr>
                        <a:t>19.2%</a:t>
                      </a:r>
                    </a:p>
                  </a:txBody>
                  <a:tcPr marL="91440" marR="91440" marT="45720" marB="45720">
                    <a:solidFill>
                      <a:srgbClr val="F0F3F1"/>
                    </a:solidFill>
                  </a:tcPr>
                </a:tc>
              </a:tr>
              <a:tr h="590550">
                <a:tc>
                  <a:txBody>
                    <a:bodyPr/>
                    <a:lstStyle/>
                    <a:p>
                      <a:r>
                        <a:rPr sz="1725" b="0">
                          <a:solidFill>
                            <a:srgbClr val="193047"/>
                          </a:solidFill>
                          <a:latin typeface="Times New Roman"/>
                          <a:ea typeface="Times New Roman"/>
                          <a:cs typeface="Times New Roman"/>
                        </a:rPr>
                        <a:t>LGBM</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80.2%</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14.7%</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0.816</a:t>
                      </a:r>
                    </a:p>
                  </a:txBody>
                  <a:tcPr marL="91440" marR="91440" marT="45720" marB="45720">
                    <a:solidFill>
                      <a:srgbClr val="FFFFFF"/>
                    </a:solidFill>
                  </a:tcPr>
                </a:tc>
                <a:tc>
                  <a:txBody>
                    <a:bodyPr/>
                    <a:lstStyle/>
                    <a:p>
                      <a:r>
                        <a:rPr sz="1725" b="0">
                          <a:solidFill>
                            <a:srgbClr val="193047"/>
                          </a:solidFill>
                          <a:latin typeface="Times New Roman"/>
                          <a:ea typeface="Times New Roman"/>
                          <a:cs typeface="Times New Roman"/>
                        </a:rPr>
                        <a:t>19.8%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10BCA28-4885-4400-B413-AC84416D1E2D}"/>
              </a:ext>
            </a:extLst>
          </p:cNvPr>
          <p:cNvSpPr>
            <a:spLocks xmlns:a="http://schemas.openxmlformats.org/drawingml/2006/main" noGrp="1"/>
          </p:cNvSpPr>
          <p:nvPr/>
        </p:nvSpPr>
        <p:spPr>
          <a:xfrm xmlns:a="http://schemas.openxmlformats.org/drawingml/2006/main">
            <a:off x="714375" y="5048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8776B"/>
                </a:solidFill>
                <a:latin typeface="Times New Roman"/>
                <a:ea typeface="Times New Roman"/>
                <a:cs typeface="Times New Roman"/>
              </a:defRPr>
            </a:defPPr>
            <a:lvl1pPr>
              <a:defRPr sz="1950" b="1">
                <a:solidFill>
                  <a:srgbClr val="28776B"/>
                </a:solidFill>
                <a:latin typeface="Times New Roman"/>
                <a:ea typeface="Times New Roman"/>
                <a:cs typeface="Times New Roman"/>
              </a:defRPr>
            </a:lvl1pPr>
            <a:lvl2pPr>
              <a:defRPr sz="1950" b="1">
                <a:solidFill>
                  <a:srgbClr val="28776B"/>
                </a:solidFill>
                <a:latin typeface="Times New Roman"/>
                <a:ea typeface="Times New Roman"/>
                <a:cs typeface="Times New Roman"/>
              </a:defRPr>
            </a:lvl2pPr>
            <a:lvl3pPr>
              <a:defRPr sz="1950" b="1">
                <a:solidFill>
                  <a:srgbClr val="28776B"/>
                </a:solidFill>
                <a:latin typeface="Times New Roman"/>
                <a:ea typeface="Times New Roman"/>
                <a:cs typeface="Times New Roman"/>
              </a:defRPr>
            </a:lvl3pPr>
            <a:lvl4pPr>
              <a:defRPr sz="1950" b="1">
                <a:solidFill>
                  <a:srgbClr val="28776B"/>
                </a:solidFill>
                <a:latin typeface="Times New Roman"/>
                <a:ea typeface="Times New Roman"/>
                <a:cs typeface="Times New Roman"/>
              </a:defRPr>
            </a:lvl4pPr>
            <a:lvl5pPr>
              <a:defRPr sz="1950" b="1">
                <a:solidFill>
                  <a:srgbClr val="28776B"/>
                </a:solidFill>
                <a:latin typeface="Times New Roman"/>
                <a:ea typeface="Times New Roman"/>
                <a:cs typeface="Times New Roman"/>
              </a:defRPr>
            </a:lvl5pPr>
            <a:lvl6pPr>
              <a:defRPr sz="1950" b="1">
                <a:solidFill>
                  <a:srgbClr val="28776B"/>
                </a:solidFill>
                <a:latin typeface="Times New Roman"/>
                <a:ea typeface="Times New Roman"/>
                <a:cs typeface="Times New Roman"/>
              </a:defRPr>
            </a:lvl6pPr>
            <a:lvl7pPr>
              <a:defRPr sz="1950" b="1">
                <a:solidFill>
                  <a:srgbClr val="28776B"/>
                </a:solidFill>
                <a:latin typeface="Times New Roman"/>
                <a:ea typeface="Times New Roman"/>
                <a:cs typeface="Times New Roman"/>
              </a:defRPr>
            </a:lvl7pPr>
            <a:lvl8pPr>
              <a:defRPr sz="1950" b="1">
                <a:solidFill>
                  <a:srgbClr val="28776B"/>
                </a:solidFill>
                <a:latin typeface="Times New Roman"/>
                <a:ea typeface="Times New Roman"/>
                <a:cs typeface="Times New Roman"/>
              </a:defRPr>
            </a:lvl8pPr>
            <a:lvl9pPr>
              <a:defRPr sz="1950" b="1">
                <a:solidFill>
                  <a:srgbClr val="28776B"/>
                </a:solidFill>
                <a:latin typeface="Times New Roman"/>
                <a:ea typeface="Times New Roman"/>
                <a:cs typeface="Times New Roman"/>
              </a:defRPr>
            </a:lvl9pPr>
          </a:lstStyle>
          <a:p xmlns:a="http://schemas.openxmlformats.org/drawingml/2006/main">
            <a:pPr>
              <a:defRPr sz="1950" b="1">
                <a:solidFill>
                  <a:srgbClr val="28776B"/>
                </a:solidFill>
                <a:latin typeface="Times New Roman"/>
                <a:ea typeface="Times New Roman"/>
                <a:cs typeface="Times New Roman"/>
              </a:defRPr>
            </a:pPr>
            <a:r>
              <a:rPr sz="1950" b="1">
                <a:solidFill>
                  <a:srgbClr val="28776B"/>
                </a:solidFill>
                <a:latin typeface="Times New Roman"/>
                <a:ea typeface="Times New Roman"/>
                <a:cs typeface="Times New Roman"/>
              </a:rPr>
              <a:t>LightGBM has the largest realized return; RF has the lower maximum drawdown.</a:t>
            </a:r>
          </a:p>
        </p:txBody>
      </p:sp>
    </p:spTree>
    <p:extLst>
      <p:ext uri="{BB962C8B-B14F-4D97-AF65-F5344CB8AC3E}">
        <p14:creationId xmlns:p14="http://schemas.microsoft.com/office/powerpoint/2010/main" val="441574767"/>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5E36A4-F68F-4224-A452-7597824EFBB8}"/>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3B815C4F-D332-47CC-9D5D-EBFF0DB46AA6}"/>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Sensitivity to transaction costs</a:t>
            </a:r>
          </a:p>
        </p:txBody>
      </p:sp>
      <p:sp>
        <p:nvSpPr>
          <p:cNvPr id="3" name="">
            <a:extLst xmlns:a="http://schemas.openxmlformats.org/drawingml/2006/main">
              <a:ext uri="{FF2B5EF4-FFF2-40B4-BE49-F238E27FC236}">
                <a16:creationId xmlns:a16="http://schemas.microsoft.com/office/drawing/2014/main" id="{CF9FCBAC-37C6-41FA-82A5-2F1703B5EC41}"/>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10</a:t>
            </a:r>
          </a:p>
        </p:txBody>
      </p:sp>
      <p:sp>
        <p:nvSpPr>
          <p:cNvPr id="4" name="">
            <a:extLst xmlns:a="http://schemas.openxmlformats.org/drawingml/2006/main">
              <a:ext uri="{FF2B5EF4-FFF2-40B4-BE49-F238E27FC236}">
                <a16:creationId xmlns:a16="http://schemas.microsoft.com/office/drawing/2014/main" id="{214AC86B-27A5-40E6-8BAD-2CC22381125E}"/>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Chart">
            <a:extLst xmlns:a="http://schemas.openxmlformats.org/drawingml/2006/main">
              <a:ext uri="{FF2B5EF4-FFF2-40B4-BE49-F238E27FC236}">
                <a16:creationId xmlns:a16="http://schemas.microsoft.com/office/drawing/2014/main" id="{7144A994-EF16-4A8E-9D21-BA2F13A6FA1F}"/>
              </a:ext>
            </a:extLst>
          </p:cNvPr>
          <p:cNvGraphicFramePr/>
          <p:nvPr/>
        </p:nvGraphicFramePr>
        <p:xfrm>
          <a:off xmlns:a="http://schemas.openxmlformats.org/drawingml/2006/main" x="666750" y="1666875"/>
          <a:ext xmlns:a="http://schemas.openxmlformats.org/drawingml/2006/main" cx="10572750" cy="3476625"/>
        </p:xfrm>
        <a:graphic xmlns:a="http://schemas.openxmlformats.org/drawingml/2006/main">
          <a:graphicData uri="http://schemas.openxmlformats.org/drawingml/2006/chart">
            <c:chart xmlns:r="http://schemas.openxmlformats.org/officeDocument/2006/relationships" xmlns:c="http://schemas.openxmlformats.org/drawingml/2006/chart" r:id="R7089ee1c1f53477d"/>
          </a:graphicData>
        </a:graphic>
      </p:graphicFrame>
      <p:sp>
        <p:nvSpPr>
          <p:cNvPr id="6" name="">
            <a:extLst xmlns:a="http://schemas.openxmlformats.org/drawingml/2006/main">
              <a:ext uri="{FF2B5EF4-FFF2-40B4-BE49-F238E27FC236}">
                <a16:creationId xmlns:a16="http://schemas.microsoft.com/office/drawing/2014/main" id="{4502C4C7-DD32-4826-A0F2-CD1118707D67}"/>
              </a:ext>
            </a:extLst>
          </p:cNvPr>
          <p:cNvSpPr>
            <a:spLocks xmlns:a="http://schemas.openxmlformats.org/drawingml/2006/main" noGrp="1"/>
          </p:cNvSpPr>
          <p:nvPr/>
        </p:nvSpPr>
        <p:spPr>
          <a:xfrm xmlns:a="http://schemas.openxmlformats.org/drawingml/2006/main">
            <a:off x="3190875" y="5286375"/>
            <a:ext cx="209550" cy="38100"/>
          </a:xfrm>
          <a:prstGeom xmlns:a="http://schemas.openxmlformats.org/drawingml/2006/main" prst="rect">
            <a:avLst/>
          </a:prstGeom>
          <a:solidFill xmlns:a="http://schemas.openxmlformats.org/drawingml/2006/main">
            <a:srgbClr val="7A808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A8E1015-9891-4D1A-AE34-3946A7CA2EB4}"/>
              </a:ext>
            </a:extLst>
          </p:cNvPr>
          <p:cNvSpPr>
            <a:spLocks xmlns:a="http://schemas.openxmlformats.org/drawingml/2006/main" noGrp="1"/>
          </p:cNvSpPr>
          <p:nvPr/>
        </p:nvSpPr>
        <p:spPr>
          <a:xfrm xmlns:a="http://schemas.openxmlformats.org/drawingml/2006/main">
            <a:off x="347662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LR</a:t>
            </a:r>
          </a:p>
        </p:txBody>
      </p:sp>
      <p:sp>
        <p:nvSpPr>
          <p:cNvPr id="8" name="">
            <a:extLst xmlns:a="http://schemas.openxmlformats.org/drawingml/2006/main">
              <a:ext uri="{FF2B5EF4-FFF2-40B4-BE49-F238E27FC236}">
                <a16:creationId xmlns:a16="http://schemas.microsoft.com/office/drawing/2014/main" id="{7C50E00B-41DA-4958-AE5F-1CC2E21FECA8}"/>
              </a:ext>
            </a:extLst>
          </p:cNvPr>
          <p:cNvSpPr>
            <a:spLocks xmlns:a="http://schemas.openxmlformats.org/drawingml/2006/main" noGrp="1"/>
          </p:cNvSpPr>
          <p:nvPr/>
        </p:nvSpPr>
        <p:spPr>
          <a:xfrm xmlns:a="http://schemas.openxmlformats.org/drawingml/2006/main">
            <a:off x="4572000" y="5286375"/>
            <a:ext cx="209550" cy="38100"/>
          </a:xfrm>
          <a:prstGeom xmlns:a="http://schemas.openxmlformats.org/drawingml/2006/main" prst="rect">
            <a:avLst/>
          </a:prstGeom>
          <a:solidFill xmlns:a="http://schemas.openxmlformats.org/drawingml/2006/main">
            <a:srgbClr val="1C55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EE3EED-1CA1-44D0-B05D-12F72031238B}"/>
              </a:ext>
            </a:extLst>
          </p:cNvPr>
          <p:cNvSpPr>
            <a:spLocks xmlns:a="http://schemas.openxmlformats.org/drawingml/2006/main" noGrp="1"/>
          </p:cNvSpPr>
          <p:nvPr/>
        </p:nvSpPr>
        <p:spPr>
          <a:xfrm xmlns:a="http://schemas.openxmlformats.org/drawingml/2006/main">
            <a:off x="485775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RF</a:t>
            </a:r>
          </a:p>
        </p:txBody>
      </p:sp>
      <p:sp>
        <p:nvSpPr>
          <p:cNvPr id="10" name="">
            <a:extLst xmlns:a="http://schemas.openxmlformats.org/drawingml/2006/main">
              <a:ext uri="{FF2B5EF4-FFF2-40B4-BE49-F238E27FC236}">
                <a16:creationId xmlns:a16="http://schemas.microsoft.com/office/drawing/2014/main" id="{4210C9D1-4659-4BB7-97F9-C217B0C4181C}"/>
              </a:ext>
            </a:extLst>
          </p:cNvPr>
          <p:cNvSpPr>
            <a:spLocks xmlns:a="http://schemas.openxmlformats.org/drawingml/2006/main" noGrp="1"/>
          </p:cNvSpPr>
          <p:nvPr/>
        </p:nvSpPr>
        <p:spPr>
          <a:xfrm xmlns:a="http://schemas.openxmlformats.org/drawingml/2006/main">
            <a:off x="5953125" y="5286375"/>
            <a:ext cx="209550" cy="38100"/>
          </a:xfrm>
          <a:prstGeom xmlns:a="http://schemas.openxmlformats.org/drawingml/2006/main" prst="rect">
            <a:avLst/>
          </a:prstGeom>
          <a:solidFill xmlns:a="http://schemas.openxmlformats.org/drawingml/2006/main">
            <a:srgbClr val="BD77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C2AE70-6112-4092-89FE-0592D7B6110D}"/>
              </a:ext>
            </a:extLst>
          </p:cNvPr>
          <p:cNvSpPr>
            <a:spLocks xmlns:a="http://schemas.openxmlformats.org/drawingml/2006/main" noGrp="1"/>
          </p:cNvSpPr>
          <p:nvPr/>
        </p:nvSpPr>
        <p:spPr>
          <a:xfrm xmlns:a="http://schemas.openxmlformats.org/drawingml/2006/main">
            <a:off x="623887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XGB</a:t>
            </a:r>
          </a:p>
        </p:txBody>
      </p:sp>
      <p:sp>
        <p:nvSpPr>
          <p:cNvPr id="12" name="">
            <a:extLst xmlns:a="http://schemas.openxmlformats.org/drawingml/2006/main">
              <a:ext uri="{FF2B5EF4-FFF2-40B4-BE49-F238E27FC236}">
                <a16:creationId xmlns:a16="http://schemas.microsoft.com/office/drawing/2014/main" id="{4ECB5AB3-A305-4715-84E6-2BDC7DC1CC7D}"/>
              </a:ext>
            </a:extLst>
          </p:cNvPr>
          <p:cNvSpPr>
            <a:spLocks xmlns:a="http://schemas.openxmlformats.org/drawingml/2006/main" noGrp="1"/>
          </p:cNvSpPr>
          <p:nvPr/>
        </p:nvSpPr>
        <p:spPr>
          <a:xfrm xmlns:a="http://schemas.openxmlformats.org/drawingml/2006/main">
            <a:off x="7334250" y="5286375"/>
            <a:ext cx="209550" cy="38100"/>
          </a:xfrm>
          <a:prstGeom xmlns:a="http://schemas.openxmlformats.org/drawingml/2006/main" prst="rect">
            <a:avLst/>
          </a:prstGeom>
          <a:solidFill xmlns:a="http://schemas.openxmlformats.org/drawingml/2006/main">
            <a:srgbClr val="28776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3ED640-E429-4B1E-8F7F-E74367356A02}"/>
              </a:ext>
            </a:extLst>
          </p:cNvPr>
          <p:cNvSpPr>
            <a:spLocks xmlns:a="http://schemas.openxmlformats.org/drawingml/2006/main" noGrp="1"/>
          </p:cNvSpPr>
          <p:nvPr/>
        </p:nvSpPr>
        <p:spPr>
          <a:xfrm xmlns:a="http://schemas.openxmlformats.org/drawingml/2006/main">
            <a:off x="762000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LGBM</a:t>
            </a:r>
          </a:p>
        </p:txBody>
      </p:sp>
      <p:sp>
        <p:nvSpPr>
          <p:cNvPr id="14" name="">
            <a:extLst xmlns:a="http://schemas.openxmlformats.org/drawingml/2006/main">
              <a:ext uri="{FF2B5EF4-FFF2-40B4-BE49-F238E27FC236}">
                <a16:creationId xmlns:a16="http://schemas.microsoft.com/office/drawing/2014/main" id="{88C23F5B-E5A2-4098-B78B-0D63F9D266D5}"/>
              </a:ext>
            </a:extLst>
          </p:cNvPr>
          <p:cNvSpPr>
            <a:spLocks xmlns:a="http://schemas.openxmlformats.org/drawingml/2006/main" noGrp="1"/>
          </p:cNvSpPr>
          <p:nvPr/>
        </p:nvSpPr>
        <p:spPr>
          <a:xfrm xmlns:a="http://schemas.openxmlformats.org/drawingml/2006/main">
            <a:off x="714375" y="561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047"/>
                </a:solidFill>
                <a:latin typeface="Times New Roman"/>
                <a:ea typeface="Times New Roman"/>
                <a:cs typeface="Times New Roman"/>
              </a:defRPr>
            </a:defPPr>
            <a:lvl1pPr>
              <a:defRPr sz="1875" b="0">
                <a:solidFill>
                  <a:srgbClr val="193047"/>
                </a:solidFill>
                <a:latin typeface="Times New Roman"/>
                <a:ea typeface="Times New Roman"/>
                <a:cs typeface="Times New Roman"/>
              </a:defRPr>
            </a:lvl1pPr>
            <a:lvl2pPr>
              <a:defRPr sz="1875" b="0">
                <a:solidFill>
                  <a:srgbClr val="193047"/>
                </a:solidFill>
                <a:latin typeface="Times New Roman"/>
                <a:ea typeface="Times New Roman"/>
                <a:cs typeface="Times New Roman"/>
              </a:defRPr>
            </a:lvl2pPr>
            <a:lvl3pPr>
              <a:defRPr sz="1875" b="0">
                <a:solidFill>
                  <a:srgbClr val="193047"/>
                </a:solidFill>
                <a:latin typeface="Times New Roman"/>
                <a:ea typeface="Times New Roman"/>
                <a:cs typeface="Times New Roman"/>
              </a:defRPr>
            </a:lvl3pPr>
            <a:lvl4pPr>
              <a:defRPr sz="1875" b="0">
                <a:solidFill>
                  <a:srgbClr val="193047"/>
                </a:solidFill>
                <a:latin typeface="Times New Roman"/>
                <a:ea typeface="Times New Roman"/>
                <a:cs typeface="Times New Roman"/>
              </a:defRPr>
            </a:lvl4pPr>
            <a:lvl5pPr>
              <a:defRPr sz="1875" b="0">
                <a:solidFill>
                  <a:srgbClr val="193047"/>
                </a:solidFill>
                <a:latin typeface="Times New Roman"/>
                <a:ea typeface="Times New Roman"/>
                <a:cs typeface="Times New Roman"/>
              </a:defRPr>
            </a:lvl5pPr>
            <a:lvl6pPr>
              <a:defRPr sz="1875" b="0">
                <a:solidFill>
                  <a:srgbClr val="193047"/>
                </a:solidFill>
                <a:latin typeface="Times New Roman"/>
                <a:ea typeface="Times New Roman"/>
                <a:cs typeface="Times New Roman"/>
              </a:defRPr>
            </a:lvl6pPr>
            <a:lvl7pPr>
              <a:defRPr sz="1875" b="0">
                <a:solidFill>
                  <a:srgbClr val="193047"/>
                </a:solidFill>
                <a:latin typeface="Times New Roman"/>
                <a:ea typeface="Times New Roman"/>
                <a:cs typeface="Times New Roman"/>
              </a:defRPr>
            </a:lvl7pPr>
            <a:lvl8pPr>
              <a:defRPr sz="1875" b="0">
                <a:solidFill>
                  <a:srgbClr val="193047"/>
                </a:solidFill>
                <a:latin typeface="Times New Roman"/>
                <a:ea typeface="Times New Roman"/>
                <a:cs typeface="Times New Roman"/>
              </a:defRPr>
            </a:lvl8pPr>
            <a:lvl9pPr>
              <a:defRPr sz="1875" b="0">
                <a:solidFill>
                  <a:srgbClr val="193047"/>
                </a:solidFill>
                <a:latin typeface="Times New Roman"/>
                <a:ea typeface="Times New Roman"/>
                <a:cs typeface="Times New Roman"/>
              </a:defRPr>
            </a:lvl9pPr>
          </a:lstStyle>
          <a:p xmlns:a="http://schemas.openxmlformats.org/drawingml/2006/main">
            <a:pPr>
              <a:defRPr sz="1875" b="0">
                <a:solidFill>
                  <a:srgbClr val="193047"/>
                </a:solidFill>
                <a:latin typeface="Times New Roman"/>
                <a:ea typeface="Times New Roman"/>
                <a:cs typeface="Times New Roman"/>
              </a:defRPr>
            </a:pPr>
            <a:r>
              <a:rPr sz="1875" b="0">
                <a:solidFill>
                  <a:srgbClr val="193047"/>
                </a:solidFill>
                <a:latin typeface="Times New Roman"/>
                <a:ea typeface="Times New Roman"/>
                <a:cs typeface="Times New Roman"/>
              </a:rPr>
              <a:t>Turnover reduces net performance; cost assumptions are part of the model.</a:t>
            </a:r>
          </a:p>
        </p:txBody>
      </p:sp>
    </p:spTree>
    <p:extLst>
      <p:ext uri="{BB962C8B-B14F-4D97-AF65-F5344CB8AC3E}">
        <p14:creationId xmlns:p14="http://schemas.microsoft.com/office/powerpoint/2010/main" val="1022072140"/>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ED13E3E-65AE-459D-83AB-26FCAA7E11EC}"/>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1E39EBDC-8A0E-441A-A5A5-47A406E678C1}"/>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Factor family ablations</a:t>
            </a:r>
          </a:p>
        </p:txBody>
      </p:sp>
      <p:sp>
        <p:nvSpPr>
          <p:cNvPr id="3" name="">
            <a:extLst xmlns:a="http://schemas.openxmlformats.org/drawingml/2006/main">
              <a:ext uri="{FF2B5EF4-FFF2-40B4-BE49-F238E27FC236}">
                <a16:creationId xmlns:a16="http://schemas.microsoft.com/office/drawing/2014/main" id="{372465C9-7F84-4B32-8BC6-FAB6CBC45AF1}"/>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11</a:t>
            </a:r>
          </a:p>
        </p:txBody>
      </p:sp>
      <p:sp>
        <p:nvSpPr>
          <p:cNvPr id="4" name="">
            <a:extLst xmlns:a="http://schemas.openxmlformats.org/drawingml/2006/main">
              <a:ext uri="{FF2B5EF4-FFF2-40B4-BE49-F238E27FC236}">
                <a16:creationId xmlns:a16="http://schemas.microsoft.com/office/drawing/2014/main" id="{3147860A-0D70-46B2-912A-EF5F61DA1CC4}"/>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Chart">
            <a:extLst xmlns:a="http://schemas.openxmlformats.org/drawingml/2006/main">
              <a:ext uri="{FF2B5EF4-FFF2-40B4-BE49-F238E27FC236}">
                <a16:creationId xmlns:a16="http://schemas.microsoft.com/office/drawing/2014/main" id="{07FC4C30-A27A-40CA-A6F8-D4DEF20E5F4B}"/>
              </a:ext>
            </a:extLst>
          </p:cNvPr>
          <p:cNvGraphicFramePr/>
          <p:nvPr/>
        </p:nvGraphicFramePr>
        <p:xfrm>
          <a:off xmlns:a="http://schemas.openxmlformats.org/drawingml/2006/main" x="666750" y="1666875"/>
          <a:ext xmlns:a="http://schemas.openxmlformats.org/drawingml/2006/main" cx="10572750" cy="3476625"/>
        </p:xfrm>
        <a:graphic xmlns:a="http://schemas.openxmlformats.org/drawingml/2006/main">
          <a:graphicData uri="http://schemas.openxmlformats.org/drawingml/2006/chart">
            <c:chart xmlns:r="http://schemas.openxmlformats.org/officeDocument/2006/relationships" xmlns:c="http://schemas.openxmlformats.org/drawingml/2006/chart" r:id="R90a44d89a2574979"/>
          </a:graphicData>
        </a:graphic>
      </p:graphicFrame>
      <p:sp>
        <p:nvSpPr>
          <p:cNvPr id="6" name="">
            <a:extLst xmlns:a="http://schemas.openxmlformats.org/drawingml/2006/main">
              <a:ext uri="{FF2B5EF4-FFF2-40B4-BE49-F238E27FC236}">
                <a16:creationId xmlns:a16="http://schemas.microsoft.com/office/drawing/2014/main" id="{B9E1160E-7D59-4961-AB20-03D721FB6DB7}"/>
              </a:ext>
            </a:extLst>
          </p:cNvPr>
          <p:cNvSpPr>
            <a:spLocks xmlns:a="http://schemas.openxmlformats.org/drawingml/2006/main" noGrp="1"/>
          </p:cNvSpPr>
          <p:nvPr/>
        </p:nvSpPr>
        <p:spPr>
          <a:xfrm xmlns:a="http://schemas.openxmlformats.org/drawingml/2006/main">
            <a:off x="3190875" y="5286375"/>
            <a:ext cx="209550" cy="38100"/>
          </a:xfrm>
          <a:prstGeom xmlns:a="http://schemas.openxmlformats.org/drawingml/2006/main" prst="rect">
            <a:avLst/>
          </a:prstGeom>
          <a:solidFill xmlns:a="http://schemas.openxmlformats.org/drawingml/2006/main">
            <a:srgbClr val="7A808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904751-C301-4479-AD25-94CD8A2F0CC0}"/>
              </a:ext>
            </a:extLst>
          </p:cNvPr>
          <p:cNvSpPr>
            <a:spLocks xmlns:a="http://schemas.openxmlformats.org/drawingml/2006/main" noGrp="1"/>
          </p:cNvSpPr>
          <p:nvPr/>
        </p:nvSpPr>
        <p:spPr>
          <a:xfrm xmlns:a="http://schemas.openxmlformats.org/drawingml/2006/main">
            <a:off x="347662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LR</a:t>
            </a:r>
          </a:p>
        </p:txBody>
      </p:sp>
      <p:sp>
        <p:nvSpPr>
          <p:cNvPr id="8" name="">
            <a:extLst xmlns:a="http://schemas.openxmlformats.org/drawingml/2006/main">
              <a:ext uri="{FF2B5EF4-FFF2-40B4-BE49-F238E27FC236}">
                <a16:creationId xmlns:a16="http://schemas.microsoft.com/office/drawing/2014/main" id="{4310CBE2-FE42-46D0-B0CC-BBB49A3A9CB2}"/>
              </a:ext>
            </a:extLst>
          </p:cNvPr>
          <p:cNvSpPr>
            <a:spLocks xmlns:a="http://schemas.openxmlformats.org/drawingml/2006/main" noGrp="1"/>
          </p:cNvSpPr>
          <p:nvPr/>
        </p:nvSpPr>
        <p:spPr>
          <a:xfrm xmlns:a="http://schemas.openxmlformats.org/drawingml/2006/main">
            <a:off x="4572000" y="5286375"/>
            <a:ext cx="209550" cy="38100"/>
          </a:xfrm>
          <a:prstGeom xmlns:a="http://schemas.openxmlformats.org/drawingml/2006/main" prst="rect">
            <a:avLst/>
          </a:prstGeom>
          <a:solidFill xmlns:a="http://schemas.openxmlformats.org/drawingml/2006/main">
            <a:srgbClr val="1C55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AE6E5A-F72F-4ACD-9B72-AAD9F4472DF4}"/>
              </a:ext>
            </a:extLst>
          </p:cNvPr>
          <p:cNvSpPr>
            <a:spLocks xmlns:a="http://schemas.openxmlformats.org/drawingml/2006/main" noGrp="1"/>
          </p:cNvSpPr>
          <p:nvPr/>
        </p:nvSpPr>
        <p:spPr>
          <a:xfrm xmlns:a="http://schemas.openxmlformats.org/drawingml/2006/main">
            <a:off x="485775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RF</a:t>
            </a:r>
          </a:p>
        </p:txBody>
      </p:sp>
      <p:sp>
        <p:nvSpPr>
          <p:cNvPr id="10" name="">
            <a:extLst xmlns:a="http://schemas.openxmlformats.org/drawingml/2006/main">
              <a:ext uri="{FF2B5EF4-FFF2-40B4-BE49-F238E27FC236}">
                <a16:creationId xmlns:a16="http://schemas.microsoft.com/office/drawing/2014/main" id="{BAEA9BF4-AAAF-4C69-8B7B-827A199921E6}"/>
              </a:ext>
            </a:extLst>
          </p:cNvPr>
          <p:cNvSpPr>
            <a:spLocks xmlns:a="http://schemas.openxmlformats.org/drawingml/2006/main" noGrp="1"/>
          </p:cNvSpPr>
          <p:nvPr/>
        </p:nvSpPr>
        <p:spPr>
          <a:xfrm xmlns:a="http://schemas.openxmlformats.org/drawingml/2006/main">
            <a:off x="5953125" y="5286375"/>
            <a:ext cx="209550" cy="38100"/>
          </a:xfrm>
          <a:prstGeom xmlns:a="http://schemas.openxmlformats.org/drawingml/2006/main" prst="rect">
            <a:avLst/>
          </a:prstGeom>
          <a:solidFill xmlns:a="http://schemas.openxmlformats.org/drawingml/2006/main">
            <a:srgbClr val="BD77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F0CBFE-842E-4554-B2A3-A95885CC97F3}"/>
              </a:ext>
            </a:extLst>
          </p:cNvPr>
          <p:cNvSpPr>
            <a:spLocks xmlns:a="http://schemas.openxmlformats.org/drawingml/2006/main" noGrp="1"/>
          </p:cNvSpPr>
          <p:nvPr/>
        </p:nvSpPr>
        <p:spPr>
          <a:xfrm xmlns:a="http://schemas.openxmlformats.org/drawingml/2006/main">
            <a:off x="623887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XGB</a:t>
            </a:r>
          </a:p>
        </p:txBody>
      </p:sp>
      <p:sp>
        <p:nvSpPr>
          <p:cNvPr id="12" name="">
            <a:extLst xmlns:a="http://schemas.openxmlformats.org/drawingml/2006/main">
              <a:ext uri="{FF2B5EF4-FFF2-40B4-BE49-F238E27FC236}">
                <a16:creationId xmlns:a16="http://schemas.microsoft.com/office/drawing/2014/main" id="{5BAE6AA7-E63C-4914-8475-6E319A558912}"/>
              </a:ext>
            </a:extLst>
          </p:cNvPr>
          <p:cNvSpPr>
            <a:spLocks xmlns:a="http://schemas.openxmlformats.org/drawingml/2006/main" noGrp="1"/>
          </p:cNvSpPr>
          <p:nvPr/>
        </p:nvSpPr>
        <p:spPr>
          <a:xfrm xmlns:a="http://schemas.openxmlformats.org/drawingml/2006/main">
            <a:off x="7334250" y="5286375"/>
            <a:ext cx="209550" cy="38100"/>
          </a:xfrm>
          <a:prstGeom xmlns:a="http://schemas.openxmlformats.org/drawingml/2006/main" prst="rect">
            <a:avLst/>
          </a:prstGeom>
          <a:solidFill xmlns:a="http://schemas.openxmlformats.org/drawingml/2006/main">
            <a:srgbClr val="28776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142E6F-2949-4B64-9A08-8D1C90E50970}"/>
              </a:ext>
            </a:extLst>
          </p:cNvPr>
          <p:cNvSpPr>
            <a:spLocks xmlns:a="http://schemas.openxmlformats.org/drawingml/2006/main" noGrp="1"/>
          </p:cNvSpPr>
          <p:nvPr/>
        </p:nvSpPr>
        <p:spPr>
          <a:xfrm xmlns:a="http://schemas.openxmlformats.org/drawingml/2006/main">
            <a:off x="762000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LGBM</a:t>
            </a:r>
          </a:p>
        </p:txBody>
      </p:sp>
      <p:sp>
        <p:nvSpPr>
          <p:cNvPr id="14" name="">
            <a:extLst xmlns:a="http://schemas.openxmlformats.org/drawingml/2006/main">
              <a:ext uri="{FF2B5EF4-FFF2-40B4-BE49-F238E27FC236}">
                <a16:creationId xmlns:a16="http://schemas.microsoft.com/office/drawing/2014/main" id="{B6C029F4-9FFE-44EC-A2F2-06A39EF35687}"/>
              </a:ext>
            </a:extLst>
          </p:cNvPr>
          <p:cNvSpPr>
            <a:spLocks xmlns:a="http://schemas.openxmlformats.org/drawingml/2006/main" noGrp="1"/>
          </p:cNvSpPr>
          <p:nvPr/>
        </p:nvSpPr>
        <p:spPr>
          <a:xfrm xmlns:a="http://schemas.openxmlformats.org/drawingml/2006/main">
            <a:off x="714375" y="561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047"/>
                </a:solidFill>
                <a:latin typeface="Times New Roman"/>
                <a:ea typeface="Times New Roman"/>
                <a:cs typeface="Times New Roman"/>
              </a:defRPr>
            </a:defPPr>
            <a:lvl1pPr>
              <a:defRPr sz="1875" b="0">
                <a:solidFill>
                  <a:srgbClr val="193047"/>
                </a:solidFill>
                <a:latin typeface="Times New Roman"/>
                <a:ea typeface="Times New Roman"/>
                <a:cs typeface="Times New Roman"/>
              </a:defRPr>
            </a:lvl1pPr>
            <a:lvl2pPr>
              <a:defRPr sz="1875" b="0">
                <a:solidFill>
                  <a:srgbClr val="193047"/>
                </a:solidFill>
                <a:latin typeface="Times New Roman"/>
                <a:ea typeface="Times New Roman"/>
                <a:cs typeface="Times New Roman"/>
              </a:defRPr>
            </a:lvl2pPr>
            <a:lvl3pPr>
              <a:defRPr sz="1875" b="0">
                <a:solidFill>
                  <a:srgbClr val="193047"/>
                </a:solidFill>
                <a:latin typeface="Times New Roman"/>
                <a:ea typeface="Times New Roman"/>
                <a:cs typeface="Times New Roman"/>
              </a:defRPr>
            </a:lvl3pPr>
            <a:lvl4pPr>
              <a:defRPr sz="1875" b="0">
                <a:solidFill>
                  <a:srgbClr val="193047"/>
                </a:solidFill>
                <a:latin typeface="Times New Roman"/>
                <a:ea typeface="Times New Roman"/>
                <a:cs typeface="Times New Roman"/>
              </a:defRPr>
            </a:lvl4pPr>
            <a:lvl5pPr>
              <a:defRPr sz="1875" b="0">
                <a:solidFill>
                  <a:srgbClr val="193047"/>
                </a:solidFill>
                <a:latin typeface="Times New Roman"/>
                <a:ea typeface="Times New Roman"/>
                <a:cs typeface="Times New Roman"/>
              </a:defRPr>
            </a:lvl5pPr>
            <a:lvl6pPr>
              <a:defRPr sz="1875" b="0">
                <a:solidFill>
                  <a:srgbClr val="193047"/>
                </a:solidFill>
                <a:latin typeface="Times New Roman"/>
                <a:ea typeface="Times New Roman"/>
                <a:cs typeface="Times New Roman"/>
              </a:defRPr>
            </a:lvl6pPr>
            <a:lvl7pPr>
              <a:defRPr sz="1875" b="0">
                <a:solidFill>
                  <a:srgbClr val="193047"/>
                </a:solidFill>
                <a:latin typeface="Times New Roman"/>
                <a:ea typeface="Times New Roman"/>
                <a:cs typeface="Times New Roman"/>
              </a:defRPr>
            </a:lvl7pPr>
            <a:lvl8pPr>
              <a:defRPr sz="1875" b="0">
                <a:solidFill>
                  <a:srgbClr val="193047"/>
                </a:solidFill>
                <a:latin typeface="Times New Roman"/>
                <a:ea typeface="Times New Roman"/>
                <a:cs typeface="Times New Roman"/>
              </a:defRPr>
            </a:lvl8pPr>
            <a:lvl9pPr>
              <a:defRPr sz="1875" b="0">
                <a:solidFill>
                  <a:srgbClr val="193047"/>
                </a:solidFill>
                <a:latin typeface="Times New Roman"/>
                <a:ea typeface="Times New Roman"/>
                <a:cs typeface="Times New Roman"/>
              </a:defRPr>
            </a:lvl9pPr>
          </a:lstStyle>
          <a:p xmlns:a="http://schemas.openxmlformats.org/drawingml/2006/main">
            <a:pPr>
              <a:defRPr sz="1875" b="0">
                <a:solidFill>
                  <a:srgbClr val="193047"/>
                </a:solidFill>
                <a:latin typeface="Times New Roman"/>
                <a:ea typeface="Times New Roman"/>
                <a:cs typeface="Times New Roman"/>
              </a:defRPr>
            </a:pPr>
            <a:r>
              <a:rPr sz="1875" b="0">
                <a:solidFill>
                  <a:srgbClr val="193047"/>
                </a:solidFill>
                <a:latin typeface="Times New Roman"/>
                <a:ea typeface="Times New Roman"/>
                <a:cs typeface="Times New Roman"/>
              </a:rPr>
              <a:t>Information complementarity depends on the model and evaluation period.</a:t>
            </a:r>
          </a:p>
        </p:txBody>
      </p:sp>
    </p:spTree>
    <p:extLst>
      <p:ext uri="{BB962C8B-B14F-4D97-AF65-F5344CB8AC3E}">
        <p14:creationId xmlns:p14="http://schemas.microsoft.com/office/powerpoint/2010/main" val="2146714289"/>
      </p:ext>
    </p:extLst>
  </p:cSld>
</p:sld>
</file>

<file path=ppt/slides/slide1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3A2DF5-B862-4274-B0A4-ADB65597CB9F}"/>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1C29447B-B7AF-4960-BE4C-C447C9FC55A3}"/>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Held out feature importance in Random Forest</a:t>
            </a:r>
          </a:p>
        </p:txBody>
      </p:sp>
      <p:sp>
        <p:nvSpPr>
          <p:cNvPr id="3" name="">
            <a:extLst xmlns:a="http://schemas.openxmlformats.org/drawingml/2006/main">
              <a:ext uri="{FF2B5EF4-FFF2-40B4-BE49-F238E27FC236}">
                <a16:creationId xmlns:a16="http://schemas.microsoft.com/office/drawing/2014/main" id="{12296F1B-5BF0-4270-B743-379D3FD1763C}"/>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12</a:t>
            </a:r>
          </a:p>
        </p:txBody>
      </p:sp>
      <p:sp>
        <p:nvSpPr>
          <p:cNvPr id="4" name="">
            <a:extLst xmlns:a="http://schemas.openxmlformats.org/drawingml/2006/main">
              <a:ext uri="{FF2B5EF4-FFF2-40B4-BE49-F238E27FC236}">
                <a16:creationId xmlns:a16="http://schemas.microsoft.com/office/drawing/2014/main" id="{58B7C2E6-F45A-4D3A-BAD4-4BE8DB801F0C}"/>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Chart">
            <a:extLst xmlns:a="http://schemas.openxmlformats.org/drawingml/2006/main">
              <a:ext uri="{FF2B5EF4-FFF2-40B4-BE49-F238E27FC236}">
                <a16:creationId xmlns:a16="http://schemas.microsoft.com/office/drawing/2014/main" id="{881073A1-C6F9-4A03-A6CE-261DAADA10F7}"/>
              </a:ext>
            </a:extLst>
          </p:cNvPr>
          <p:cNvGraphicFramePr/>
          <p:nvPr/>
        </p:nvGraphicFramePr>
        <p:xfrm>
          <a:off xmlns:a="http://schemas.openxmlformats.org/drawingml/2006/main" x="666750" y="1571625"/>
          <a:ext xmlns:a="http://schemas.openxmlformats.org/drawingml/2006/main" cx="10572750" cy="4000500"/>
        </p:xfrm>
        <a:graphic xmlns:a="http://schemas.openxmlformats.org/drawingml/2006/main">
          <a:graphicData uri="http://schemas.openxmlformats.org/drawingml/2006/chart">
            <c:chart xmlns:r="http://schemas.openxmlformats.org/officeDocument/2006/relationships" xmlns:c="http://schemas.openxmlformats.org/drawingml/2006/chart" r:id="R4d7ce68ae3a94a35"/>
          </a:graphicData>
        </a:graphic>
      </p:graphicFrame>
    </p:spTree>
    <p:extLst>
      <p:ext uri="{BB962C8B-B14F-4D97-AF65-F5344CB8AC3E}">
        <p14:creationId xmlns:p14="http://schemas.microsoft.com/office/powerpoint/2010/main" val="466480049"/>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4E9701-6ACD-4DEC-80E2-9BA89D01E727}"/>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E50407D0-AAB9-4AD3-BCA6-FA0068857015}"/>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Stability across calendar periods</a:t>
            </a:r>
          </a:p>
        </p:txBody>
      </p:sp>
      <p:sp>
        <p:nvSpPr>
          <p:cNvPr id="3" name="">
            <a:extLst xmlns:a="http://schemas.openxmlformats.org/drawingml/2006/main">
              <a:ext uri="{FF2B5EF4-FFF2-40B4-BE49-F238E27FC236}">
                <a16:creationId xmlns:a16="http://schemas.microsoft.com/office/drawing/2014/main" id="{664667DB-975B-48E0-9568-CB48A4A4EA76}"/>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13</a:t>
            </a:r>
          </a:p>
        </p:txBody>
      </p:sp>
      <p:sp>
        <p:nvSpPr>
          <p:cNvPr id="4" name="">
            <a:extLst xmlns:a="http://schemas.openxmlformats.org/drawingml/2006/main">
              <a:ext uri="{FF2B5EF4-FFF2-40B4-BE49-F238E27FC236}">
                <a16:creationId xmlns:a16="http://schemas.microsoft.com/office/drawing/2014/main" id="{B89C8FAC-F573-4978-B2F7-3E1011C08B35}"/>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graphicFrame>
        <p:nvGraphicFramePr>
          <p:cNvPr id="5" name="Chart">
            <a:extLst xmlns:a="http://schemas.openxmlformats.org/drawingml/2006/main">
              <a:ext uri="{FF2B5EF4-FFF2-40B4-BE49-F238E27FC236}">
                <a16:creationId xmlns:a16="http://schemas.microsoft.com/office/drawing/2014/main" id="{264D785F-620F-42EB-91EE-7D4212D35042}"/>
              </a:ext>
            </a:extLst>
          </p:cNvPr>
          <p:cNvGraphicFramePr/>
          <p:nvPr/>
        </p:nvGraphicFramePr>
        <p:xfrm>
          <a:off xmlns:a="http://schemas.openxmlformats.org/drawingml/2006/main" x="666750" y="1666875"/>
          <a:ext xmlns:a="http://schemas.openxmlformats.org/drawingml/2006/main" cx="10572750" cy="3476625"/>
        </p:xfrm>
        <a:graphic xmlns:a="http://schemas.openxmlformats.org/drawingml/2006/main">
          <a:graphicData uri="http://schemas.openxmlformats.org/drawingml/2006/chart">
            <c:chart xmlns:r="http://schemas.openxmlformats.org/officeDocument/2006/relationships" xmlns:c="http://schemas.openxmlformats.org/drawingml/2006/chart" r:id="R6ca6d251da6845e2"/>
          </a:graphicData>
        </a:graphic>
      </p:graphicFrame>
      <p:sp>
        <p:nvSpPr>
          <p:cNvPr id="6" name="">
            <a:extLst xmlns:a="http://schemas.openxmlformats.org/drawingml/2006/main">
              <a:ext uri="{FF2B5EF4-FFF2-40B4-BE49-F238E27FC236}">
                <a16:creationId xmlns:a16="http://schemas.microsoft.com/office/drawing/2014/main" id="{A75D6A39-E3CF-422E-9F9A-8C83CB8B862B}"/>
              </a:ext>
            </a:extLst>
          </p:cNvPr>
          <p:cNvSpPr>
            <a:spLocks xmlns:a="http://schemas.openxmlformats.org/drawingml/2006/main" noGrp="1"/>
          </p:cNvSpPr>
          <p:nvPr/>
        </p:nvSpPr>
        <p:spPr>
          <a:xfrm xmlns:a="http://schemas.openxmlformats.org/drawingml/2006/main">
            <a:off x="3190875" y="5286375"/>
            <a:ext cx="209550" cy="38100"/>
          </a:xfrm>
          <a:prstGeom xmlns:a="http://schemas.openxmlformats.org/drawingml/2006/main" prst="rect">
            <a:avLst/>
          </a:prstGeom>
          <a:solidFill xmlns:a="http://schemas.openxmlformats.org/drawingml/2006/main">
            <a:srgbClr val="7A808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62D6207-F6E5-4137-A017-0602A0F46901}"/>
              </a:ext>
            </a:extLst>
          </p:cNvPr>
          <p:cNvSpPr>
            <a:spLocks xmlns:a="http://schemas.openxmlformats.org/drawingml/2006/main" noGrp="1"/>
          </p:cNvSpPr>
          <p:nvPr/>
        </p:nvSpPr>
        <p:spPr>
          <a:xfrm xmlns:a="http://schemas.openxmlformats.org/drawingml/2006/main">
            <a:off x="347662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LR</a:t>
            </a:r>
          </a:p>
        </p:txBody>
      </p:sp>
      <p:sp>
        <p:nvSpPr>
          <p:cNvPr id="8" name="">
            <a:extLst xmlns:a="http://schemas.openxmlformats.org/drawingml/2006/main">
              <a:ext uri="{FF2B5EF4-FFF2-40B4-BE49-F238E27FC236}">
                <a16:creationId xmlns:a16="http://schemas.microsoft.com/office/drawing/2014/main" id="{A54446BB-D95F-4C8B-81FF-641B0346FD20}"/>
              </a:ext>
            </a:extLst>
          </p:cNvPr>
          <p:cNvSpPr>
            <a:spLocks xmlns:a="http://schemas.openxmlformats.org/drawingml/2006/main" noGrp="1"/>
          </p:cNvSpPr>
          <p:nvPr/>
        </p:nvSpPr>
        <p:spPr>
          <a:xfrm xmlns:a="http://schemas.openxmlformats.org/drawingml/2006/main">
            <a:off x="4572000" y="5286375"/>
            <a:ext cx="209550" cy="38100"/>
          </a:xfrm>
          <a:prstGeom xmlns:a="http://schemas.openxmlformats.org/drawingml/2006/main" prst="rect">
            <a:avLst/>
          </a:prstGeom>
          <a:solidFill xmlns:a="http://schemas.openxmlformats.org/drawingml/2006/main">
            <a:srgbClr val="1C55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9CB44E-47D5-4CDD-8495-A1EBEAD2FD2F}"/>
              </a:ext>
            </a:extLst>
          </p:cNvPr>
          <p:cNvSpPr>
            <a:spLocks xmlns:a="http://schemas.openxmlformats.org/drawingml/2006/main" noGrp="1"/>
          </p:cNvSpPr>
          <p:nvPr/>
        </p:nvSpPr>
        <p:spPr>
          <a:xfrm xmlns:a="http://schemas.openxmlformats.org/drawingml/2006/main">
            <a:off x="485775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RF</a:t>
            </a:r>
          </a:p>
        </p:txBody>
      </p:sp>
      <p:sp>
        <p:nvSpPr>
          <p:cNvPr id="10" name="">
            <a:extLst xmlns:a="http://schemas.openxmlformats.org/drawingml/2006/main">
              <a:ext uri="{FF2B5EF4-FFF2-40B4-BE49-F238E27FC236}">
                <a16:creationId xmlns:a16="http://schemas.microsoft.com/office/drawing/2014/main" id="{EF7EE611-A08A-4521-976C-7B4272BCDDB2}"/>
              </a:ext>
            </a:extLst>
          </p:cNvPr>
          <p:cNvSpPr>
            <a:spLocks xmlns:a="http://schemas.openxmlformats.org/drawingml/2006/main" noGrp="1"/>
          </p:cNvSpPr>
          <p:nvPr/>
        </p:nvSpPr>
        <p:spPr>
          <a:xfrm xmlns:a="http://schemas.openxmlformats.org/drawingml/2006/main">
            <a:off x="5953125" y="5286375"/>
            <a:ext cx="209550" cy="38100"/>
          </a:xfrm>
          <a:prstGeom xmlns:a="http://schemas.openxmlformats.org/drawingml/2006/main" prst="rect">
            <a:avLst/>
          </a:prstGeom>
          <a:solidFill xmlns:a="http://schemas.openxmlformats.org/drawingml/2006/main">
            <a:srgbClr val="BD773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51A8F6-5D43-4C85-9CF2-78FE3783A9C5}"/>
              </a:ext>
            </a:extLst>
          </p:cNvPr>
          <p:cNvSpPr>
            <a:spLocks xmlns:a="http://schemas.openxmlformats.org/drawingml/2006/main" noGrp="1"/>
          </p:cNvSpPr>
          <p:nvPr/>
        </p:nvSpPr>
        <p:spPr>
          <a:xfrm xmlns:a="http://schemas.openxmlformats.org/drawingml/2006/main">
            <a:off x="6238875"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XGB</a:t>
            </a:r>
          </a:p>
        </p:txBody>
      </p:sp>
      <p:sp>
        <p:nvSpPr>
          <p:cNvPr id="12" name="">
            <a:extLst xmlns:a="http://schemas.openxmlformats.org/drawingml/2006/main">
              <a:ext uri="{FF2B5EF4-FFF2-40B4-BE49-F238E27FC236}">
                <a16:creationId xmlns:a16="http://schemas.microsoft.com/office/drawing/2014/main" id="{F51EC070-6EA3-4FEE-8929-4F4E247AD245}"/>
              </a:ext>
            </a:extLst>
          </p:cNvPr>
          <p:cNvSpPr>
            <a:spLocks xmlns:a="http://schemas.openxmlformats.org/drawingml/2006/main" noGrp="1"/>
          </p:cNvSpPr>
          <p:nvPr/>
        </p:nvSpPr>
        <p:spPr>
          <a:xfrm xmlns:a="http://schemas.openxmlformats.org/drawingml/2006/main">
            <a:off x="7334250" y="5286375"/>
            <a:ext cx="209550" cy="38100"/>
          </a:xfrm>
          <a:prstGeom xmlns:a="http://schemas.openxmlformats.org/drawingml/2006/main" prst="rect">
            <a:avLst/>
          </a:prstGeom>
          <a:solidFill xmlns:a="http://schemas.openxmlformats.org/drawingml/2006/main">
            <a:srgbClr val="28776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691D10-7411-4ECA-9B05-41DD15FCB92E}"/>
              </a:ext>
            </a:extLst>
          </p:cNvPr>
          <p:cNvSpPr>
            <a:spLocks xmlns:a="http://schemas.openxmlformats.org/drawingml/2006/main" noGrp="1"/>
          </p:cNvSpPr>
          <p:nvPr/>
        </p:nvSpPr>
        <p:spPr>
          <a:xfrm xmlns:a="http://schemas.openxmlformats.org/drawingml/2006/main">
            <a:off x="7620000" y="5191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93047"/>
                </a:solidFill>
                <a:latin typeface="Times New Roman"/>
                <a:ea typeface="Times New Roman"/>
                <a:cs typeface="Times New Roman"/>
              </a:defRPr>
            </a:defPPr>
            <a:lvl1pPr>
              <a:defRPr sz="1350" b="0">
                <a:solidFill>
                  <a:srgbClr val="193047"/>
                </a:solidFill>
                <a:latin typeface="Times New Roman"/>
                <a:ea typeface="Times New Roman"/>
                <a:cs typeface="Times New Roman"/>
              </a:defRPr>
            </a:lvl1pPr>
            <a:lvl2pPr>
              <a:defRPr sz="1350" b="0">
                <a:solidFill>
                  <a:srgbClr val="193047"/>
                </a:solidFill>
                <a:latin typeface="Times New Roman"/>
                <a:ea typeface="Times New Roman"/>
                <a:cs typeface="Times New Roman"/>
              </a:defRPr>
            </a:lvl2pPr>
            <a:lvl3pPr>
              <a:defRPr sz="1350" b="0">
                <a:solidFill>
                  <a:srgbClr val="193047"/>
                </a:solidFill>
                <a:latin typeface="Times New Roman"/>
                <a:ea typeface="Times New Roman"/>
                <a:cs typeface="Times New Roman"/>
              </a:defRPr>
            </a:lvl3pPr>
            <a:lvl4pPr>
              <a:defRPr sz="1350" b="0">
                <a:solidFill>
                  <a:srgbClr val="193047"/>
                </a:solidFill>
                <a:latin typeface="Times New Roman"/>
                <a:ea typeface="Times New Roman"/>
                <a:cs typeface="Times New Roman"/>
              </a:defRPr>
            </a:lvl4pPr>
            <a:lvl5pPr>
              <a:defRPr sz="1350" b="0">
                <a:solidFill>
                  <a:srgbClr val="193047"/>
                </a:solidFill>
                <a:latin typeface="Times New Roman"/>
                <a:ea typeface="Times New Roman"/>
                <a:cs typeface="Times New Roman"/>
              </a:defRPr>
            </a:lvl5pPr>
            <a:lvl6pPr>
              <a:defRPr sz="1350" b="0">
                <a:solidFill>
                  <a:srgbClr val="193047"/>
                </a:solidFill>
                <a:latin typeface="Times New Roman"/>
                <a:ea typeface="Times New Roman"/>
                <a:cs typeface="Times New Roman"/>
              </a:defRPr>
            </a:lvl6pPr>
            <a:lvl7pPr>
              <a:defRPr sz="1350" b="0">
                <a:solidFill>
                  <a:srgbClr val="193047"/>
                </a:solidFill>
                <a:latin typeface="Times New Roman"/>
                <a:ea typeface="Times New Roman"/>
                <a:cs typeface="Times New Roman"/>
              </a:defRPr>
            </a:lvl7pPr>
            <a:lvl8pPr>
              <a:defRPr sz="1350" b="0">
                <a:solidFill>
                  <a:srgbClr val="193047"/>
                </a:solidFill>
                <a:latin typeface="Times New Roman"/>
                <a:ea typeface="Times New Roman"/>
                <a:cs typeface="Times New Roman"/>
              </a:defRPr>
            </a:lvl8pPr>
            <a:lvl9pPr>
              <a:defRPr sz="1350" b="0">
                <a:solidFill>
                  <a:srgbClr val="193047"/>
                </a:solidFill>
                <a:latin typeface="Times New Roman"/>
                <a:ea typeface="Times New Roman"/>
                <a:cs typeface="Times New Roman"/>
              </a:defRPr>
            </a:lvl9pPr>
          </a:lstStyle>
          <a:p xmlns:a="http://schemas.openxmlformats.org/drawingml/2006/main">
            <a:pPr>
              <a:defRPr sz="1350" b="0">
                <a:solidFill>
                  <a:srgbClr val="193047"/>
                </a:solidFill>
                <a:latin typeface="Times New Roman"/>
                <a:ea typeface="Times New Roman"/>
                <a:cs typeface="Times New Roman"/>
              </a:defRPr>
            </a:pPr>
            <a:r>
              <a:rPr sz="1350" b="0">
                <a:solidFill>
                  <a:srgbClr val="193047"/>
                </a:solidFill>
                <a:latin typeface="Times New Roman"/>
                <a:ea typeface="Times New Roman"/>
                <a:cs typeface="Times New Roman"/>
              </a:rPr>
              <a:t>LGBM</a:t>
            </a:r>
          </a:p>
        </p:txBody>
      </p:sp>
      <p:sp>
        <p:nvSpPr>
          <p:cNvPr id="14" name="">
            <a:extLst xmlns:a="http://schemas.openxmlformats.org/drawingml/2006/main">
              <a:ext uri="{FF2B5EF4-FFF2-40B4-BE49-F238E27FC236}">
                <a16:creationId xmlns:a16="http://schemas.microsoft.com/office/drawing/2014/main" id="{F127973C-8CB2-4214-A587-FFC0F905A18A}"/>
              </a:ext>
            </a:extLst>
          </p:cNvPr>
          <p:cNvSpPr>
            <a:spLocks xmlns:a="http://schemas.openxmlformats.org/drawingml/2006/main" noGrp="1"/>
          </p:cNvSpPr>
          <p:nvPr/>
        </p:nvSpPr>
        <p:spPr>
          <a:xfrm xmlns:a="http://schemas.openxmlformats.org/drawingml/2006/main">
            <a:off x="714375" y="561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047"/>
                </a:solidFill>
                <a:latin typeface="Times New Roman"/>
                <a:ea typeface="Times New Roman"/>
                <a:cs typeface="Times New Roman"/>
              </a:defRPr>
            </a:defPPr>
            <a:lvl1pPr>
              <a:defRPr sz="1875" b="0">
                <a:solidFill>
                  <a:srgbClr val="193047"/>
                </a:solidFill>
                <a:latin typeface="Times New Roman"/>
                <a:ea typeface="Times New Roman"/>
                <a:cs typeface="Times New Roman"/>
              </a:defRPr>
            </a:lvl1pPr>
            <a:lvl2pPr>
              <a:defRPr sz="1875" b="0">
                <a:solidFill>
                  <a:srgbClr val="193047"/>
                </a:solidFill>
                <a:latin typeface="Times New Roman"/>
                <a:ea typeface="Times New Roman"/>
                <a:cs typeface="Times New Roman"/>
              </a:defRPr>
            </a:lvl2pPr>
            <a:lvl3pPr>
              <a:defRPr sz="1875" b="0">
                <a:solidFill>
                  <a:srgbClr val="193047"/>
                </a:solidFill>
                <a:latin typeface="Times New Roman"/>
                <a:ea typeface="Times New Roman"/>
                <a:cs typeface="Times New Roman"/>
              </a:defRPr>
            </a:lvl3pPr>
            <a:lvl4pPr>
              <a:defRPr sz="1875" b="0">
                <a:solidFill>
                  <a:srgbClr val="193047"/>
                </a:solidFill>
                <a:latin typeface="Times New Roman"/>
                <a:ea typeface="Times New Roman"/>
                <a:cs typeface="Times New Roman"/>
              </a:defRPr>
            </a:lvl4pPr>
            <a:lvl5pPr>
              <a:defRPr sz="1875" b="0">
                <a:solidFill>
                  <a:srgbClr val="193047"/>
                </a:solidFill>
                <a:latin typeface="Times New Roman"/>
                <a:ea typeface="Times New Roman"/>
                <a:cs typeface="Times New Roman"/>
              </a:defRPr>
            </a:lvl5pPr>
            <a:lvl6pPr>
              <a:defRPr sz="1875" b="0">
                <a:solidFill>
                  <a:srgbClr val="193047"/>
                </a:solidFill>
                <a:latin typeface="Times New Roman"/>
                <a:ea typeface="Times New Roman"/>
                <a:cs typeface="Times New Roman"/>
              </a:defRPr>
            </a:lvl6pPr>
            <a:lvl7pPr>
              <a:defRPr sz="1875" b="0">
                <a:solidFill>
                  <a:srgbClr val="193047"/>
                </a:solidFill>
                <a:latin typeface="Times New Roman"/>
                <a:ea typeface="Times New Roman"/>
                <a:cs typeface="Times New Roman"/>
              </a:defRPr>
            </a:lvl7pPr>
            <a:lvl8pPr>
              <a:defRPr sz="1875" b="0">
                <a:solidFill>
                  <a:srgbClr val="193047"/>
                </a:solidFill>
                <a:latin typeface="Times New Roman"/>
                <a:ea typeface="Times New Roman"/>
                <a:cs typeface="Times New Roman"/>
              </a:defRPr>
            </a:lvl8pPr>
            <a:lvl9pPr>
              <a:defRPr sz="1875" b="0">
                <a:solidFill>
                  <a:srgbClr val="193047"/>
                </a:solidFill>
                <a:latin typeface="Times New Roman"/>
                <a:ea typeface="Times New Roman"/>
                <a:cs typeface="Times New Roman"/>
              </a:defRPr>
            </a:lvl9pPr>
          </a:lstStyle>
          <a:p xmlns:a="http://schemas.openxmlformats.org/drawingml/2006/main">
            <a:pPr>
              <a:defRPr sz="1875" b="0">
                <a:solidFill>
                  <a:srgbClr val="193047"/>
                </a:solidFill>
                <a:latin typeface="Times New Roman"/>
                <a:ea typeface="Times New Roman"/>
                <a:cs typeface="Times New Roman"/>
              </a:defRPr>
            </a:pPr>
            <a:r>
              <a:rPr sz="1875" b="0">
                <a:solidFill>
                  <a:srgbClr val="193047"/>
                </a:solidFill>
                <a:latin typeface="Times New Roman"/>
                <a:ea typeface="Times New Roman"/>
                <a:cs typeface="Times New Roman"/>
              </a:rPr>
              <a:t>Performance is uneven across time, so full-window returns are insufficient.</a:t>
            </a:r>
          </a:p>
        </p:txBody>
      </p:sp>
    </p:spTree>
    <p:extLst>
      <p:ext uri="{BB962C8B-B14F-4D97-AF65-F5344CB8AC3E}">
        <p14:creationId xmlns:p14="http://schemas.microsoft.com/office/powerpoint/2010/main" val="2104138801"/>
      </p:ext>
    </p:extLst>
  </p:cSld>
</p:sld>
</file>

<file path=ppt/slides/slide1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4281FA-107D-4987-970B-3757126628B9}"/>
              </a:ext>
            </a:extLst>
          </p:cNvPr>
          <p:cNvSpPr>
            <a:spLocks xmlns:a="http://schemas.openxmlformats.org/drawingml/2006/main" noGrp="1"/>
          </p:cNvSpPr>
          <p:nvPr/>
        </p:nvSpPr>
        <p:spPr>
          <a:xfrm xmlns:a="http://schemas.openxmlformats.org/drawingml/2006/main">
            <a:off x="609600" y="2571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28776B"/>
                </a:solidFill>
                <a:latin typeface="Times New Roman"/>
                <a:ea typeface="Times New Roman"/>
                <a:cs typeface="Times New Roman"/>
              </a:defRPr>
            </a:defPPr>
            <a:lvl1pPr>
              <a:defRPr sz="1125" b="1">
                <a:solidFill>
                  <a:srgbClr val="28776B"/>
                </a:solidFill>
                <a:latin typeface="Times New Roman"/>
                <a:ea typeface="Times New Roman"/>
                <a:cs typeface="Times New Roman"/>
              </a:defRPr>
            </a:lvl1pPr>
            <a:lvl2pPr>
              <a:defRPr sz="1125" b="1">
                <a:solidFill>
                  <a:srgbClr val="28776B"/>
                </a:solidFill>
                <a:latin typeface="Times New Roman"/>
                <a:ea typeface="Times New Roman"/>
                <a:cs typeface="Times New Roman"/>
              </a:defRPr>
            </a:lvl2pPr>
            <a:lvl3pPr>
              <a:defRPr sz="1125" b="1">
                <a:solidFill>
                  <a:srgbClr val="28776B"/>
                </a:solidFill>
                <a:latin typeface="Times New Roman"/>
                <a:ea typeface="Times New Roman"/>
                <a:cs typeface="Times New Roman"/>
              </a:defRPr>
            </a:lvl3pPr>
            <a:lvl4pPr>
              <a:defRPr sz="1125" b="1">
                <a:solidFill>
                  <a:srgbClr val="28776B"/>
                </a:solidFill>
                <a:latin typeface="Times New Roman"/>
                <a:ea typeface="Times New Roman"/>
                <a:cs typeface="Times New Roman"/>
              </a:defRPr>
            </a:lvl4pPr>
            <a:lvl5pPr>
              <a:defRPr sz="1125" b="1">
                <a:solidFill>
                  <a:srgbClr val="28776B"/>
                </a:solidFill>
                <a:latin typeface="Times New Roman"/>
                <a:ea typeface="Times New Roman"/>
                <a:cs typeface="Times New Roman"/>
              </a:defRPr>
            </a:lvl5pPr>
            <a:lvl6pPr>
              <a:defRPr sz="1125" b="1">
                <a:solidFill>
                  <a:srgbClr val="28776B"/>
                </a:solidFill>
                <a:latin typeface="Times New Roman"/>
                <a:ea typeface="Times New Roman"/>
                <a:cs typeface="Times New Roman"/>
              </a:defRPr>
            </a:lvl6pPr>
            <a:lvl7pPr>
              <a:defRPr sz="1125" b="1">
                <a:solidFill>
                  <a:srgbClr val="28776B"/>
                </a:solidFill>
                <a:latin typeface="Times New Roman"/>
                <a:ea typeface="Times New Roman"/>
                <a:cs typeface="Times New Roman"/>
              </a:defRPr>
            </a:lvl7pPr>
            <a:lvl8pPr>
              <a:defRPr sz="1125" b="1">
                <a:solidFill>
                  <a:srgbClr val="28776B"/>
                </a:solidFill>
                <a:latin typeface="Times New Roman"/>
                <a:ea typeface="Times New Roman"/>
                <a:cs typeface="Times New Roman"/>
              </a:defRPr>
            </a:lvl8pPr>
            <a:lvl9pPr>
              <a:defRPr sz="1125" b="1">
                <a:solidFill>
                  <a:srgbClr val="28776B"/>
                </a:solidFill>
                <a:latin typeface="Times New Roman"/>
                <a:ea typeface="Times New Roman"/>
                <a:cs typeface="Times New Roman"/>
              </a:defRPr>
            </a:lvl9pPr>
          </a:lstStyle>
          <a:p xmlns:a="http://schemas.openxmlformats.org/drawingml/2006/main">
            <a:pPr>
              <a:defRPr sz="1125" b="1">
                <a:solidFill>
                  <a:srgbClr val="28776B"/>
                </a:solidFill>
                <a:latin typeface="Times New Roman"/>
                <a:ea typeface="Times New Roman"/>
                <a:cs typeface="Times New Roman"/>
              </a:defRPr>
            </a:pPr>
            <a:r>
              <a:rPr sz="1125" b="1">
                <a:solidFill>
                  <a:srgbClr val="28776B"/>
                </a:solidFill>
                <a:latin typeface="Times New Roman"/>
                <a:ea typeface="Times New Roman"/>
                <a:cs typeface="Times New Roman"/>
              </a:rPr>
              <a:t>MH6805  /  GROUP 12</a:t>
            </a:r>
          </a:p>
        </p:txBody>
      </p:sp>
      <p:sp>
        <p:nvSpPr>
          <p:cNvPr id="2" name="">
            <a:extLst xmlns:a="http://schemas.openxmlformats.org/drawingml/2006/main">
              <a:ext uri="{FF2B5EF4-FFF2-40B4-BE49-F238E27FC236}">
                <a16:creationId xmlns:a16="http://schemas.microsoft.com/office/drawing/2014/main" id="{D6949389-4553-40E2-9629-9D71B484ECFD}"/>
              </a:ext>
            </a:extLst>
          </p:cNvPr>
          <p:cNvSpPr>
            <a:spLocks xmlns:a="http://schemas.openxmlformats.org/drawingml/2006/main" noGrp="1"/>
          </p:cNvSpPr>
          <p:nvPr/>
        </p:nvSpPr>
        <p:spPr>
          <a:xfrm xmlns:a="http://schemas.openxmlformats.org/drawingml/2006/main">
            <a:off x="609600" y="666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3047"/>
                </a:solidFill>
                <a:latin typeface="Times New Roman"/>
                <a:ea typeface="Times New Roman"/>
                <a:cs typeface="Times New Roman"/>
              </a:defRPr>
            </a:defPPr>
            <a:lvl1pPr>
              <a:defRPr sz="2700" b="1">
                <a:solidFill>
                  <a:srgbClr val="193047"/>
                </a:solidFill>
                <a:latin typeface="Times New Roman"/>
                <a:ea typeface="Times New Roman"/>
                <a:cs typeface="Times New Roman"/>
              </a:defRPr>
            </a:lvl1pPr>
            <a:lvl2pPr>
              <a:defRPr sz="2700" b="1">
                <a:solidFill>
                  <a:srgbClr val="193047"/>
                </a:solidFill>
                <a:latin typeface="Times New Roman"/>
                <a:ea typeface="Times New Roman"/>
                <a:cs typeface="Times New Roman"/>
              </a:defRPr>
            </a:lvl2pPr>
            <a:lvl3pPr>
              <a:defRPr sz="2700" b="1">
                <a:solidFill>
                  <a:srgbClr val="193047"/>
                </a:solidFill>
                <a:latin typeface="Times New Roman"/>
                <a:ea typeface="Times New Roman"/>
                <a:cs typeface="Times New Roman"/>
              </a:defRPr>
            </a:lvl3pPr>
            <a:lvl4pPr>
              <a:defRPr sz="2700" b="1">
                <a:solidFill>
                  <a:srgbClr val="193047"/>
                </a:solidFill>
                <a:latin typeface="Times New Roman"/>
                <a:ea typeface="Times New Roman"/>
                <a:cs typeface="Times New Roman"/>
              </a:defRPr>
            </a:lvl4pPr>
            <a:lvl5pPr>
              <a:defRPr sz="2700" b="1">
                <a:solidFill>
                  <a:srgbClr val="193047"/>
                </a:solidFill>
                <a:latin typeface="Times New Roman"/>
                <a:ea typeface="Times New Roman"/>
                <a:cs typeface="Times New Roman"/>
              </a:defRPr>
            </a:lvl5pPr>
            <a:lvl6pPr>
              <a:defRPr sz="2700" b="1">
                <a:solidFill>
                  <a:srgbClr val="193047"/>
                </a:solidFill>
                <a:latin typeface="Times New Roman"/>
                <a:ea typeface="Times New Roman"/>
                <a:cs typeface="Times New Roman"/>
              </a:defRPr>
            </a:lvl6pPr>
            <a:lvl7pPr>
              <a:defRPr sz="2700" b="1">
                <a:solidFill>
                  <a:srgbClr val="193047"/>
                </a:solidFill>
                <a:latin typeface="Times New Roman"/>
                <a:ea typeface="Times New Roman"/>
                <a:cs typeface="Times New Roman"/>
              </a:defRPr>
            </a:lvl7pPr>
            <a:lvl8pPr>
              <a:defRPr sz="2700" b="1">
                <a:solidFill>
                  <a:srgbClr val="193047"/>
                </a:solidFill>
                <a:latin typeface="Times New Roman"/>
                <a:ea typeface="Times New Roman"/>
                <a:cs typeface="Times New Roman"/>
              </a:defRPr>
            </a:lvl8pPr>
            <a:lvl9pPr>
              <a:defRPr sz="2700" b="1">
                <a:solidFill>
                  <a:srgbClr val="193047"/>
                </a:solidFill>
                <a:latin typeface="Times New Roman"/>
                <a:ea typeface="Times New Roman"/>
                <a:cs typeface="Times New Roman"/>
              </a:defRPr>
            </a:lvl9pPr>
          </a:lstStyle>
          <a:p xmlns:a="http://schemas.openxmlformats.org/drawingml/2006/main">
            <a:pPr>
              <a:defRPr sz="2700" b="1">
                <a:solidFill>
                  <a:srgbClr val="193047"/>
                </a:solidFill>
                <a:latin typeface="Times New Roman"/>
                <a:ea typeface="Times New Roman"/>
                <a:cs typeface="Times New Roman"/>
              </a:defRPr>
            </a:pPr>
            <a:r>
              <a:rPr sz="2700" b="1">
                <a:solidFill>
                  <a:srgbClr val="193047"/>
                </a:solidFill>
                <a:latin typeface="Times New Roman"/>
                <a:ea typeface="Times New Roman"/>
                <a:cs typeface="Times New Roman"/>
              </a:rPr>
              <a:t>Conclusions and remaining limitations</a:t>
            </a:r>
          </a:p>
        </p:txBody>
      </p:sp>
      <p:sp>
        <p:nvSpPr>
          <p:cNvPr id="3" name="">
            <a:extLst xmlns:a="http://schemas.openxmlformats.org/drawingml/2006/main">
              <a:ext uri="{FF2B5EF4-FFF2-40B4-BE49-F238E27FC236}">
                <a16:creationId xmlns:a16="http://schemas.microsoft.com/office/drawing/2014/main" id="{A32E2B24-6975-4564-B9AB-9915115B5990}"/>
              </a:ext>
            </a:extLst>
          </p:cNvPr>
          <p:cNvSpPr>
            <a:spLocks xmlns:a="http://schemas.openxmlformats.org/drawingml/2006/main" noGrp="1"/>
          </p:cNvSpPr>
          <p:nvPr/>
        </p:nvSpPr>
        <p:spPr>
          <a:xfrm xmlns:a="http://schemas.openxmlformats.org/drawingml/2006/main">
            <a:off x="11049000" y="63150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93047"/>
                </a:solidFill>
                <a:latin typeface="Times New Roman"/>
                <a:ea typeface="Times New Roman"/>
                <a:cs typeface="Times New Roman"/>
              </a:defRPr>
            </a:defPPr>
            <a:lvl1pPr>
              <a:defRPr sz="1200" b="0">
                <a:solidFill>
                  <a:srgbClr val="193047"/>
                </a:solidFill>
                <a:latin typeface="Times New Roman"/>
                <a:ea typeface="Times New Roman"/>
                <a:cs typeface="Times New Roman"/>
              </a:defRPr>
            </a:lvl1pPr>
            <a:lvl2pPr>
              <a:defRPr sz="1200" b="0">
                <a:solidFill>
                  <a:srgbClr val="193047"/>
                </a:solidFill>
                <a:latin typeface="Times New Roman"/>
                <a:ea typeface="Times New Roman"/>
                <a:cs typeface="Times New Roman"/>
              </a:defRPr>
            </a:lvl2pPr>
            <a:lvl3pPr>
              <a:defRPr sz="1200" b="0">
                <a:solidFill>
                  <a:srgbClr val="193047"/>
                </a:solidFill>
                <a:latin typeface="Times New Roman"/>
                <a:ea typeface="Times New Roman"/>
                <a:cs typeface="Times New Roman"/>
              </a:defRPr>
            </a:lvl3pPr>
            <a:lvl4pPr>
              <a:defRPr sz="1200" b="0">
                <a:solidFill>
                  <a:srgbClr val="193047"/>
                </a:solidFill>
                <a:latin typeface="Times New Roman"/>
                <a:ea typeface="Times New Roman"/>
                <a:cs typeface="Times New Roman"/>
              </a:defRPr>
            </a:lvl4pPr>
            <a:lvl5pPr>
              <a:defRPr sz="1200" b="0">
                <a:solidFill>
                  <a:srgbClr val="193047"/>
                </a:solidFill>
                <a:latin typeface="Times New Roman"/>
                <a:ea typeface="Times New Roman"/>
                <a:cs typeface="Times New Roman"/>
              </a:defRPr>
            </a:lvl5pPr>
            <a:lvl6pPr>
              <a:defRPr sz="1200" b="0">
                <a:solidFill>
                  <a:srgbClr val="193047"/>
                </a:solidFill>
                <a:latin typeface="Times New Roman"/>
                <a:ea typeface="Times New Roman"/>
                <a:cs typeface="Times New Roman"/>
              </a:defRPr>
            </a:lvl6pPr>
            <a:lvl7pPr>
              <a:defRPr sz="1200" b="0">
                <a:solidFill>
                  <a:srgbClr val="193047"/>
                </a:solidFill>
                <a:latin typeface="Times New Roman"/>
                <a:ea typeface="Times New Roman"/>
                <a:cs typeface="Times New Roman"/>
              </a:defRPr>
            </a:lvl7pPr>
            <a:lvl8pPr>
              <a:defRPr sz="1200" b="0">
                <a:solidFill>
                  <a:srgbClr val="193047"/>
                </a:solidFill>
                <a:latin typeface="Times New Roman"/>
                <a:ea typeface="Times New Roman"/>
                <a:cs typeface="Times New Roman"/>
              </a:defRPr>
            </a:lvl8pPr>
            <a:lvl9pPr>
              <a:defRPr sz="1200" b="0">
                <a:solidFill>
                  <a:srgbClr val="193047"/>
                </a:solidFill>
                <a:latin typeface="Times New Roman"/>
                <a:ea typeface="Times New Roman"/>
                <a:cs typeface="Times New Roman"/>
              </a:defRPr>
            </a:lvl9pPr>
          </a:lstStyle>
          <a:p xmlns:a="http://schemas.openxmlformats.org/drawingml/2006/main">
            <a:pPr>
              <a:defRPr sz="1200" b="0">
                <a:solidFill>
                  <a:srgbClr val="193047"/>
                </a:solidFill>
                <a:latin typeface="Times New Roman"/>
                <a:ea typeface="Times New Roman"/>
                <a:cs typeface="Times New Roman"/>
              </a:defRPr>
            </a:pPr>
            <a:r>
              <a:rPr sz="1200" b="0">
                <a:solidFill>
                  <a:srgbClr val="193047"/>
                </a:solidFill>
                <a:latin typeface="Times New Roman"/>
                <a:ea typeface="Times New Roman"/>
                <a:cs typeface="Times New Roman"/>
              </a:rPr>
              <a:t>14</a:t>
            </a:r>
          </a:p>
        </p:txBody>
      </p:sp>
      <p:sp>
        <p:nvSpPr>
          <p:cNvPr id="4" name="">
            <a:extLst xmlns:a="http://schemas.openxmlformats.org/drawingml/2006/main">
              <a:ext uri="{FF2B5EF4-FFF2-40B4-BE49-F238E27FC236}">
                <a16:creationId xmlns:a16="http://schemas.microsoft.com/office/drawing/2014/main" id="{2697FF4C-864A-4B33-9829-86DCFB3D826C}"/>
              </a:ext>
            </a:extLst>
          </p:cNvPr>
          <p:cNvSpPr>
            <a:spLocks xmlns:a="http://schemas.openxmlformats.org/drawingml/2006/main" noGrp="1"/>
          </p:cNvSpPr>
          <p:nvPr/>
        </p:nvSpPr>
        <p:spPr>
          <a:xfrm xmlns:a="http://schemas.openxmlformats.org/drawingml/2006/main">
            <a:off x="609600" y="6381750"/>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777777"/>
                </a:solidFill>
                <a:latin typeface="Times New Roman"/>
                <a:ea typeface="Times New Roman"/>
                <a:cs typeface="Times New Roman"/>
              </a:defRPr>
            </a:defPPr>
            <a:lvl1pPr>
              <a:defRPr sz="975" b="0">
                <a:solidFill>
                  <a:srgbClr val="777777"/>
                </a:solidFill>
                <a:latin typeface="Times New Roman"/>
                <a:ea typeface="Times New Roman"/>
                <a:cs typeface="Times New Roman"/>
              </a:defRPr>
            </a:lvl1pPr>
            <a:lvl2pPr>
              <a:defRPr sz="975" b="0">
                <a:solidFill>
                  <a:srgbClr val="777777"/>
                </a:solidFill>
                <a:latin typeface="Times New Roman"/>
                <a:ea typeface="Times New Roman"/>
                <a:cs typeface="Times New Roman"/>
              </a:defRPr>
            </a:lvl2pPr>
            <a:lvl3pPr>
              <a:defRPr sz="975" b="0">
                <a:solidFill>
                  <a:srgbClr val="777777"/>
                </a:solidFill>
                <a:latin typeface="Times New Roman"/>
                <a:ea typeface="Times New Roman"/>
                <a:cs typeface="Times New Roman"/>
              </a:defRPr>
            </a:lvl3pPr>
            <a:lvl4pPr>
              <a:defRPr sz="975" b="0">
                <a:solidFill>
                  <a:srgbClr val="777777"/>
                </a:solidFill>
                <a:latin typeface="Times New Roman"/>
                <a:ea typeface="Times New Roman"/>
                <a:cs typeface="Times New Roman"/>
              </a:defRPr>
            </a:lvl4pPr>
            <a:lvl5pPr>
              <a:defRPr sz="975" b="0">
                <a:solidFill>
                  <a:srgbClr val="777777"/>
                </a:solidFill>
                <a:latin typeface="Times New Roman"/>
                <a:ea typeface="Times New Roman"/>
                <a:cs typeface="Times New Roman"/>
              </a:defRPr>
            </a:lvl5pPr>
            <a:lvl6pPr>
              <a:defRPr sz="975" b="0">
                <a:solidFill>
                  <a:srgbClr val="777777"/>
                </a:solidFill>
                <a:latin typeface="Times New Roman"/>
                <a:ea typeface="Times New Roman"/>
                <a:cs typeface="Times New Roman"/>
              </a:defRPr>
            </a:lvl6pPr>
            <a:lvl7pPr>
              <a:defRPr sz="975" b="0">
                <a:solidFill>
                  <a:srgbClr val="777777"/>
                </a:solidFill>
                <a:latin typeface="Times New Roman"/>
                <a:ea typeface="Times New Roman"/>
                <a:cs typeface="Times New Roman"/>
              </a:defRPr>
            </a:lvl7pPr>
            <a:lvl8pPr>
              <a:defRPr sz="975" b="0">
                <a:solidFill>
                  <a:srgbClr val="777777"/>
                </a:solidFill>
                <a:latin typeface="Times New Roman"/>
                <a:ea typeface="Times New Roman"/>
                <a:cs typeface="Times New Roman"/>
              </a:defRPr>
            </a:lvl8pPr>
            <a:lvl9pPr>
              <a:defRPr sz="975" b="0">
                <a:solidFill>
                  <a:srgbClr val="777777"/>
                </a:solidFill>
                <a:latin typeface="Times New Roman"/>
                <a:ea typeface="Times New Roman"/>
                <a:cs typeface="Times New Roman"/>
              </a:defRPr>
            </a:lvl9pPr>
          </a:lstStyle>
          <a:p xmlns:a="http://schemas.openxmlformats.org/drawingml/2006/main">
            <a:pPr>
              <a:defRPr sz="975" b="0">
                <a:solidFill>
                  <a:srgbClr val="777777"/>
                </a:solidFill>
                <a:latin typeface="Times New Roman"/>
                <a:ea typeface="Times New Roman"/>
                <a:cs typeface="Times New Roman"/>
              </a:defRPr>
            </a:pPr>
            <a:r>
              <a:rPr sz="975" b="0">
                <a:solidFill>
                  <a:srgbClr val="777777"/>
                </a:solidFill>
                <a:latin typeface="Times New Roman"/>
                <a:ea typeface="Times New Roman"/>
                <a:cs typeface="Times New Roman"/>
              </a:rPr>
              <a:t>Real Tushare observations  |  Chronological evaluation  |  Equal contributions</a:t>
            </a:r>
          </a:p>
        </p:txBody>
      </p:sp>
      <p:sp>
        <p:nvSpPr>
          <p:cNvPr id="5" name="">
            <a:extLst xmlns:a="http://schemas.openxmlformats.org/drawingml/2006/main">
              <a:ext uri="{FF2B5EF4-FFF2-40B4-BE49-F238E27FC236}">
                <a16:creationId xmlns:a16="http://schemas.microsoft.com/office/drawing/2014/main" id="{ED5949EB-A1AA-4C43-AC39-FCAAC0B9E001}"/>
              </a:ext>
            </a:extLst>
          </p:cNvPr>
          <p:cNvSpPr>
            <a:spLocks xmlns:a="http://schemas.openxmlformats.org/drawingml/2006/main" noGrp="1"/>
          </p:cNvSpPr>
          <p:nvPr/>
        </p:nvSpPr>
        <p:spPr>
          <a:xfrm xmlns:a="http://schemas.openxmlformats.org/drawingml/2006/main">
            <a:off x="666750" y="161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Tree ensembles improve held-out discrimination over the linear baseline.</a:t>
            </a:r>
          </a:p>
        </p:txBody>
      </p:sp>
      <p:sp>
        <p:nvSpPr>
          <p:cNvPr id="6" name="">
            <a:extLst xmlns:a="http://schemas.openxmlformats.org/drawingml/2006/main">
              <a:ext uri="{FF2B5EF4-FFF2-40B4-BE49-F238E27FC236}">
                <a16:creationId xmlns:a16="http://schemas.microsoft.com/office/drawing/2014/main" id="{A0BDF9EB-FFB4-4DD4-BB96-FBCDF1428795}"/>
              </a:ext>
            </a:extLst>
          </p:cNvPr>
          <p:cNvSpPr>
            <a:spLocks xmlns:a="http://schemas.openxmlformats.org/drawingml/2006/main" noGrp="1"/>
          </p:cNvSpPr>
          <p:nvPr/>
        </p:nvSpPr>
        <p:spPr>
          <a:xfrm xmlns:a="http://schemas.openxmlformats.org/drawingml/2006/main">
            <a:off x="666750" y="24765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Prediction accuracy and concentrated portfolio returns rank models differently.</a:t>
            </a:r>
          </a:p>
        </p:txBody>
      </p:sp>
      <p:sp>
        <p:nvSpPr>
          <p:cNvPr id="7" name="">
            <a:extLst xmlns:a="http://schemas.openxmlformats.org/drawingml/2006/main">
              <a:ext uri="{FF2B5EF4-FFF2-40B4-BE49-F238E27FC236}">
                <a16:creationId xmlns:a16="http://schemas.microsoft.com/office/drawing/2014/main" id="{EA010EC4-3409-43AB-A40A-1331BC892A5C}"/>
              </a:ext>
            </a:extLst>
          </p:cNvPr>
          <p:cNvSpPr>
            <a:spLocks xmlns:a="http://schemas.openxmlformats.org/drawingml/2006/main" noGrp="1"/>
          </p:cNvSpPr>
          <p:nvPr/>
        </p:nvSpPr>
        <p:spPr>
          <a:xfrm xmlns:a="http://schemas.openxmlformats.org/drawingml/2006/main">
            <a:off x="666750" y="3333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Factor contributions and net performance vary across time and costs.</a:t>
            </a:r>
          </a:p>
        </p:txBody>
      </p:sp>
      <p:sp>
        <p:nvSpPr>
          <p:cNvPr id="8" name="">
            <a:extLst xmlns:a="http://schemas.openxmlformats.org/drawingml/2006/main">
              <a:ext uri="{FF2B5EF4-FFF2-40B4-BE49-F238E27FC236}">
                <a16:creationId xmlns:a16="http://schemas.microsoft.com/office/drawing/2014/main" id="{76F4BAD9-C4CF-4494-BA4C-0428F9A81DD5}"/>
              </a:ext>
            </a:extLst>
          </p:cNvPr>
          <p:cNvSpPr>
            <a:spLocks xmlns:a="http://schemas.openxmlformats.org/drawingml/2006/main" noGrp="1"/>
          </p:cNvSpPr>
          <p:nvPr/>
        </p:nvSpPr>
        <p:spPr>
          <a:xfrm xmlns:a="http://schemas.openxmlformats.org/drawingml/2006/main">
            <a:off x="666750" y="41910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047"/>
                </a:solidFill>
                <a:latin typeface="Times New Roman"/>
                <a:ea typeface="Times New Roman"/>
                <a:cs typeface="Times New Roman"/>
              </a:defRPr>
            </a:defPPr>
            <a:lvl1pPr>
              <a:defRPr sz="2025" b="0">
                <a:solidFill>
                  <a:srgbClr val="193047"/>
                </a:solidFill>
                <a:latin typeface="Times New Roman"/>
                <a:ea typeface="Times New Roman"/>
                <a:cs typeface="Times New Roman"/>
              </a:defRPr>
            </a:lvl1pPr>
            <a:lvl2pPr>
              <a:defRPr sz="2025" b="0">
                <a:solidFill>
                  <a:srgbClr val="193047"/>
                </a:solidFill>
                <a:latin typeface="Times New Roman"/>
                <a:ea typeface="Times New Roman"/>
                <a:cs typeface="Times New Roman"/>
              </a:defRPr>
            </a:lvl2pPr>
            <a:lvl3pPr>
              <a:defRPr sz="2025" b="0">
                <a:solidFill>
                  <a:srgbClr val="193047"/>
                </a:solidFill>
                <a:latin typeface="Times New Roman"/>
                <a:ea typeface="Times New Roman"/>
                <a:cs typeface="Times New Roman"/>
              </a:defRPr>
            </a:lvl3pPr>
            <a:lvl4pPr>
              <a:defRPr sz="2025" b="0">
                <a:solidFill>
                  <a:srgbClr val="193047"/>
                </a:solidFill>
                <a:latin typeface="Times New Roman"/>
                <a:ea typeface="Times New Roman"/>
                <a:cs typeface="Times New Roman"/>
              </a:defRPr>
            </a:lvl4pPr>
            <a:lvl5pPr>
              <a:defRPr sz="2025" b="0">
                <a:solidFill>
                  <a:srgbClr val="193047"/>
                </a:solidFill>
                <a:latin typeface="Times New Roman"/>
                <a:ea typeface="Times New Roman"/>
                <a:cs typeface="Times New Roman"/>
              </a:defRPr>
            </a:lvl5pPr>
            <a:lvl6pPr>
              <a:defRPr sz="2025" b="0">
                <a:solidFill>
                  <a:srgbClr val="193047"/>
                </a:solidFill>
                <a:latin typeface="Times New Roman"/>
                <a:ea typeface="Times New Roman"/>
                <a:cs typeface="Times New Roman"/>
              </a:defRPr>
            </a:lvl6pPr>
            <a:lvl7pPr>
              <a:defRPr sz="2025" b="0">
                <a:solidFill>
                  <a:srgbClr val="193047"/>
                </a:solidFill>
                <a:latin typeface="Times New Roman"/>
                <a:ea typeface="Times New Roman"/>
                <a:cs typeface="Times New Roman"/>
              </a:defRPr>
            </a:lvl7pPr>
            <a:lvl8pPr>
              <a:defRPr sz="2025" b="0">
                <a:solidFill>
                  <a:srgbClr val="193047"/>
                </a:solidFill>
                <a:latin typeface="Times New Roman"/>
                <a:ea typeface="Times New Roman"/>
                <a:cs typeface="Times New Roman"/>
              </a:defRPr>
            </a:lvl8pPr>
            <a:lvl9pPr>
              <a:defRPr sz="2025" b="0">
                <a:solidFill>
                  <a:srgbClr val="193047"/>
                </a:solidFill>
                <a:latin typeface="Times New Roman"/>
                <a:ea typeface="Times New Roman"/>
                <a:cs typeface="Times New Roman"/>
              </a:defRPr>
            </a:lvl9pPr>
          </a:lstStyle>
          <a:p xmlns:a="http://schemas.openxmlformats.org/drawingml/2006/main">
            <a:pPr>
              <a:defRPr sz="2025" b="0">
                <a:solidFill>
                  <a:srgbClr val="193047"/>
                </a:solidFill>
                <a:latin typeface="Times New Roman"/>
                <a:ea typeface="Times New Roman"/>
                <a:cs typeface="Times New Roman"/>
              </a:defRPr>
            </a:pPr>
            <a:r>
              <a:rPr sz="2025" b="0">
                <a:solidFill>
                  <a:srgbClr val="193047"/>
                </a:solidFill>
                <a:latin typeface="Times New Roman"/>
                <a:ea typeface="Times New Roman"/>
                <a:cs typeface="Times New Roman"/>
              </a:rPr>
              <a:t>Remaining work: certified data vintages and realistic execution constraints.</a:t>
            </a:r>
          </a:p>
        </p:txBody>
      </p:sp>
      <p:sp>
        <p:nvSpPr>
          <p:cNvPr id="9" name="">
            <a:extLst xmlns:a="http://schemas.openxmlformats.org/drawingml/2006/main">
              <a:ext uri="{FF2B5EF4-FFF2-40B4-BE49-F238E27FC236}">
                <a16:creationId xmlns:a16="http://schemas.microsoft.com/office/drawing/2014/main" id="{E14C42C3-9802-42B1-9B7B-A877C30FC4A2}"/>
              </a:ext>
            </a:extLst>
          </p:cNvPr>
          <p:cNvSpPr>
            <a:spLocks xmlns:a="http://schemas.openxmlformats.org/drawingml/2006/main" noGrp="1"/>
          </p:cNvSpPr>
          <p:nvPr/>
        </p:nvSpPr>
        <p:spPr>
          <a:xfrm xmlns:a="http://schemas.openxmlformats.org/drawingml/2006/main">
            <a:off x="714375" y="5572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776B"/>
                </a:solidFill>
                <a:latin typeface="Times New Roman"/>
                <a:ea typeface="Times New Roman"/>
                <a:cs typeface="Times New Roman"/>
              </a:defRPr>
            </a:defPPr>
            <a:lvl1pPr>
              <a:defRPr sz="1725" b="1">
                <a:solidFill>
                  <a:srgbClr val="28776B"/>
                </a:solidFill>
                <a:latin typeface="Times New Roman"/>
                <a:ea typeface="Times New Roman"/>
                <a:cs typeface="Times New Roman"/>
              </a:defRPr>
            </a:lvl1pPr>
            <a:lvl2pPr>
              <a:defRPr sz="1725" b="1">
                <a:solidFill>
                  <a:srgbClr val="28776B"/>
                </a:solidFill>
                <a:latin typeface="Times New Roman"/>
                <a:ea typeface="Times New Roman"/>
                <a:cs typeface="Times New Roman"/>
              </a:defRPr>
            </a:lvl2pPr>
            <a:lvl3pPr>
              <a:defRPr sz="1725" b="1">
                <a:solidFill>
                  <a:srgbClr val="28776B"/>
                </a:solidFill>
                <a:latin typeface="Times New Roman"/>
                <a:ea typeface="Times New Roman"/>
                <a:cs typeface="Times New Roman"/>
              </a:defRPr>
            </a:lvl3pPr>
            <a:lvl4pPr>
              <a:defRPr sz="1725" b="1">
                <a:solidFill>
                  <a:srgbClr val="28776B"/>
                </a:solidFill>
                <a:latin typeface="Times New Roman"/>
                <a:ea typeface="Times New Roman"/>
                <a:cs typeface="Times New Roman"/>
              </a:defRPr>
            </a:lvl4pPr>
            <a:lvl5pPr>
              <a:defRPr sz="1725" b="1">
                <a:solidFill>
                  <a:srgbClr val="28776B"/>
                </a:solidFill>
                <a:latin typeface="Times New Roman"/>
                <a:ea typeface="Times New Roman"/>
                <a:cs typeface="Times New Roman"/>
              </a:defRPr>
            </a:lvl5pPr>
            <a:lvl6pPr>
              <a:defRPr sz="1725" b="1">
                <a:solidFill>
                  <a:srgbClr val="28776B"/>
                </a:solidFill>
                <a:latin typeface="Times New Roman"/>
                <a:ea typeface="Times New Roman"/>
                <a:cs typeface="Times New Roman"/>
              </a:defRPr>
            </a:lvl6pPr>
            <a:lvl7pPr>
              <a:defRPr sz="1725" b="1">
                <a:solidFill>
                  <a:srgbClr val="28776B"/>
                </a:solidFill>
                <a:latin typeface="Times New Roman"/>
                <a:ea typeface="Times New Roman"/>
                <a:cs typeface="Times New Roman"/>
              </a:defRPr>
            </a:lvl7pPr>
            <a:lvl8pPr>
              <a:defRPr sz="1725" b="1">
                <a:solidFill>
                  <a:srgbClr val="28776B"/>
                </a:solidFill>
                <a:latin typeface="Times New Roman"/>
                <a:ea typeface="Times New Roman"/>
                <a:cs typeface="Times New Roman"/>
              </a:defRPr>
            </a:lvl8pPr>
            <a:lvl9pPr>
              <a:defRPr sz="1725" b="1">
                <a:solidFill>
                  <a:srgbClr val="28776B"/>
                </a:solidFill>
                <a:latin typeface="Times New Roman"/>
                <a:ea typeface="Times New Roman"/>
                <a:cs typeface="Times New Roman"/>
              </a:defRPr>
            </a:lvl9pPr>
          </a:lstStyle>
          <a:p xmlns:a="http://schemas.openxmlformats.org/drawingml/2006/main">
            <a:pPr>
              <a:defRPr sz="1725" b="1">
                <a:solidFill>
                  <a:srgbClr val="28776B"/>
                </a:solidFill>
                <a:latin typeface="Times New Roman"/>
                <a:ea typeface="Times New Roman"/>
                <a:cs typeface="Times New Roman"/>
              </a:defRPr>
            </a:pPr>
            <a:r>
              <a:rPr sz="1725" b="1">
                <a:solidFill>
                  <a:srgbClr val="28776B"/>
                </a:solidFill>
                <a:latin typeface="Times New Roman"/>
                <a:ea typeface="Times New Roman"/>
                <a:cs typeface="Times New Roman"/>
              </a:rPr>
              <a:t>Wu Yangjie, Zhao Jingjie and Wang Zhaobo contributed equally.</a:t>
            </a:r>
          </a:p>
        </p:txBody>
      </p:sp>
    </p:spTree>
    <p:extLst>
      <p:ext uri="{BB962C8B-B14F-4D97-AF65-F5344CB8AC3E}">
        <p14:creationId xmlns:p14="http://schemas.microsoft.com/office/powerpoint/2010/main" val="1204903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2026-10-18T18:33:55.1980000Z</dcterms:created>
  <dcterms:modified xsi:type="dcterms:W3CDTF">2026-10-18T18:33:55.1980000Z</dcterms:modified>
</coreProperties>
</file>