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本地复刻与改进项目；Tushare数据；outputs/improved_v2。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extended_strategy_summary.csv；validation_tuning_results.csv；decile_summary_checked.csv。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汇报目录。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outputs/improved_v2/extended_strategy_summary.csv；extended_strategy_nav.csv。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dataset_metadata_improved.json；Tushare index_weight。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dataset_metadata_improved.json feature_columns。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dataset_metadata_improved.json；标签构造脚本。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模型训练脚本；validation_tuning_results.csv。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extended_strategy_summary.csv；strategy_metrics_comparison.png。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outputs/improved_v2/extended_strategy_summary.csv。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decile_summary_checked.csv；decile_backtest.csv。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extended_strategy_summary.csv；03_backtest_extended_strategies.py。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extended_strategy_nav.csv；extended_strategy_summary.csv；rf_nav_curves.png。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strategy_metrics_comparison.png；extended_strategy_summary.csv。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decile_summary_checked.csv；extended_strategy_summary.csv；回撤修正版报告。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本页总结所有改进版研究结论。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notesSlide" Target="../notesSlides/notesSlide3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914400"/>
            <a:ext cx="2497559" cy="609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333860" y="9018315"/>
            <a:ext cx="3343714" cy="39238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800" kern="0" spc="252" dirty="0">
                <a:solidFill>
                  <a:srgbClr val="8A8C90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TROVE APPLIED QUANT&amp;TECH</a:t>
            </a:r>
            <a:endParaRPr lang="en-US" sz="1800" dirty="0"/>
          </a:p>
        </p:txBody>
      </p:sp>
      <p:sp>
        <p:nvSpPr>
          <p:cNvPr id="11" name="TextBox 10"/>
          <p:cNvSpPr txBox="1"/>
          <p:nvPr/>
        </p:nvSpPr>
        <p:spPr>
          <a:xfrm>
            <a:off x="14001750" y="876300"/>
            <a:ext cx="3333750" cy="361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INTERNAL ROADSHOW · 2026 / 08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14400" y="3619500"/>
            <a:ext cx="838200" cy="47625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8125"/>
            <a:ext cx="14287500" cy="1066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800" b="1">
                <a:solidFill>
                  <a:srgbClr val="161616"/>
                </a:solidFill>
                <a:latin typeface="等线" panose="02010600030101010101" charset="-122"/>
              </a:rPr>
              <a:t>机器学习多因子选股策略</a:t>
            </a:r>
            <a:endParaRPr sz="48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14400" y="5334000"/>
            <a:ext cx="14097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DAA123"/>
                </a:solidFill>
                <a:latin typeface="等线" panose="02010600030101010101" charset="-122"/>
              </a:rPr>
              <a:t>最终回测结果汇报：模型表现、组合收益、回撤来源与策略结论</a:t>
            </a:r>
            <a:endParaRPr sz="2600" b="1">
              <a:solidFill>
                <a:srgbClr val="DAA123"/>
              </a:solidFill>
              <a:latin typeface="等线" panose="02010600030101010101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400" y="6381750"/>
            <a:ext cx="1190625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6E6E6E"/>
                </a:solidFill>
                <a:latin typeface="Barlow"/>
              </a:rPr>
              <a:t>Random Forest · XGBoost · LightGBM | Dynamic CSI 500 Backtest Results</a:t>
            </a:r>
            <a:endParaRPr sz="23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14400" y="87439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9029700"/>
            <a:ext cx="4953000" cy="276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0">
                <a:solidFill>
                  <a:srgbClr val="6E6E6E"/>
                </a:solidFill>
                <a:latin typeface="等线" panose="02010600030101010101" charset="-122"/>
              </a:rPr>
              <a:t>崇文量化科技</a:t>
            </a:r>
            <a:endParaRPr sz="18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525500" y="9029700"/>
            <a:ext cx="3810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500" b="0">
                <a:solidFill>
                  <a:srgbClr val="6E6E6E"/>
                </a:solidFill>
                <a:latin typeface="Barlow"/>
              </a:rPr>
              <a:t>TROVE APPLIED QUANT&amp;TECH</a:t>
            </a:r>
            <a:endParaRPr sz="1500" b="0">
              <a:solidFill>
                <a:srgbClr val="6E6E6E"/>
              </a:solidFill>
              <a:latin typeface="Barlo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23"/>
          <p:cNvSpPr/>
          <p:nvPr/>
        </p:nvSpPr>
        <p:spPr>
          <a:xfrm>
            <a:off x="914400" y="9077325"/>
            <a:ext cx="1383030" cy="333375"/>
          </a:xfrm>
          <a:prstGeom prst="rect">
            <a:avLst/>
          </a:prstGeom>
          <a:noFill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29000"/>
              </a:lnSpc>
              <a:buNone/>
            </a:pPr>
            <a:r>
              <a:rPr lang="en-US" sz="1500" kern="0" spc="150" dirty="0">
                <a:solidFill>
                  <a:srgbClr val="9A9C9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崇文量化科技</a:t>
            </a:r>
            <a:endParaRPr lang="en-US" sz="1500" dirty="0"/>
          </a:p>
        </p:txBody>
      </p:sp>
      <p:sp>
        <p:nvSpPr>
          <p:cNvPr id="27" name="TextBox 26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最终回测结果的核心结论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EXECUTIVE SUMMARY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02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1143000" y="2476500"/>
            <a:ext cx="4762500" cy="200025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43000" y="2476500"/>
            <a:ext cx="4762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90650" y="27241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BEST STRATEGY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1390650" y="31432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79164"/>
                </a:solidFill>
                <a:latin typeface="等线" panose="02010600030101010101" charset="-122"/>
              </a:rPr>
              <a:t>RF + 指数对冲</a:t>
            </a:r>
            <a:endParaRPr sz="3200" b="1">
              <a:solidFill>
                <a:srgbClr val="379164"/>
              </a:solidFill>
              <a:latin typeface="等线" panose="02010600030101010101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390650" y="37909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累计收益121.67%，Sharpe 0.791，最大回撤23.13%。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6762750" y="2476500"/>
            <a:ext cx="4762500" cy="200025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762750" y="2476500"/>
            <a:ext cx="4762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10400" y="27241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MODEL VIEW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010400" y="31432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RF更稳健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7010400" y="37909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验证集与回测中，RF比Boosting更能承受噪声。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12382500" y="2476500"/>
            <a:ext cx="4762500" cy="200025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2382500" y="2476500"/>
            <a:ext cx="4762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630150" y="27241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RISK VIEW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2630150" y="31432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C65846"/>
                </a:solidFill>
                <a:latin typeface="等线" panose="02010600030101010101" charset="-122"/>
              </a:rPr>
              <a:t>不推荐裸做空后10</a:t>
            </a:r>
            <a:endParaRPr sz="3200" b="1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2630150" y="37909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最大回撤可达98.17%，主要来自空头端剧烈反弹。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1333500" y="559117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752600" y="5476875"/>
            <a:ext cx="136779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61616"/>
                </a:solidFill>
                <a:latin typeface="等线" panose="02010600030101010101" charset="-122"/>
              </a:rPr>
              <a:t>样本外回测期为2020-08至2025-04，按20个交易日调仓，股票交易成本10bps，指数空头成本1bp。</a:t>
            </a:r>
            <a:endParaRPr sz="2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1333500" y="6496050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752600" y="6381750"/>
            <a:ext cx="136779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61616"/>
                </a:solidFill>
                <a:latin typeface="等线" panose="02010600030101010101" charset="-122"/>
              </a:rPr>
              <a:t>最终推荐策略为Random Forest Long前10 / Short中证500指数：收益最高且回撤显著低于纯多头。</a:t>
            </a:r>
            <a:endParaRPr sz="2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333500" y="740092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752600" y="7286625"/>
            <a:ext cx="136779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61616"/>
                </a:solidFill>
                <a:latin typeface="等线" panose="02010600030101010101" charset="-122"/>
              </a:rPr>
              <a:t>Long前10 / Short后10不是主策略：三类模型均出现大幅亏损和极端回撤，说明空头端风险不可控。</a:t>
            </a:r>
            <a:endParaRPr sz="2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目录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CONTENTS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03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sp>
        <p:nvSpPr>
          <p:cNvPr id="8" name="TextBox 7"/>
          <p:cNvSpPr txBox="1"/>
          <p:nvPr>
            <p:custDataLst>
              <p:tags r:id="rId1"/>
            </p:custDataLst>
          </p:nvPr>
        </p:nvSpPr>
        <p:spPr>
          <a:xfrm>
            <a:off x="1143000" y="2762250"/>
            <a:ext cx="6667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sz="30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30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TextBox 8"/>
          <p:cNvSpPr txBox="1"/>
          <p:nvPr>
            <p:custDataLst>
              <p:tags r:id="rId2"/>
            </p:custDataLst>
          </p:nvPr>
        </p:nvSpPr>
        <p:spPr>
          <a:xfrm>
            <a:off x="2000250" y="2809875"/>
            <a:ext cx="5905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61616"/>
                </a:solidFill>
                <a:latin typeface="等线" panose="02010600030101010101" charset="-122"/>
              </a:rPr>
              <a:t>最终策略结果总览</a:t>
            </a:r>
            <a:endParaRPr sz="26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0" name="Rectangle 9"/>
          <p:cNvSpPr/>
          <p:nvPr>
            <p:custDataLst>
              <p:tags r:id="rId3"/>
            </p:custDataLst>
          </p:nvPr>
        </p:nvSpPr>
        <p:spPr>
          <a:xfrm>
            <a:off x="2000250" y="3505200"/>
            <a:ext cx="581025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1143000" y="4381500"/>
            <a:ext cx="6667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02</a:t>
            </a:r>
            <a:endParaRPr sz="3000" b="1">
              <a:solidFill>
                <a:srgbClr val="FFC82B"/>
              </a:solidFill>
              <a:latin typeface="Barlow"/>
            </a:endParaRPr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2000250" y="4429125"/>
            <a:ext cx="5905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61616"/>
                </a:solidFill>
                <a:latin typeface="等线" panose="02010600030101010101" charset="-122"/>
              </a:rPr>
              <a:t>回测口径与策略构造</a:t>
            </a:r>
            <a:endParaRPr sz="26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3" name="Rectangle 12"/>
          <p:cNvSpPr/>
          <p:nvPr>
            <p:custDataLst>
              <p:tags r:id="rId6"/>
            </p:custDataLst>
          </p:nvPr>
        </p:nvSpPr>
        <p:spPr>
          <a:xfrm>
            <a:off x="2000250" y="5124450"/>
            <a:ext cx="581025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1143000" y="6000750"/>
            <a:ext cx="6667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03</a:t>
            </a:r>
            <a:endParaRPr sz="3000" b="1">
              <a:solidFill>
                <a:srgbClr val="FFC82B"/>
              </a:solidFill>
              <a:latin typeface="Barlow"/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2000250" y="6048375"/>
            <a:ext cx="5905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61616"/>
                </a:solidFill>
                <a:latin typeface="等线" panose="02010600030101010101" charset="-122"/>
              </a:rPr>
              <a:t>模型表现与排序能力</a:t>
            </a:r>
            <a:endParaRPr sz="26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6" name="Rectangle 15"/>
          <p:cNvSpPr/>
          <p:nvPr>
            <p:custDataLst>
              <p:tags r:id="rId9"/>
            </p:custDataLst>
          </p:nvPr>
        </p:nvSpPr>
        <p:spPr>
          <a:xfrm>
            <a:off x="2000250" y="6743700"/>
            <a:ext cx="581025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9525000" y="2762250"/>
            <a:ext cx="6667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04</a:t>
            </a:r>
            <a:endParaRPr sz="3000" b="1">
              <a:solidFill>
                <a:srgbClr val="FFC82B"/>
              </a:solidFill>
              <a:latin typeface="Barlow"/>
            </a:endParaRPr>
          </a:p>
        </p:txBody>
      </p:sp>
      <p:sp>
        <p:nvSpPr>
          <p:cNvPr id="18" name="TextBox 17"/>
          <p:cNvSpPr txBox="1"/>
          <p:nvPr>
            <p:custDataLst>
              <p:tags r:id="rId11"/>
            </p:custDataLst>
          </p:nvPr>
        </p:nvSpPr>
        <p:spPr>
          <a:xfrm>
            <a:off x="10382250" y="2809875"/>
            <a:ext cx="5905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61616"/>
                </a:solidFill>
                <a:latin typeface="等线" panose="02010600030101010101" charset="-122"/>
              </a:rPr>
              <a:t>三类组合收益回撤对比</a:t>
            </a:r>
            <a:endParaRPr sz="26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9" name="Rectangle 18"/>
          <p:cNvSpPr/>
          <p:nvPr>
            <p:custDataLst>
              <p:tags r:id="rId12"/>
            </p:custDataLst>
          </p:nvPr>
        </p:nvSpPr>
        <p:spPr>
          <a:xfrm>
            <a:off x="10382250" y="3505200"/>
            <a:ext cx="581025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>
            <p:custDataLst>
              <p:tags r:id="rId13"/>
            </p:custDataLst>
          </p:nvPr>
        </p:nvSpPr>
        <p:spPr>
          <a:xfrm>
            <a:off x="9525000" y="4381500"/>
            <a:ext cx="6667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05</a:t>
            </a:r>
            <a:endParaRPr sz="3000" b="1">
              <a:solidFill>
                <a:srgbClr val="FFC82B"/>
              </a:solidFill>
              <a:latin typeface="Barlow"/>
            </a:endParaRPr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10382250" y="4429125"/>
            <a:ext cx="5905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61616"/>
                </a:solidFill>
                <a:latin typeface="等线" panose="02010600030101010101" charset="-122"/>
              </a:rPr>
              <a:t>风险来源与不推荐策略</a:t>
            </a:r>
            <a:endParaRPr sz="26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2" name="Rectangle 21"/>
          <p:cNvSpPr/>
          <p:nvPr>
            <p:custDataLst>
              <p:tags r:id="rId15"/>
            </p:custDataLst>
          </p:nvPr>
        </p:nvSpPr>
        <p:spPr>
          <a:xfrm>
            <a:off x="10382250" y="5124450"/>
            <a:ext cx="581025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6"/>
            </p:custDataLst>
          </p:nvPr>
        </p:nvSpPr>
        <p:spPr>
          <a:xfrm>
            <a:off x="9525000" y="6000750"/>
            <a:ext cx="666750" cy="4616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n-US" sz="3000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06</a:t>
            </a:r>
            <a:endParaRPr sz="3000" b="1">
              <a:solidFill>
                <a:srgbClr val="FFC82B"/>
              </a:solidFill>
              <a:latin typeface="Barlow"/>
            </a:endParaRPr>
          </a:p>
        </p:txBody>
      </p:sp>
      <p:sp>
        <p:nvSpPr>
          <p:cNvPr id="24" name="TextBox 23"/>
          <p:cNvSpPr txBox="1"/>
          <p:nvPr>
            <p:custDataLst>
              <p:tags r:id="rId17"/>
            </p:custDataLst>
          </p:nvPr>
        </p:nvSpPr>
        <p:spPr>
          <a:xfrm>
            <a:off x="10382250" y="6048375"/>
            <a:ext cx="59055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61616"/>
                </a:solidFill>
                <a:latin typeface="等线" panose="02010600030101010101" charset="-122"/>
              </a:rPr>
              <a:t>结论与后续落地方向</a:t>
            </a:r>
            <a:endParaRPr sz="26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5" name="Rectangle 24"/>
          <p:cNvSpPr/>
          <p:nvPr>
            <p:custDataLst>
              <p:tags r:id="rId18"/>
            </p:custDataLst>
          </p:nvPr>
        </p:nvSpPr>
        <p:spPr>
          <a:xfrm>
            <a:off x="10382250" y="6743700"/>
            <a:ext cx="581025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样本外回测结果：RF指数对冲是最优主策略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01 · BACKTEST RESULTS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04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143000" y="2476500"/>
            <a:ext cx="4000500" cy="19526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43000" y="2476500"/>
            <a:ext cx="4000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90650" y="2724150"/>
            <a:ext cx="3505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BEST TOTAL RETURN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390650" y="3143250"/>
            <a:ext cx="3505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121.67%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90650" y="3790950"/>
            <a:ext cx="35052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RF Long前10 / Short指数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715000" y="2476500"/>
            <a:ext cx="4000500" cy="19526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715000" y="2476500"/>
            <a:ext cx="4000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62650" y="2724150"/>
            <a:ext cx="3505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BEST SHARPE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962650" y="3143250"/>
            <a:ext cx="3505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0.791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962650" y="3790950"/>
            <a:ext cx="35052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同一策略Sharpe最高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0287000" y="2476500"/>
            <a:ext cx="4000500" cy="19526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287000" y="2476500"/>
            <a:ext cx="4000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34650" y="2724150"/>
            <a:ext cx="3505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DRAWDOWN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0534650" y="3143250"/>
            <a:ext cx="3505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23.13%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0534650" y="3790950"/>
            <a:ext cx="350520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相比RF纯多头回撤更低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4859000" y="2476500"/>
            <a:ext cx="2381250" cy="19526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4859000" y="2476500"/>
            <a:ext cx="238125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106650" y="2724150"/>
            <a:ext cx="18859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BACKTEST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5106650" y="3143250"/>
            <a:ext cx="18859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57期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15106650" y="3790950"/>
            <a:ext cx="18859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2020-08至2025-04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428750" y="5334000"/>
            <a:ext cx="2540000" cy="6858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504950" y="5476875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等线" panose="02010600030101010101" charset="-122"/>
              </a:rPr>
              <a:t>结论</a:t>
            </a:r>
            <a:endParaRPr sz="16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3968750" y="5334000"/>
            <a:ext cx="2540000" cy="6858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44950" y="5476875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等线" panose="02010600030101010101" charset="-122"/>
              </a:rPr>
              <a:t>策略</a:t>
            </a:r>
            <a:endParaRPr sz="16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508750" y="5334000"/>
            <a:ext cx="2540000" cy="6858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4950" y="5476875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等线" panose="02010600030101010101" charset="-122"/>
              </a:rPr>
              <a:t>累计收益</a:t>
            </a:r>
            <a:endParaRPr sz="16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9048750" y="5334000"/>
            <a:ext cx="2540000" cy="6858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24950" y="5476875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等线" panose="02010600030101010101" charset="-122"/>
              </a:rPr>
              <a:t>年化收益</a:t>
            </a:r>
            <a:endParaRPr sz="16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11588750" y="5334000"/>
            <a:ext cx="2540000" cy="6858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1664950" y="5476875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等线" panose="02010600030101010101" charset="-122"/>
              </a:rPr>
              <a:t>Sharpe</a:t>
            </a:r>
            <a:endParaRPr sz="16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57" name="Rectangle 56"/>
          <p:cNvSpPr/>
          <p:nvPr/>
        </p:nvSpPr>
        <p:spPr>
          <a:xfrm>
            <a:off x="14128750" y="5334000"/>
            <a:ext cx="2540000" cy="6858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4204950" y="5476875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等线" panose="02010600030101010101" charset="-122"/>
              </a:rPr>
              <a:t>最大回撤</a:t>
            </a:r>
            <a:endParaRPr sz="16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428750" y="60198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504950" y="61531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推荐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3968750" y="60198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044950" y="61531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RF Long前10 / Short指数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6508750" y="60198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4950" y="61531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121.67%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5" name="Rectangle 64"/>
          <p:cNvSpPr/>
          <p:nvPr/>
        </p:nvSpPr>
        <p:spPr>
          <a:xfrm>
            <a:off x="9048750" y="60198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24950" y="61531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19.24%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7" name="Rectangle 66"/>
          <p:cNvSpPr/>
          <p:nvPr/>
        </p:nvSpPr>
        <p:spPr>
          <a:xfrm>
            <a:off x="11588750" y="60198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1664950" y="61531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0.791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9" name="Rectangle 68"/>
          <p:cNvSpPr/>
          <p:nvPr/>
        </p:nvSpPr>
        <p:spPr>
          <a:xfrm>
            <a:off x="14128750" y="60198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4204950" y="61531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23.13%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71" name="Rectangle 70"/>
          <p:cNvSpPr/>
          <p:nvPr/>
        </p:nvSpPr>
        <p:spPr>
          <a:xfrm>
            <a:off x="1428750" y="6705600"/>
            <a:ext cx="2540000" cy="6858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504950" y="68389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备选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3968750" y="6705600"/>
            <a:ext cx="2540000" cy="6858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44950" y="68389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RF Long前10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6508750" y="6705600"/>
            <a:ext cx="2540000" cy="6858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584950" y="68389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104.84%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77" name="Rectangle 76"/>
          <p:cNvSpPr/>
          <p:nvPr/>
        </p:nvSpPr>
        <p:spPr>
          <a:xfrm>
            <a:off x="9048750" y="6705600"/>
            <a:ext cx="2540000" cy="6858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124950" y="68389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17.18%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79" name="Rectangle 78"/>
          <p:cNvSpPr/>
          <p:nvPr/>
        </p:nvSpPr>
        <p:spPr>
          <a:xfrm>
            <a:off x="11588750" y="6705600"/>
            <a:ext cx="2540000" cy="6858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664950" y="68389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0.741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14128750" y="6705600"/>
            <a:ext cx="2540000" cy="6858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4204950" y="68389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35.73%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83" name="Rectangle 82"/>
          <p:cNvSpPr/>
          <p:nvPr/>
        </p:nvSpPr>
        <p:spPr>
          <a:xfrm>
            <a:off x="1428750" y="73914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504950" y="75247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不推荐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3968750" y="73914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4044950" y="75247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RF Long前10 / Short后10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87" name="Rectangle 86"/>
          <p:cNvSpPr/>
          <p:nvPr/>
        </p:nvSpPr>
        <p:spPr>
          <a:xfrm>
            <a:off x="6508750" y="73914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84950" y="75247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C65846"/>
                </a:solidFill>
                <a:latin typeface="等线" panose="02010600030101010101" charset="-122"/>
              </a:rPr>
              <a:t>-96.52%</a:t>
            </a:r>
            <a:endParaRPr sz="16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89" name="Rectangle 88"/>
          <p:cNvSpPr/>
          <p:nvPr/>
        </p:nvSpPr>
        <p:spPr>
          <a:xfrm>
            <a:off x="9048750" y="73914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9124950" y="75247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C65846"/>
                </a:solidFill>
                <a:latin typeface="等线" panose="02010600030101010101" charset="-122"/>
              </a:rPr>
              <a:t>-52.41%</a:t>
            </a:r>
            <a:endParaRPr sz="16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91" name="Rectangle 90"/>
          <p:cNvSpPr/>
          <p:nvPr/>
        </p:nvSpPr>
        <p:spPr>
          <a:xfrm>
            <a:off x="11588750" y="73914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1664950" y="75247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C65846"/>
                </a:solidFill>
                <a:latin typeface="等线" panose="02010600030101010101" charset="-122"/>
              </a:rPr>
              <a:t>-0.370</a:t>
            </a:r>
            <a:endParaRPr sz="16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93" name="Rectangle 92"/>
          <p:cNvSpPr/>
          <p:nvPr/>
        </p:nvSpPr>
        <p:spPr>
          <a:xfrm>
            <a:off x="14128750" y="7391400"/>
            <a:ext cx="2540000" cy="6858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4204950" y="7524750"/>
            <a:ext cx="23876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98.17%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859280" y="8039100"/>
            <a:ext cx="140970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61616"/>
                </a:solidFill>
                <a:latin typeface="等线" panose="02010600030101010101" charset="-122"/>
              </a:rPr>
              <a:t>直接结论：指数对冲既保留了模型选股收益，又显著降低市场方向风险；做空低分个股反而形成主要风险源。</a:t>
            </a:r>
            <a:endParaRPr sz="25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Box 42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回测口径：动态中证500、20日调仓、含交易成本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02 · BACKTEST SETUP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05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1095375" y="2619375"/>
            <a:ext cx="4095750" cy="19526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95375" y="2619375"/>
            <a:ext cx="409575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343025" y="2867025"/>
            <a:ext cx="3600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DATA SOURCE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1343025" y="3286125"/>
            <a:ext cx="3600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Tushare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343025" y="3933825"/>
            <a:ext cx="3600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行情、财务、指数成分、交易日历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5953125" y="2619375"/>
            <a:ext cx="4095750" cy="19526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953125" y="2619375"/>
            <a:ext cx="409575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200775" y="2867025"/>
            <a:ext cx="3600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UNIVERSE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6200775" y="3286125"/>
            <a:ext cx="3600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历史中证500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200775" y="3933825"/>
            <a:ext cx="3600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通过index_weight构建动态成分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10810875" y="2619375"/>
            <a:ext cx="4095750" cy="19526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810875" y="2619375"/>
            <a:ext cx="409575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1058525" y="2867025"/>
            <a:ext cx="3600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REBALANCE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1058525" y="3286125"/>
            <a:ext cx="3600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20交易日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1058525" y="3933825"/>
            <a:ext cx="3600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每期截面内排序选股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pic>
        <p:nvPicPr>
          <p:cNvPr id="64" name="Picture 63" descr="dataset_split_row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33500" y="5191125"/>
            <a:ext cx="7239000" cy="314325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9620250" y="5286375"/>
            <a:ext cx="2286000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61616"/>
                </a:solidFill>
                <a:latin typeface="等线" panose="02010600030101010101" charset="-122"/>
              </a:rPr>
              <a:t>关键口径</a:t>
            </a:r>
            <a:endParaRPr sz="25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9601200" y="606742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020300" y="5953125"/>
            <a:ext cx="64389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161616"/>
                </a:solidFill>
                <a:latin typeface="等线" panose="02010600030101010101" charset="-122"/>
              </a:rPr>
              <a:t>不是用当前中证500成分回溯。</a:t>
            </a:r>
            <a:endParaRPr sz="21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9601200" y="6877050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020300" y="6762750"/>
            <a:ext cx="64389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161616"/>
                </a:solidFill>
                <a:latin typeface="等线" panose="02010600030101010101" charset="-122"/>
              </a:rPr>
              <a:t>训练、验证、测试、回测按日期顺序切分。</a:t>
            </a:r>
            <a:endParaRPr sz="21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9601200" y="768667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20300" y="7572375"/>
            <a:ext cx="64389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161616"/>
                </a:solidFill>
                <a:latin typeface="等线" panose="02010600030101010101" charset="-122"/>
              </a:rPr>
              <a:t>回测期调仓点共57个。</a:t>
            </a:r>
            <a:endParaRPr sz="21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24个因子覆盖基本面、交易行为和技术状态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02 · FACTOR ENGINEERING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06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43000" y="2476500"/>
            <a:ext cx="7048500" cy="13811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476500"/>
            <a:ext cx="7048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2724150"/>
            <a:ext cx="6553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估值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90650" y="3143250"/>
            <a:ext cx="6553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估值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90650" y="3781425"/>
            <a:ext cx="6553200" cy="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profit_to_market, book_to_market, sales_to_market, cashflow_to_market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43000" y="4286250"/>
            <a:ext cx="7048500" cy="13811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286250"/>
            <a:ext cx="7048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0650" y="4533900"/>
            <a:ext cx="6553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规模与交易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90650" y="4953000"/>
            <a:ext cx="6553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规模与交易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90650" y="5591175"/>
            <a:ext cx="6553200" cy="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log_mv, turnover20, turnover60, beta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143000" y="6096000"/>
            <a:ext cx="7048500" cy="13811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6096000"/>
            <a:ext cx="7048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90650" y="6343650"/>
            <a:ext cx="6553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动量与技术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90650" y="6762750"/>
            <a:ext cx="6553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动量与技术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90650" y="7400925"/>
            <a:ext cx="6553200" cy="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mom20, mom60, macd_close, mfi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334500" y="2476500"/>
            <a:ext cx="7048500" cy="13811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2476500"/>
            <a:ext cx="7048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82150" y="2724150"/>
            <a:ext cx="6553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成长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582150" y="3143250"/>
            <a:ext cx="6553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成长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582150" y="3781425"/>
            <a:ext cx="6553200" cy="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revenue_yoy, netprofit_yoy, ocf_yoy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334500" y="4286250"/>
            <a:ext cx="7048500" cy="13811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4286250"/>
            <a:ext cx="7048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82150" y="4533900"/>
            <a:ext cx="6553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盈利质量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582150" y="4953000"/>
            <a:ext cx="6553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盈利质量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582150" y="5591175"/>
            <a:ext cx="6553200" cy="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roe, roa, grossprofit_margin, netprofit_margin, assets_turn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9334500" y="6096000"/>
            <a:ext cx="7048500" cy="1381125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6096000"/>
            <a:ext cx="7048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82150" y="6343650"/>
            <a:ext cx="6553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偿债能力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582150" y="6762750"/>
            <a:ext cx="6553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偿债能力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582150" y="7400925"/>
            <a:ext cx="6553200" cy="9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debt_to_assets, longdebt_to_assets, current_ratio, cash_ratio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333500" y="8001000"/>
            <a:ext cx="14287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61616"/>
                </a:solidFill>
                <a:latin typeface="等线" panose="02010600030101010101" charset="-122"/>
              </a:rPr>
              <a:t>因子选择逻辑：尽量复现研报的多因子思想，同时保留机器学习模型识别非线性关系和交互效应的空间。</a:t>
            </a:r>
            <a:endParaRPr sz="2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模型如何产生交易信号：预测下一期超额收益排序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03 · SIGNAL CONSTRUCTION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841756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07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38250" y="2571750"/>
            <a:ext cx="2476500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61616"/>
                </a:solidFill>
                <a:latin typeface="等线" panose="02010600030101010101" charset="-122"/>
              </a:rPr>
              <a:t>标签构造</a:t>
            </a:r>
            <a:endParaRPr sz="26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238250" y="340042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57350" y="3286125"/>
            <a:ext cx="133921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61616"/>
                </a:solidFill>
                <a:latin typeface="等线" panose="02010600030101010101" charset="-122"/>
              </a:rPr>
              <a:t>计算下一调仓期个股收益与中证500收益之差。</a:t>
            </a:r>
            <a:endParaRPr sz="22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38250" y="4210050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57350" y="4095750"/>
            <a:ext cx="133921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61616"/>
                </a:solidFill>
                <a:latin typeface="等线" panose="02010600030101010101" charset="-122"/>
              </a:rPr>
              <a:t>截面Top 30%记为1，Bottom 30%记为0，中间40%剔除。</a:t>
            </a:r>
            <a:endParaRPr sz="22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38250" y="501967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57350" y="4905375"/>
            <a:ext cx="133921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61616"/>
                </a:solidFill>
                <a:latin typeface="等线" panose="02010600030101010101" charset="-122"/>
              </a:rPr>
              <a:t>模型输出的是正样本概率，再按概率从高到低排序构建组合。</a:t>
            </a:r>
            <a:endParaRPr sz="22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714500" y="5569585"/>
            <a:ext cx="3571875" cy="5715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0700" y="5712460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等线" panose="02010600030101010101" charset="-122"/>
              </a:rPr>
              <a:t>数据集</a:t>
            </a:r>
            <a:endParaRPr sz="16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286375" y="5569585"/>
            <a:ext cx="3571875" cy="5715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2575" y="5712460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等线" panose="02010600030101010101" charset="-122"/>
              </a:rPr>
              <a:t>时间范围</a:t>
            </a:r>
            <a:endParaRPr sz="16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858250" y="5569585"/>
            <a:ext cx="3571875" cy="5715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34450" y="5712460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等线" panose="02010600030101010101" charset="-122"/>
              </a:rPr>
              <a:t>样本行数</a:t>
            </a:r>
            <a:endParaRPr sz="16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430125" y="5569585"/>
            <a:ext cx="3571875" cy="5715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506325" y="5712460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等线" panose="02010600030101010101" charset="-122"/>
              </a:rPr>
              <a:t>作用</a:t>
            </a:r>
            <a:endParaRPr sz="16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714500" y="6141085"/>
            <a:ext cx="3571875" cy="5715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90700" y="62744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训练集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286375" y="6141085"/>
            <a:ext cx="3571875" cy="5715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62575" y="62744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2010-02至2017-08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8858250" y="6141085"/>
            <a:ext cx="3571875" cy="5715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34450" y="62744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205,360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12430125" y="6141085"/>
            <a:ext cx="3571875" cy="5715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506325" y="62744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训练模型参数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714500" y="6712585"/>
            <a:ext cx="3571875" cy="5715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90700" y="68459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验证集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5286375" y="6712585"/>
            <a:ext cx="3571875" cy="5715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62575" y="68459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2017-08至2019-01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858250" y="6712585"/>
            <a:ext cx="3571875" cy="5715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34450" y="68459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40,800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7" name="Rectangle 36"/>
          <p:cNvSpPr/>
          <p:nvPr/>
        </p:nvSpPr>
        <p:spPr>
          <a:xfrm>
            <a:off x="12430125" y="6712585"/>
            <a:ext cx="3571875" cy="5715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506325" y="68459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选择超参数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714500" y="7284085"/>
            <a:ext cx="3571875" cy="5715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90700" y="74174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测试集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286375" y="7284085"/>
            <a:ext cx="3571875" cy="5715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62575" y="74174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2019-02至2020-07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8858250" y="7284085"/>
            <a:ext cx="3571875" cy="5715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34450" y="74174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43,208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12430125" y="7284085"/>
            <a:ext cx="3571875" cy="57150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506325" y="74174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评估分类泛化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7" name="Rectangle 46"/>
          <p:cNvSpPr/>
          <p:nvPr/>
        </p:nvSpPr>
        <p:spPr>
          <a:xfrm>
            <a:off x="1714500" y="7855585"/>
            <a:ext cx="3571875" cy="5715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790700" y="79889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回测集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286375" y="7855585"/>
            <a:ext cx="3571875" cy="5715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62575" y="79889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2020-08至2025-04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8858250" y="7855585"/>
            <a:ext cx="3571875" cy="5715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934450" y="79889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136,792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12430125" y="7855585"/>
            <a:ext cx="3571875" cy="57150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506325" y="7988935"/>
            <a:ext cx="341947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0">
                <a:solidFill>
                  <a:srgbClr val="161616"/>
                </a:solidFill>
                <a:latin typeface="等线" panose="02010600030101010101" charset="-122"/>
              </a:rPr>
              <a:t>样本外策略检验</a:t>
            </a:r>
            <a:endParaRPr sz="16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三类模型的结果解释：RF更稳，Boosting更敏感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03 · MODEL INTERPRETATION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08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143000" y="2857500"/>
            <a:ext cx="4762500" cy="266700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051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BAGGING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90650" y="35242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Random Forest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90650" y="4171950"/>
            <a:ext cx="4267200" cy="1276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多棵树并行训练，降低方差；对噪声和异常值较稳健，是本项目的基准模型。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667500" y="2857500"/>
            <a:ext cx="4762500" cy="266700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0" y="2857500"/>
            <a:ext cx="4762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5150" y="31051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BOOSTING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15150" y="35242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XGBoost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15150" y="4171950"/>
            <a:ext cx="4267200" cy="1276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逐轮修正前一轮误差，拟合能力更强；若验证约束不足，容易追逐样本噪声。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192000" y="2857500"/>
            <a:ext cx="4762500" cy="266700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192000" y="2857500"/>
            <a:ext cx="4762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439650" y="31051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GBDT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439650" y="35242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LightGBM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439650" y="4171950"/>
            <a:ext cx="4267200" cy="1276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直方图分裂和叶子优先生长，训练效率高；在小噪声数据上可能更敏感。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38250" y="6240780"/>
            <a:ext cx="4605020" cy="5410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sz="2600" b="1">
                <a:solidFill>
                  <a:srgbClr val="161616"/>
                </a:solidFill>
                <a:latin typeface="等线" panose="02010600030101010101" charset="-122"/>
              </a:rPr>
              <a:t>机器学习角度的关键判断</a:t>
            </a:r>
            <a:endParaRPr sz="26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238250" y="7162800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657350" y="7048500"/>
            <a:ext cx="13868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61616"/>
                </a:solidFill>
                <a:latin typeface="等线" panose="02010600030101010101" charset="-122"/>
              </a:rPr>
              <a:t>Boosting理论上能更好刻画非线性和因子交互，但也更依赖正则化、学习率、树深和早停。</a:t>
            </a:r>
            <a:endParaRPr sz="22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238250" y="7924800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57350" y="7810500"/>
            <a:ext cx="1386840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61616"/>
                </a:solidFill>
                <a:latin typeface="等线" panose="02010600030101010101" charset="-122"/>
              </a:rPr>
              <a:t>RF牺牲部分拟合强度换取稳定性；在金融截面数据噪声较高时反而更适合做稳健基准。</a:t>
            </a:r>
            <a:endParaRPr sz="22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模型结果对比：RF在收益和风险之间最均衡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04 · MODEL RESULTS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09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pic>
        <p:nvPicPr>
          <p:cNvPr id="8" name="Picture 7" descr="strategy_metrics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2333625"/>
            <a:ext cx="9906000" cy="533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715750" y="2619375"/>
            <a:ext cx="2476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61616"/>
                </a:solidFill>
                <a:latin typeface="等线" panose="02010600030101010101" charset="-122"/>
              </a:rPr>
              <a:t>直接读数</a:t>
            </a:r>
            <a:endParaRPr sz="25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525250" y="340042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944350" y="3286125"/>
            <a:ext cx="4914900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161616"/>
                </a:solidFill>
                <a:latin typeface="等线" panose="02010600030101010101" charset="-122"/>
              </a:rPr>
              <a:t>RF指数对冲累计收益121.67%，Sharpe 0.791，最大回撤23.13%。</a:t>
            </a:r>
            <a:endParaRPr sz="21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525250" y="454342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944350" y="4429125"/>
            <a:ext cx="49149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161616"/>
                </a:solidFill>
                <a:latin typeface="等线" panose="02010600030101010101" charset="-122"/>
              </a:rPr>
              <a:t>RF纯多头累计收益104.84%，但最大回撤升至35.73%。</a:t>
            </a:r>
            <a:endParaRPr sz="21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525250" y="559117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944350" y="5476875"/>
            <a:ext cx="4914900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0">
                <a:solidFill>
                  <a:srgbClr val="161616"/>
                </a:solidFill>
                <a:latin typeface="等线" panose="02010600030101010101" charset="-122"/>
              </a:rPr>
              <a:t>XGBoost与LightGBM在验证集调参后更保守，样本外收益低于RF。</a:t>
            </a:r>
            <a:endParaRPr sz="21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1668125" y="7000875"/>
            <a:ext cx="49530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1">
                <a:solidFill>
                  <a:srgbClr val="161616"/>
                </a:solidFill>
                <a:latin typeface="等线" panose="02010600030101010101" charset="-122"/>
              </a:rPr>
              <a:t>因此，最终不是选择“拟合能力最强”的模型，而是选择样本外组合最稳的模型。</a:t>
            </a:r>
            <a:endParaRPr sz="2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九组回测结果总表：收益、Sharpe与回撤一页看清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04 · FULL PERFORMANCE TABLE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10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00125" y="2428875"/>
            <a:ext cx="2714625" cy="55245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6325" y="2571750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等线" panose="02010600030101010101" charset="-122"/>
              </a:rPr>
              <a:t>模型</a:t>
            </a:r>
            <a:endParaRPr sz="13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14750" y="2428875"/>
            <a:ext cx="2714625" cy="55245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0950" y="2571750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等线" panose="02010600030101010101" charset="-122"/>
              </a:rPr>
              <a:t>策略</a:t>
            </a:r>
            <a:endParaRPr sz="13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429375" y="2428875"/>
            <a:ext cx="2714625" cy="55245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05575" y="2571750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等线" panose="02010600030101010101" charset="-122"/>
              </a:rPr>
              <a:t>累计收益</a:t>
            </a:r>
            <a:endParaRPr sz="13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144000" y="2428875"/>
            <a:ext cx="2714625" cy="55245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20200" y="2571750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等线" panose="02010600030101010101" charset="-122"/>
              </a:rPr>
              <a:t>年化收益</a:t>
            </a:r>
            <a:endParaRPr sz="13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1858625" y="2428875"/>
            <a:ext cx="2714625" cy="55245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34825" y="2571750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等线" panose="02010600030101010101" charset="-122"/>
              </a:rPr>
              <a:t>Sharpe</a:t>
            </a:r>
            <a:endParaRPr sz="13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4573250" y="2428875"/>
            <a:ext cx="2714625" cy="55245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49450" y="2571750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等线" panose="02010600030101010101" charset="-122"/>
              </a:rPr>
              <a:t>最大回撤</a:t>
            </a:r>
            <a:endParaRPr sz="13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00125" y="29813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6325" y="31146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Random Forest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714750" y="29813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790950" y="31146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 / Short指数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6429375" y="29813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05575" y="31146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121.67%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9144000" y="29813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20200" y="31146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19.24%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1858625" y="29813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934825" y="31146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0.791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4573250" y="29813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49450" y="31146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23.13%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000125" y="35337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6325" y="36671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Random Forest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3714750" y="35337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90950" y="36671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6429375" y="35337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05575" y="36671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104.84%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144000" y="35337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20200" y="36671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17.18%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1858625" y="35337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934825" y="36671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0.741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4573250" y="35337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649450" y="36671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35.73%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1000125" y="40862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6325" y="42195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LightGBM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3714750" y="40862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790950" y="42195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 / Short指数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6429375" y="40862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05575" y="42195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63.58%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9144000" y="40862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220200" y="42195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11.49%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11858625" y="40862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934825" y="42195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0.529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14573250" y="40862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649450" y="42195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42.18%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1000125" y="46386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6325" y="47720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LightGBM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714750" y="46386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790950" y="47720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0" name="Rectangle 59"/>
          <p:cNvSpPr/>
          <p:nvPr/>
        </p:nvSpPr>
        <p:spPr>
          <a:xfrm>
            <a:off x="6429375" y="46386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505575" y="47720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45.72%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9144000" y="46386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20200" y="47720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8.68%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11858625" y="46386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934825" y="47720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0.427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14573250" y="46386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4649450" y="47720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43.75%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68" name="Rectangle 67"/>
          <p:cNvSpPr/>
          <p:nvPr/>
        </p:nvSpPr>
        <p:spPr>
          <a:xfrm>
            <a:off x="1000125" y="51911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076325" y="53244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XGBoost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70" name="Rectangle 69"/>
          <p:cNvSpPr/>
          <p:nvPr/>
        </p:nvSpPr>
        <p:spPr>
          <a:xfrm>
            <a:off x="3714750" y="51911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790950" y="53244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 / Short指数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72" name="Rectangle 71"/>
          <p:cNvSpPr/>
          <p:nvPr/>
        </p:nvSpPr>
        <p:spPr>
          <a:xfrm>
            <a:off x="6429375" y="51911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505575" y="53244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41.60%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9144000" y="51911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20200" y="53244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7.99%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76" name="Rectangle 75"/>
          <p:cNvSpPr/>
          <p:nvPr/>
        </p:nvSpPr>
        <p:spPr>
          <a:xfrm>
            <a:off x="11858625" y="51911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1934825" y="53244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0.408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4573250" y="51911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14649450" y="53244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40.57%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80" name="Rectangle 79"/>
          <p:cNvSpPr/>
          <p:nvPr/>
        </p:nvSpPr>
        <p:spPr>
          <a:xfrm>
            <a:off x="1000125" y="57435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76325" y="58769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XGBoost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82" name="Rectangle 81"/>
          <p:cNvSpPr/>
          <p:nvPr/>
        </p:nvSpPr>
        <p:spPr>
          <a:xfrm>
            <a:off x="3714750" y="57435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790950" y="58769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84" name="Rectangle 83"/>
          <p:cNvSpPr/>
          <p:nvPr/>
        </p:nvSpPr>
        <p:spPr>
          <a:xfrm>
            <a:off x="6429375" y="57435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505575" y="58769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24.90%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86" name="Rectangle 85"/>
          <p:cNvSpPr/>
          <p:nvPr/>
        </p:nvSpPr>
        <p:spPr>
          <a:xfrm>
            <a:off x="9144000" y="57435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220200" y="58769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5.04%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88" name="Rectangle 87"/>
          <p:cNvSpPr/>
          <p:nvPr/>
        </p:nvSpPr>
        <p:spPr>
          <a:xfrm>
            <a:off x="11858625" y="57435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1934825" y="58769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0.309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90" name="Rectangle 89"/>
          <p:cNvSpPr/>
          <p:nvPr/>
        </p:nvSpPr>
        <p:spPr>
          <a:xfrm>
            <a:off x="14573250" y="57435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4649450" y="58769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50.25%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92" name="Rectangle 91"/>
          <p:cNvSpPr/>
          <p:nvPr/>
        </p:nvSpPr>
        <p:spPr>
          <a:xfrm>
            <a:off x="1000125" y="62960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076325" y="64293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LightGBM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94" name="Rectangle 93"/>
          <p:cNvSpPr/>
          <p:nvPr/>
        </p:nvSpPr>
        <p:spPr>
          <a:xfrm>
            <a:off x="3714750" y="62960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790950" y="64293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 / Short后10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96" name="Rectangle 95"/>
          <p:cNvSpPr/>
          <p:nvPr/>
        </p:nvSpPr>
        <p:spPr>
          <a:xfrm>
            <a:off x="6429375" y="62960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505575" y="64293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65846"/>
                </a:solidFill>
                <a:latin typeface="等线" panose="02010600030101010101" charset="-122"/>
              </a:rPr>
              <a:t>-78.40%</a:t>
            </a:r>
            <a:endParaRPr sz="13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98" name="Rectangle 97"/>
          <p:cNvSpPr/>
          <p:nvPr/>
        </p:nvSpPr>
        <p:spPr>
          <a:xfrm>
            <a:off x="9144000" y="62960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9220200" y="64293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65846"/>
                </a:solidFill>
                <a:latin typeface="等线" panose="02010600030101010101" charset="-122"/>
              </a:rPr>
              <a:t>-28.74%</a:t>
            </a:r>
            <a:endParaRPr sz="13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100" name="Rectangle 99"/>
          <p:cNvSpPr/>
          <p:nvPr/>
        </p:nvSpPr>
        <p:spPr>
          <a:xfrm>
            <a:off x="11858625" y="62960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934825" y="64293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65846"/>
                </a:solidFill>
                <a:latin typeface="等线" panose="02010600030101010101" charset="-122"/>
              </a:rPr>
              <a:t>-0.133</a:t>
            </a:r>
            <a:endParaRPr sz="13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102" name="Rectangle 101"/>
          <p:cNvSpPr/>
          <p:nvPr/>
        </p:nvSpPr>
        <p:spPr>
          <a:xfrm>
            <a:off x="14573250" y="62960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14649450" y="64293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86.65%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04" name="Rectangle 103"/>
          <p:cNvSpPr/>
          <p:nvPr/>
        </p:nvSpPr>
        <p:spPr>
          <a:xfrm>
            <a:off x="1000125" y="68484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76325" y="69818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XGBoost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06" name="Rectangle 105"/>
          <p:cNvSpPr/>
          <p:nvPr/>
        </p:nvSpPr>
        <p:spPr>
          <a:xfrm>
            <a:off x="3714750" y="68484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790950" y="69818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 / Short后10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08" name="Rectangle 107"/>
          <p:cNvSpPr/>
          <p:nvPr/>
        </p:nvSpPr>
        <p:spPr>
          <a:xfrm>
            <a:off x="6429375" y="68484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505575" y="69818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65846"/>
                </a:solidFill>
                <a:latin typeface="等线" panose="02010600030101010101" charset="-122"/>
              </a:rPr>
              <a:t>-87.19%</a:t>
            </a:r>
            <a:endParaRPr sz="13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110" name="Rectangle 109"/>
          <p:cNvSpPr/>
          <p:nvPr/>
        </p:nvSpPr>
        <p:spPr>
          <a:xfrm>
            <a:off x="9144000" y="68484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9220200" y="69818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65846"/>
                </a:solidFill>
                <a:latin typeface="等线" panose="02010600030101010101" charset="-122"/>
              </a:rPr>
              <a:t>-36.50%</a:t>
            </a:r>
            <a:endParaRPr sz="13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11858625" y="68484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934825" y="69818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65846"/>
                </a:solidFill>
                <a:latin typeface="等线" panose="02010600030101010101" charset="-122"/>
              </a:rPr>
              <a:t>-0.345</a:t>
            </a:r>
            <a:endParaRPr sz="13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114" name="Rectangle 113"/>
          <p:cNvSpPr/>
          <p:nvPr/>
        </p:nvSpPr>
        <p:spPr>
          <a:xfrm>
            <a:off x="14573250" y="6848475"/>
            <a:ext cx="2714625" cy="5524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4649450" y="698182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88.73%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16" name="Rectangle 115"/>
          <p:cNvSpPr/>
          <p:nvPr/>
        </p:nvSpPr>
        <p:spPr>
          <a:xfrm>
            <a:off x="1000125" y="74009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076325" y="75342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Random Forest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18" name="Rectangle 117"/>
          <p:cNvSpPr/>
          <p:nvPr/>
        </p:nvSpPr>
        <p:spPr>
          <a:xfrm>
            <a:off x="3714750" y="74009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3790950" y="75342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 / Short后10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20" name="Rectangle 119"/>
          <p:cNvSpPr/>
          <p:nvPr/>
        </p:nvSpPr>
        <p:spPr>
          <a:xfrm>
            <a:off x="6429375" y="74009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05575" y="75342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65846"/>
                </a:solidFill>
                <a:latin typeface="等线" panose="02010600030101010101" charset="-122"/>
              </a:rPr>
              <a:t>-96.52%</a:t>
            </a:r>
            <a:endParaRPr sz="13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122" name="Rectangle 121"/>
          <p:cNvSpPr/>
          <p:nvPr/>
        </p:nvSpPr>
        <p:spPr>
          <a:xfrm>
            <a:off x="9144000" y="74009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220200" y="75342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65846"/>
                </a:solidFill>
                <a:latin typeface="等线" panose="02010600030101010101" charset="-122"/>
              </a:rPr>
              <a:t>-52.41%</a:t>
            </a:r>
            <a:endParaRPr sz="13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124" name="Rectangle 123"/>
          <p:cNvSpPr/>
          <p:nvPr/>
        </p:nvSpPr>
        <p:spPr>
          <a:xfrm>
            <a:off x="11858625" y="74009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1934825" y="75342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65846"/>
                </a:solidFill>
                <a:latin typeface="等线" panose="02010600030101010101" charset="-122"/>
              </a:rPr>
              <a:t>-0.370</a:t>
            </a:r>
            <a:endParaRPr sz="13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126" name="Rectangle 125"/>
          <p:cNvSpPr/>
          <p:nvPr/>
        </p:nvSpPr>
        <p:spPr>
          <a:xfrm>
            <a:off x="14573250" y="7400925"/>
            <a:ext cx="2714625" cy="5524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4649450" y="7534275"/>
            <a:ext cx="256222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98.17%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28" name="TextBox 127"/>
          <p:cNvSpPr txBox="1"/>
          <p:nvPr/>
        </p:nvSpPr>
        <p:spPr>
          <a:xfrm>
            <a:off x="1238250" y="7953375"/>
            <a:ext cx="1476375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61616"/>
                </a:solidFill>
                <a:latin typeface="等线" panose="02010600030101010101" charset="-122"/>
              </a:rPr>
              <a:t>结果口径：表中已包含交易成本；Long前10/Short后10作为风险实验保留，但三类模型均表现为负收益和高回撤。</a:t>
            </a:r>
            <a:endParaRPr sz="2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6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十分组回测：高分组整体跑赢低分组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05 · DECILE BACKTEST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11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pic>
        <p:nvPicPr>
          <p:cNvPr id="8" name="Picture 7" descr="decile_end_nav_all_model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5375" y="2333625"/>
            <a:ext cx="9334500" cy="519112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11525250" y="2857500"/>
            <a:ext cx="4095750" cy="161925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525250" y="2857500"/>
            <a:ext cx="409575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72900" y="3105150"/>
            <a:ext cx="3600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RF D10 NAV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772900" y="3524250"/>
            <a:ext cx="3600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3.20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772900" y="4171950"/>
            <a:ext cx="3600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最高分组期末净值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525250" y="4857750"/>
            <a:ext cx="4095750" cy="161925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525250" y="4857750"/>
            <a:ext cx="409575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72900" y="5105400"/>
            <a:ext cx="3600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RF D1 NAV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772900" y="5524500"/>
            <a:ext cx="3600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0.66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772900" y="6172200"/>
            <a:ext cx="3600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最低分组期末净值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1525250" y="6858000"/>
            <a:ext cx="4095750" cy="161925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1525250" y="6858000"/>
            <a:ext cx="409575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72900" y="7105650"/>
            <a:ext cx="360045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D10 / D1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1772900" y="7524750"/>
            <a:ext cx="36004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4.88x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772900" y="8172450"/>
            <a:ext cx="3600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排序能力较清晰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三类组合策略的回测结论完全不同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05 · STRATEGY OUTCOME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12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238250" y="2857500"/>
            <a:ext cx="4762500" cy="304800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238250" y="2857500"/>
            <a:ext cx="4762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85900" y="31051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纯多头增强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5900" y="35242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61616"/>
                </a:solidFill>
                <a:latin typeface="等线" panose="02010600030101010101" charset="-122"/>
              </a:rPr>
              <a:t>RF纯多头</a:t>
            </a:r>
            <a:endParaRPr sz="32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5900" y="4171950"/>
            <a:ext cx="4267200" cy="1657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Long前10：累计收益104.84%，Sharpe 0.741，最大回撤35.73%。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667500" y="2857500"/>
            <a:ext cx="4762500" cy="304800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667500" y="2857500"/>
            <a:ext cx="4762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15150" y="31051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风险实验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915150" y="35242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C65846"/>
                </a:solidFill>
                <a:latin typeface="等线" panose="02010600030101010101" charset="-122"/>
              </a:rPr>
              <a:t>RF多空后10</a:t>
            </a:r>
            <a:endParaRPr sz="3200" b="1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915150" y="4171950"/>
            <a:ext cx="4267200" cy="1657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Long前10/Short后10：累计收益-96.52%，最大回撤98.17%，不可作为主策略。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2096750" y="2857500"/>
            <a:ext cx="4762500" cy="3048000"/>
          </a:xfrm>
          <a:prstGeom prst="rect">
            <a:avLst/>
          </a:prstGeom>
          <a:solidFill>
            <a:srgbClr val="F7F7F4"/>
          </a:solidFill>
          <a:ln>
            <a:solidFill>
              <a:srgbClr val="E2E2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96750" y="2857500"/>
            <a:ext cx="47625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0" y="3105150"/>
            <a:ext cx="42672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6E6E6E"/>
                </a:solidFill>
                <a:latin typeface="Barlow"/>
              </a:rPr>
              <a:t>推荐主策略</a:t>
            </a:r>
            <a:endParaRPr sz="15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2344400" y="3524250"/>
            <a:ext cx="426720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79164"/>
                </a:solidFill>
                <a:latin typeface="等线" panose="02010600030101010101" charset="-122"/>
              </a:rPr>
              <a:t>RF指数对冲</a:t>
            </a:r>
            <a:endParaRPr sz="3200" b="1">
              <a:solidFill>
                <a:srgbClr val="379164"/>
              </a:solidFill>
              <a:latin typeface="等线" panose="02010600030101010101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2344400" y="4171950"/>
            <a:ext cx="4267200" cy="1657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>
                <a:solidFill>
                  <a:srgbClr val="6E6E6E"/>
                </a:solidFill>
                <a:latin typeface="等线" panose="02010600030101010101" charset="-122"/>
              </a:rPr>
              <a:t>Long前10/Short指数：收益121.67%，S=0.791，回撤23.13%。</a:t>
            </a:r>
            <a:endParaRPr sz="1700" b="0">
              <a:solidFill>
                <a:srgbClr val="6E6E6E"/>
              </a:solidFill>
              <a:latin typeface="等线" panose="02010600030101010101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28750" y="7191375"/>
            <a:ext cx="14287500" cy="723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61616"/>
                </a:solidFill>
                <a:latin typeface="等线" panose="02010600030101010101" charset="-122"/>
              </a:rPr>
              <a:t>核心判断：模型分数可以用于选出强势多头，但低分股票并不等于稳定空头；用指数对冲市场风险更适合汇报和后续研究。</a:t>
            </a:r>
            <a:endParaRPr sz="24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样本外净值曲线显示指数对冲改善回撤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05 · NAV CURVES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13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pic>
        <p:nvPicPr>
          <p:cNvPr id="8" name="Picture 7" descr="rf_nav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2333625"/>
            <a:ext cx="9144000" cy="5334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39500" y="2571750"/>
            <a:ext cx="3048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61616"/>
                </a:solidFill>
                <a:latin typeface="等线" panose="02010600030101010101" charset="-122"/>
              </a:rPr>
              <a:t>RF策略结果</a:t>
            </a:r>
            <a:endParaRPr sz="25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763250" y="3333750"/>
            <a:ext cx="1547812" cy="59055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39450" y="3476625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等线" panose="02010600030101010101" charset="-122"/>
              </a:rPr>
              <a:t>策略</a:t>
            </a:r>
            <a:endParaRPr sz="13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311062" y="3333750"/>
            <a:ext cx="1547812" cy="59055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7262" y="3476625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等线" panose="02010600030101010101" charset="-122"/>
              </a:rPr>
              <a:t>收益</a:t>
            </a:r>
            <a:endParaRPr sz="13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858875" y="3333750"/>
            <a:ext cx="1547812" cy="59055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935075" y="3476625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等线" panose="02010600030101010101" charset="-122"/>
              </a:rPr>
              <a:t>Sharpe</a:t>
            </a:r>
            <a:endParaRPr sz="13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15406687" y="3333750"/>
            <a:ext cx="1547812" cy="59055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482887" y="3476625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等线" panose="02010600030101010101" charset="-122"/>
              </a:rPr>
              <a:t>回撤</a:t>
            </a:r>
            <a:endParaRPr sz="1300" b="1">
              <a:solidFill>
                <a:srgbClr val="FFFFFF"/>
              </a:solidFill>
              <a:latin typeface="等线" panose="02010600030101010101" charset="-122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10763250" y="3924300"/>
            <a:ext cx="1547812" cy="5905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405765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2311062" y="3924300"/>
            <a:ext cx="1547812" cy="5905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7262" y="405765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104.84%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13858875" y="3924300"/>
            <a:ext cx="1547812" cy="5905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935075" y="405765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0.741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15406687" y="3924300"/>
            <a:ext cx="1547812" cy="5905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5482887" y="405765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35.73%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0763250" y="4514850"/>
            <a:ext cx="1547812" cy="5905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839450" y="464820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 / Short指数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12311062" y="4514850"/>
            <a:ext cx="1547812" cy="5905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7262" y="464820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121.67%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13858875" y="4514850"/>
            <a:ext cx="1547812" cy="5905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935075" y="464820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0.791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15406687" y="4514850"/>
            <a:ext cx="1547812" cy="590550"/>
          </a:xfrm>
          <a:prstGeom prst="rect">
            <a:avLst/>
          </a:prstGeom>
          <a:solidFill>
            <a:srgbClr val="EEEEEA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482887" y="464820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23.13%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0763250" y="5105400"/>
            <a:ext cx="1547812" cy="5905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839450" y="523875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Long前10 / Short后10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2311062" y="5105400"/>
            <a:ext cx="1547812" cy="5905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7262" y="523875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65846"/>
                </a:solidFill>
                <a:latin typeface="等线" panose="02010600030101010101" charset="-122"/>
              </a:rPr>
              <a:t>-96.52%</a:t>
            </a:r>
            <a:endParaRPr sz="13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13858875" y="5105400"/>
            <a:ext cx="1547812" cy="5905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935075" y="523875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C65846"/>
                </a:solidFill>
                <a:latin typeface="等线" panose="02010600030101010101" charset="-122"/>
              </a:rPr>
              <a:t>-0.370</a:t>
            </a:r>
            <a:endParaRPr sz="1300" b="0">
              <a:solidFill>
                <a:srgbClr val="C65846"/>
              </a:solidFill>
              <a:latin typeface="等线" panose="02010600030101010101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15406687" y="5105400"/>
            <a:ext cx="1547812" cy="590550"/>
          </a:xfrm>
          <a:prstGeom prst="rect">
            <a:avLst/>
          </a:prstGeom>
          <a:solidFill>
            <a:srgbClr val="F9F9F7"/>
          </a:solidFill>
          <a:ln>
            <a:solidFill>
              <a:srgbClr val="E0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5482887" y="5238750"/>
            <a:ext cx="1395412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00" b="0">
                <a:solidFill>
                  <a:srgbClr val="161616"/>
                </a:solidFill>
                <a:latin typeface="等线" panose="02010600030101010101" charset="-122"/>
              </a:rPr>
              <a:t>98.17%</a:t>
            </a:r>
            <a:endParaRPr sz="1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为什么RF策略结果最好：稳定性优先于拟合强度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05 · MODEL COMPARISON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14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pic>
        <p:nvPicPr>
          <p:cNvPr id="8" name="Picture 7" descr="strategy_metrics_comparis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125" y="2333625"/>
            <a:ext cx="10668000" cy="50482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573000" y="2571750"/>
            <a:ext cx="2476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00" b="1">
                <a:solidFill>
                  <a:srgbClr val="161616"/>
                </a:solidFill>
                <a:latin typeface="等线" panose="02010600030101010101" charset="-122"/>
              </a:rPr>
              <a:t>结果解释</a:t>
            </a:r>
            <a:endParaRPr sz="25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382500" y="3352800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0" y="3238500"/>
            <a:ext cx="4343400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61616"/>
                </a:solidFill>
                <a:latin typeface="等线" panose="02010600030101010101" charset="-122"/>
              </a:rPr>
              <a:t>RF不是训练准确率最高的炫技模型，但组合端收益和回撤最均衡。</a:t>
            </a:r>
            <a:endParaRPr sz="20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382500" y="444817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01600" y="4333875"/>
            <a:ext cx="4343400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61616"/>
                </a:solidFill>
                <a:latin typeface="等线" panose="02010600030101010101" charset="-122"/>
              </a:rPr>
              <a:t>Boosting拟合能力更强，但在金融噪声和阶段切换下更容易表现不稳定。</a:t>
            </a:r>
            <a:endParaRPr sz="20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2382500" y="568642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01600" y="5572125"/>
            <a:ext cx="4343400" cy="781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>
                <a:solidFill>
                  <a:srgbClr val="161616"/>
                </a:solidFill>
                <a:latin typeface="等线" panose="02010600030101010101" charset="-122"/>
              </a:rPr>
              <a:t>本次结论应落在“RF指数对冲为主策略”，而不是强调调参过程。</a:t>
            </a:r>
            <a:endParaRPr sz="20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回撤口径修正后，风险来源更清楚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05 · RISK CORRECTION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15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pic>
        <p:nvPicPr>
          <p:cNvPr id="8" name="Picture 7" descr="drawdown_scope_correc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8250" y="2428875"/>
            <a:ext cx="7905750" cy="457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096500" y="2571750"/>
            <a:ext cx="34290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161616"/>
                </a:solidFill>
                <a:latin typeface="等线" panose="02010600030101010101" charset="-122"/>
              </a:rPr>
              <a:t>老师提出的疑问</a:t>
            </a:r>
            <a:endParaRPr sz="26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096500" y="340042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0" y="3286125"/>
            <a:ext cx="5772150" cy="419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61616"/>
                </a:solidFill>
                <a:latin typeface="等线" panose="02010600030101010101" charset="-122"/>
              </a:rPr>
              <a:t>90%的最大回撤放在“十分组回测”上不合理。</a:t>
            </a:r>
            <a:endParaRPr sz="22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096500" y="4210050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0" y="4095750"/>
            <a:ext cx="5772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61616"/>
                </a:solidFill>
                <a:latin typeface="等线" panose="02010600030101010101" charset="-122"/>
              </a:rPr>
              <a:t>复查后确认：90%+来自Long前10/Short后10多空策略。</a:t>
            </a:r>
            <a:endParaRPr sz="22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0096500" y="5257800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0" y="5143500"/>
            <a:ext cx="5772150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>
                <a:solidFill>
                  <a:srgbClr val="161616"/>
                </a:solidFill>
                <a:latin typeface="等线" panose="02010600030101010101" charset="-122"/>
              </a:rPr>
              <a:t>十分组最低分组最大回撤约57%-65%，仍高但不是90%+。</a:t>
            </a:r>
            <a:endParaRPr sz="22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14500" y="7572375"/>
            <a:ext cx="14287500" cy="666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>
                <a:solidFill>
                  <a:srgbClr val="161616"/>
                </a:solidFill>
                <a:latin typeface="等线" panose="02010600030101010101" charset="-122"/>
              </a:rPr>
              <a:t>汇报口径应改为：做空低分个股是风险实验，不作为主推荐策略；指数对冲是更稳健的落地方向。</a:t>
            </a:r>
            <a:endParaRPr sz="24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838200"/>
            <a:ext cx="12001500" cy="7143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>
                <a:solidFill>
                  <a:srgbClr val="161616"/>
                </a:solidFill>
                <a:latin typeface="等线" panose="02010600030101010101" charset="-122"/>
              </a:rPr>
              <a:t>结论：推荐RF指数对冲，不推荐做空后10</a:t>
            </a:r>
            <a:endParaRPr sz="3300" b="1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58750" y="1200150"/>
            <a:ext cx="4476750" cy="3238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400" b="0">
                <a:solidFill>
                  <a:srgbClr val="6E6E6E"/>
                </a:solidFill>
                <a:latin typeface="Barlow"/>
              </a:rPr>
              <a:t>06 · CONCLUSION</a:t>
            </a:r>
            <a:endParaRPr sz="1400" b="0">
              <a:solidFill>
                <a:srgbClr val="6E6E6E"/>
              </a:solidFill>
              <a:latin typeface="Barlow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914400" y="1790700"/>
            <a:ext cx="16459200" cy="19050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8896350"/>
            <a:ext cx="16459200" cy="9525"/>
          </a:xfrm>
          <a:prstGeom prst="rect">
            <a:avLst/>
          </a:prstGeom>
          <a:solidFill>
            <a:srgbClr val="E0E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9086850"/>
            <a:ext cx="2476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>
                <a:solidFill>
                  <a:srgbClr val="919191"/>
                </a:solidFill>
                <a:latin typeface="等线" panose="02010600030101010101" charset="-122"/>
              </a:rPr>
              <a:t>崇文量化科技</a:t>
            </a:r>
            <a:endParaRPr sz="1600" b="0">
              <a:solidFill>
                <a:srgbClr val="919191"/>
              </a:solidFill>
              <a:latin typeface="等线" panose="02010600030101010101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764000" y="9086850"/>
            <a:ext cx="571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600" b="0">
                <a:solidFill>
                  <a:srgbClr val="919191"/>
                </a:solidFill>
                <a:latin typeface="Barlow"/>
              </a:rPr>
              <a:t>16</a:t>
            </a:r>
            <a:endParaRPr sz="1600" b="0">
              <a:solidFill>
                <a:srgbClr val="919191"/>
              </a:solidFill>
              <a:latin typeface="Barlow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333500" y="2590800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52600" y="2476500"/>
            <a:ext cx="138684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61616"/>
                </a:solidFill>
                <a:latin typeface="等线" panose="02010600030101010101" charset="-122"/>
              </a:rPr>
              <a:t>最佳策略：Random Forest Long前10 / Short中证500指数，累计收益121.67%，年化收益19.24%，Sharpe 0.791，最大回撤23.13%。</a:t>
            </a:r>
            <a:endParaRPr sz="2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333500" y="368617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52600" y="3571875"/>
            <a:ext cx="138684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61616"/>
                </a:solidFill>
                <a:latin typeface="等线" panose="02010600030101010101" charset="-122"/>
              </a:rPr>
              <a:t>备选策略：RF Long前10累计收益104.84%，但最大回撤35.73%，适合说明模型多头选股能力。</a:t>
            </a:r>
            <a:endParaRPr sz="2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333500" y="4686300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52600" y="4572000"/>
            <a:ext cx="138684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61616"/>
                </a:solidFill>
                <a:latin typeface="等线" panose="02010600030101010101" charset="-122"/>
              </a:rPr>
              <a:t>不推荐策略：Long前10 / Short后10在三类模型中均为负收益，高回撤来自低分股票反弹和裸空头风险。</a:t>
            </a:r>
            <a:endParaRPr sz="2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333500" y="5686425"/>
            <a:ext cx="228600" cy="38100"/>
          </a:xfrm>
          <a:prstGeom prst="rect">
            <a:avLst/>
          </a:prstGeom>
          <a:solidFill>
            <a:srgbClr val="FFC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2600" y="5572125"/>
            <a:ext cx="13868400" cy="552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300" b="0">
                <a:solidFill>
                  <a:srgbClr val="161616"/>
                </a:solidFill>
                <a:latin typeface="等线" panose="02010600030101010101" charset="-122"/>
              </a:rPr>
              <a:t>后续应围绕主策略继续做行业/市值中性、换手约束、滚动训练和交易冲击成本，而不是继续优化裸多空后10。</a:t>
            </a:r>
            <a:endParaRPr sz="2300" b="0">
              <a:solidFill>
                <a:srgbClr val="161616"/>
              </a:solidFill>
              <a:latin typeface="等线" panose="02010600030101010101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239000" y="7429500"/>
            <a:ext cx="3810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>
                <a:solidFill>
                  <a:srgbClr val="6E6E6E"/>
                </a:solidFill>
                <a:latin typeface="Barlow"/>
              </a:rPr>
              <a:t>THANK YOU</a:t>
            </a:r>
            <a:endParaRPr sz="2400" b="1">
              <a:solidFill>
                <a:srgbClr val="6E6E6E"/>
              </a:solidFill>
              <a:latin typeface="Barlow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10500" y="7905750"/>
            <a:ext cx="2667000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400" b="1">
                <a:solidFill>
                  <a:srgbClr val="161616"/>
                </a:solidFill>
                <a:latin typeface="Barlow"/>
              </a:rPr>
              <a:t>Q&amp;A</a:t>
            </a:r>
            <a:endParaRPr sz="3400" b="1">
              <a:solidFill>
                <a:srgbClr val="161616"/>
              </a:solidFill>
              <a:latin typeface="Barlow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2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3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4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5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6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7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8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9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10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11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12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13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14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15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16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17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ags/tag18.xml><?xml version="1.0" encoding="utf-8"?>
<p:tagLst xmlns:p="http://schemas.openxmlformats.org/presentationml/2006/main">
  <p:tag name="KSO_WM_DIAGRAM_VIRTUALLY_FRAME" val="{&quot;height&quot;:314.25,&quot;left&quot;:90,&quot;top&quot;:217.5,&quot;width&quot;:1192.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4114</Words>
  <Application>WPS 演示</Application>
  <PresentationFormat>On-screen Show (16:9)</PresentationFormat>
  <Paragraphs>628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Barlow Condensed</vt:lpstr>
      <vt:lpstr>Ohhige113</vt:lpstr>
      <vt:lpstr>Barlow Condensed</vt:lpstr>
      <vt:lpstr>Barlow Condensed</vt:lpstr>
      <vt:lpstr>Barlow</vt:lpstr>
      <vt:lpstr>等线</vt:lpstr>
      <vt:lpstr>Barlow</vt:lpstr>
      <vt:lpstr>Barlow</vt:lpstr>
      <vt:lpstr>Barlow</vt:lpstr>
      <vt:lpstr>Calibri</vt:lpstr>
      <vt:lpstr>微软雅黑</vt:lpstr>
      <vt:lpstr>Arial Unicode MS</vt:lpstr>
      <vt:lpstr>MingLiU-ExtB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RUSS.W</cp:lastModifiedBy>
  <cp:revision>3</cp:revision>
  <dcterms:created xsi:type="dcterms:W3CDTF">2026-08-05T02:39:00Z</dcterms:created>
  <dcterms:modified xsi:type="dcterms:W3CDTF">2026-08-12T14:08:41Z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EA490C9C99D84D309439484D3E87226A_12</vt:lpwstr>
  </property>
  <property fmtid="{D5CDD505-2E9C-101B-9397-08002B2CF9AE}" pid="3" name="KSOProductBuildVer">
    <vt:lpwstr>2052-12.1.0.28022</vt:lpwstr>
  </property>
</Properties>
</file>